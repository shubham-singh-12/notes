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2"/>
  </p:notesMasterIdLst>
  <p:handoutMasterIdLst>
    <p:handoutMasterId r:id="rId93"/>
  </p:handoutMasterIdLst>
  <p:sldIdLst>
    <p:sldId id="256" r:id="rId2"/>
    <p:sldId id="286" r:id="rId3"/>
    <p:sldId id="257" r:id="rId4"/>
    <p:sldId id="258" r:id="rId5"/>
    <p:sldId id="261" r:id="rId6"/>
    <p:sldId id="260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7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8" r:id="rId38"/>
    <p:sldId id="297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  <p:sldId id="343" r:id="rId84"/>
    <p:sldId id="344" r:id="rId85"/>
    <p:sldId id="345" r:id="rId86"/>
    <p:sldId id="346" r:id="rId87"/>
    <p:sldId id="347" r:id="rId88"/>
    <p:sldId id="348" r:id="rId89"/>
    <p:sldId id="349" r:id="rId90"/>
    <p:sldId id="350" r:id="rId9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3" autoAdjust="0"/>
    <p:restoredTop sz="94660"/>
  </p:normalViewPr>
  <p:slideViewPr>
    <p:cSldViewPr snapToGrid="0">
      <p:cViewPr varScale="1">
        <p:scale>
          <a:sx n="84" d="100"/>
          <a:sy n="84" d="100"/>
        </p:scale>
        <p:origin x="7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E2D8FE8-1B28-62FF-7F62-4F8BFB14CE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8CEFD0-004B-C4BE-51A7-FE609B0A24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C4E50-888E-4142-A31F-801FAF08DEAE}" type="datetimeFigureOut">
              <a:rPr lang="en-IN" smtClean="0"/>
              <a:t>25-06-2026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8278BE-7983-4FF7-15FD-68221554B4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2A05C-65BC-C81A-A4F3-E14B9714D8C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B90BE-985B-4FFB-86D1-91D06AEEE4F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131889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9A324-08DD-45DA-8F6B-EA0C936C066E}" type="datetimeFigureOut">
              <a:rPr lang="en-IN" smtClean="0"/>
              <a:t>25-06-2026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B6812-A983-45B0-9539-75144B2E73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24183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61D5B-A681-C705-F5A0-340D880C4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F2459-AFF2-3C71-17FF-4A6ACCE63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FC1AF-936C-D781-F209-1EACBA43B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8048-FFC9-4216-AC85-4D5F3C67E380}" type="datetime1">
              <a:rPr lang="en-IN" smtClean="0"/>
              <a:t>25-06-2026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27A4C-D796-5C28-8073-5F5D86C0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D3F28-11BE-EA89-B080-F732024C4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359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E598-1B3F-0FEF-743D-2F998A46B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FA4DC-9112-6A8A-9FF3-FEB78D283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0F65D-3931-B7F6-5E22-8DC7D70C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1EA56-60DD-4AD2-8CFC-1500FE65F37B}" type="datetime1">
              <a:rPr lang="en-IN" smtClean="0"/>
              <a:t>25-06-2026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01193-A9A4-A355-1028-47AC36105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60AB6-8035-F5CB-E11F-850450BCB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460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39889-B62D-9E35-FDDF-EF76AF827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95734-B9E7-F7FA-2437-016E1A751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41AC8-F8D2-F53E-BB66-E4AFEC3DA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C5E2-4DB0-4952-ABA8-CEC2FBB8E433}" type="datetime1">
              <a:rPr lang="en-IN" smtClean="0"/>
              <a:t>25-06-2026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E8A90-CDEF-786E-76F8-8C87127E4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A46CE-98D6-0CF6-6DA3-42BA46CF8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37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DBCF-8EB6-5E03-5B8A-AB888C12F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6B6AD-1E67-63BA-6D93-09D9825DB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2F962-85CC-ECDE-3576-38682A5B5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F64D6-B69F-360A-06EF-3F9733546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4CCDC-3900-4E86-9A49-A362521407F8}" type="datetime1">
              <a:rPr lang="en-IN" smtClean="0"/>
              <a:t>25-06-2026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C3FE5-CD7D-5DF1-52C3-1788AB80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08222-DABF-7BC3-F37C-0AD879BA2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606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8202D-30B3-5AFE-6217-BD20CCB15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421BA-3605-339D-8DCD-CAB28C345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EB89C-C15F-75F4-BEF4-9C2048104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D1E69B-624D-1C2D-0EF8-102E6FA4F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52EE99-8681-A717-AD39-D79E24EF4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FAE20D-3445-7897-D52B-1830721A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E361-7281-4683-9F60-44B89D2D1D9A}" type="datetime1">
              <a:rPr lang="en-IN" smtClean="0"/>
              <a:t>25-06-2026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F1368-1D2C-41DC-C10A-1D7FE203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76846B-10E7-801B-4687-A61A12D58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159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1427-8B8C-1C12-E53D-C492CC906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AC17A-E488-95FB-6FCC-C557059F5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1534-B285-4266-B99F-E5A860BB8323}" type="datetime1">
              <a:rPr lang="en-IN" smtClean="0"/>
              <a:t>25-06-2026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57E93-4659-89BB-D5F4-07DB79D52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E9440C-426E-B2ED-ED29-160E96715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43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919BB2-C2FD-9753-BFA9-8A5109F4C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6817-D24B-48C3-9C04-D624CF6DF8D3}" type="datetime1">
              <a:rPr lang="en-IN" smtClean="0"/>
              <a:t>25-06-2026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4A977-A3D5-E736-6ABE-215110885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6E4D5-C7D2-7BF6-48DA-8EF731633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299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44178-A429-1502-06F2-E309FF328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4824B-E20E-46F0-2B3B-141B69EA1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39C6A-4A6E-0C61-B289-BC8DD74A9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8E8D0-E0E9-589F-F865-DD1B7C3D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4E39D-5E6E-4C05-A9F3-4EAFC2E80EDB}" type="datetime1">
              <a:rPr lang="en-IN" smtClean="0"/>
              <a:t>25-06-2026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55E0B-D6A7-B8EB-D2C7-787B237B5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A0BAE-D0E3-ED7A-CCDA-66F8C8FBE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8925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26C73-4615-E636-A20E-0A34AA4C3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66BAA9-5C35-2507-8B6F-C41BC77B0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B1861-396D-35D0-55AE-FA1224E50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BD1DD-0E63-82B4-AB17-435075C76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A44B-BB5F-44F9-9EC8-72B8116F744B}" type="datetime1">
              <a:rPr lang="en-IN" smtClean="0"/>
              <a:t>25-06-2026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FED70-1629-FB8C-C181-5CC8870E3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9CF9C-307D-22D6-A2D7-A98F8354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366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F0046-7B99-48C1-7CCB-912968B22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6FBE18-EA64-53AC-BEAC-A463E00FC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A2CE6-6609-07E7-F772-7F6BEE0E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DC08-0040-4A96-B94D-21CFA089FB8F}" type="datetime1">
              <a:rPr lang="en-IN" smtClean="0"/>
              <a:t>25-06-2026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CE4A9-E441-38F7-32D8-18CC3595F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4B0CD-869C-4998-0E46-19C9D71B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1471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DEFA14-48B8-8DAC-B5FB-BEF39570A2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17F752-EC30-C864-69DE-910D9CABB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FC8E3-27D1-D4B1-A48A-CFFCE878C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74DE-7F3D-4A0E-9854-77BDA21B2EEE}" type="datetime1">
              <a:rPr lang="en-IN" smtClean="0"/>
              <a:t>25-06-2026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A4986-D729-5A37-E7DD-CAA45FD45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DB9FE-1129-1196-1736-7BE9F2926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670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A5E3FD-30D4-FF7B-9708-C5631B79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BA177-160D-4F76-7521-DA932A2AE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904AD-2764-18BD-9753-FA252A40CC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7EFA3-B2B7-49DB-A3E5-302125E2BE5D}" type="datetime1">
              <a:rPr lang="en-IN" smtClean="0"/>
              <a:t>25-06-2026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AEF1E-F5A3-E7CE-6138-FE7F8BEEF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5538C-21EC-ED4F-DE8E-3C328C163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194BE6-1148-421C-BF83-AA53B1C2BA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6701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etbrains.com/idea/download/?section=windows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B0817-B7C7-13B1-A3B0-466AAE33B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Java with DSA</a:t>
            </a:r>
            <a:endParaRPr lang="en-IN" b="1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 Mono ExtraBold" panose="02000009000000000000" pitchFamily="49" charset="0"/>
              <a:ea typeface="JetBrains Mono ExtraBold" panose="02000009000000000000" pitchFamily="49" charset="0"/>
              <a:cs typeface="JetBrains Mono ExtraBold" panose="02000009000000000000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F344F-56FB-6DCB-9D7D-354D9D3C2D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CodeHelp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31364-2C2B-C1C2-2047-D1C090F4B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9506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09ED9-22E7-F10D-BAC5-C51C6ABC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i="1" dirty="0"/>
              <a:t>Lecture 1 - Flowchart &amp; Pseudocode + Basics</a:t>
            </a:r>
            <a:endParaRPr lang="en-IN" b="1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9370A5-E6A7-EA62-84C4-6E81F87B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8355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57F5-21A1-8D34-D34F-77DC36256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pPr algn="ctr"/>
            <a:r>
              <a:rPr lang="en-US" b="1" dirty="0"/>
              <a:t>What is Programming?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690EC-555A-DB66-F365-1E5929F0D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789"/>
            <a:ext cx="10515600" cy="5049086"/>
          </a:xfrm>
        </p:spPr>
        <p:txBody>
          <a:bodyPr>
            <a:normAutofit/>
          </a:bodyPr>
          <a:lstStyle/>
          <a:p>
            <a:r>
              <a:rPr lang="en-US" sz="2400" b="1" dirty="0"/>
              <a:t>Programming </a:t>
            </a:r>
            <a:r>
              <a:rPr lang="en-US" sz="2400" dirty="0"/>
              <a:t>= Process of given  set of instructions to a computer to perform a specific task.</a:t>
            </a:r>
          </a:p>
          <a:p>
            <a:r>
              <a:rPr lang="en-US" sz="2400" dirty="0"/>
              <a:t>Computer takes </a:t>
            </a:r>
            <a:r>
              <a:rPr lang="en-US" sz="2400" b="1" dirty="0"/>
              <a:t>Input </a:t>
            </a:r>
            <a:r>
              <a:rPr lang="en-US" sz="2400" dirty="0"/>
              <a:t>➡️ </a:t>
            </a:r>
            <a:r>
              <a:rPr lang="en-US" sz="2400" b="1" dirty="0"/>
              <a:t>Process via Instructions</a:t>
            </a:r>
            <a:r>
              <a:rPr lang="en-US" sz="2400" dirty="0"/>
              <a:t> ➡️ </a:t>
            </a:r>
            <a:r>
              <a:rPr lang="en-US" sz="2400" b="1" dirty="0"/>
              <a:t>Gives Output</a:t>
            </a:r>
          </a:p>
          <a:p>
            <a:r>
              <a:rPr lang="en-US" sz="2400" dirty="0"/>
              <a:t>These instructions are called a </a:t>
            </a:r>
            <a:r>
              <a:rPr lang="en-US" sz="2400" b="1" dirty="0"/>
              <a:t>Program</a:t>
            </a:r>
            <a:r>
              <a:rPr lang="en-US" sz="2400" dirty="0"/>
              <a:t>.</a:t>
            </a:r>
          </a:p>
          <a:p>
            <a:r>
              <a:rPr lang="en-US" sz="2400" dirty="0"/>
              <a:t>The logic / approach we think of is converted into a </a:t>
            </a:r>
            <a:r>
              <a:rPr lang="en-US" sz="2400" b="1" dirty="0"/>
              <a:t>Programming Language</a:t>
            </a:r>
            <a:r>
              <a:rPr lang="en-US" sz="2400" dirty="0"/>
              <a:t> (like Java) that the machine understand.</a:t>
            </a:r>
          </a:p>
          <a:p>
            <a:r>
              <a:rPr lang="en-US" sz="2400" dirty="0"/>
              <a:t>Machine Understands only </a:t>
            </a:r>
            <a:r>
              <a:rPr lang="en-US" sz="2400" b="1" dirty="0"/>
              <a:t>0s </a:t>
            </a:r>
            <a:r>
              <a:rPr lang="en-US" sz="2400" dirty="0"/>
              <a:t>and</a:t>
            </a:r>
            <a:r>
              <a:rPr lang="en-US" sz="2400" b="1" dirty="0"/>
              <a:t> 1s</a:t>
            </a:r>
            <a:r>
              <a:rPr lang="en-US" sz="2400" dirty="0"/>
              <a:t>, so high-level codes gets converted accordingly.</a:t>
            </a:r>
          </a:p>
          <a:p>
            <a:endParaRPr lang="en-US" sz="2400" dirty="0"/>
          </a:p>
          <a:p>
            <a:r>
              <a:rPr lang="en-US" sz="2400" b="1" dirty="0"/>
              <a:t>Programming is the process of providing a computer with a set of logical instructions to perform a desired task, converting human logic into a machine understandable language.</a:t>
            </a:r>
            <a:endParaRPr lang="en-IN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F20DA-6AA3-AFDD-1E93-1DC339DF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510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AC658-EFD1-C375-CAF6-B56C4772A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C0BA0-1BD2-7D59-600F-8EE84B472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8033"/>
          </a:xfrm>
        </p:spPr>
        <p:txBody>
          <a:bodyPr/>
          <a:lstStyle/>
          <a:p>
            <a:pPr algn="ctr"/>
            <a:r>
              <a:rPr lang="en-US" b="1" dirty="0"/>
              <a:t>What is an Algorithm?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6B402-C44A-8AD8-BF57-0E8027203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789"/>
            <a:ext cx="10515600" cy="5049086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Algorithm</a:t>
            </a:r>
            <a:r>
              <a:rPr lang="en-US" sz="2400" dirty="0"/>
              <a:t> = A series / sequence of steps used to perform a task or solve a problem.</a:t>
            </a:r>
          </a:p>
          <a:p>
            <a:r>
              <a:rPr lang="en-US" sz="2400" dirty="0"/>
              <a:t>It is the </a:t>
            </a:r>
            <a:r>
              <a:rPr lang="en-US" sz="2400" b="1" dirty="0"/>
              <a:t>logic</a:t>
            </a:r>
            <a:r>
              <a:rPr lang="en-US" sz="2400" dirty="0"/>
              <a:t> / </a:t>
            </a:r>
            <a:r>
              <a:rPr lang="en-US" sz="2400" b="1" dirty="0"/>
              <a:t>approach</a:t>
            </a:r>
            <a:r>
              <a:rPr lang="en-US" sz="2400" dirty="0"/>
              <a:t>/ </a:t>
            </a:r>
            <a:r>
              <a:rPr lang="en-US" sz="2400" b="1" dirty="0"/>
              <a:t>solution</a:t>
            </a:r>
            <a:r>
              <a:rPr lang="en-US" sz="2400" dirty="0"/>
              <a:t> we think of in our mind to solve a problem.</a:t>
            </a:r>
          </a:p>
          <a:p>
            <a:r>
              <a:rPr lang="en-US" sz="2400" dirty="0"/>
              <a:t>Algorithm is written </a:t>
            </a:r>
            <a:r>
              <a:rPr lang="en-US" sz="2400" b="1" dirty="0"/>
              <a:t>before coding </a:t>
            </a:r>
            <a:r>
              <a:rPr lang="en-US" sz="2400" dirty="0"/>
              <a:t>– it’s the plan.</a:t>
            </a:r>
          </a:p>
          <a:p>
            <a:r>
              <a:rPr lang="en-US" sz="2400" dirty="0"/>
              <a:t>Once algorithm is ready, it is converted into a </a:t>
            </a:r>
            <a:r>
              <a:rPr lang="en-US" sz="2400" b="1" dirty="0"/>
              <a:t>programming language </a:t>
            </a:r>
            <a:r>
              <a:rPr lang="en-US" sz="2400" dirty="0"/>
              <a:t>(like Java) and fed to the machine.</a:t>
            </a:r>
          </a:p>
          <a:p>
            <a:endParaRPr lang="en-US" sz="2400" dirty="0"/>
          </a:p>
          <a:p>
            <a:r>
              <a:rPr lang="en-US" sz="2400" b="1" dirty="0"/>
              <a:t>Example</a:t>
            </a:r>
          </a:p>
          <a:p>
            <a:pPr lvl="1"/>
            <a:r>
              <a:rPr lang="en-US" sz="2000" b="1" i="1" dirty="0"/>
              <a:t>STEP 1:</a:t>
            </a:r>
            <a:r>
              <a:rPr lang="en-US" sz="2000" i="1" dirty="0"/>
              <a:t> </a:t>
            </a:r>
            <a:r>
              <a:rPr lang="en-US" sz="2000" dirty="0"/>
              <a:t>Boil water</a:t>
            </a:r>
          </a:p>
          <a:p>
            <a:pPr lvl="1"/>
            <a:r>
              <a:rPr lang="en-US" sz="2000" b="1" i="1" dirty="0"/>
              <a:t>STEP 2: </a:t>
            </a:r>
            <a:r>
              <a:rPr lang="en-US" sz="2000" dirty="0"/>
              <a:t>Add Maggi noodles</a:t>
            </a:r>
          </a:p>
          <a:p>
            <a:pPr lvl="1"/>
            <a:r>
              <a:rPr lang="en-US" sz="2000" b="1" i="1" dirty="0"/>
              <a:t>STEP 3: </a:t>
            </a:r>
            <a:r>
              <a:rPr lang="en-US" sz="2000" dirty="0"/>
              <a:t>Add Maggi Masala</a:t>
            </a:r>
          </a:p>
          <a:p>
            <a:pPr lvl="1"/>
            <a:r>
              <a:rPr lang="en-US" sz="2000" b="1" i="1" dirty="0"/>
              <a:t>STEP 4</a:t>
            </a:r>
            <a:r>
              <a:rPr lang="en-US" sz="2000" b="1" dirty="0"/>
              <a:t>: </a:t>
            </a:r>
            <a:r>
              <a:rPr lang="en-US" sz="2000" dirty="0"/>
              <a:t>Let it boil</a:t>
            </a:r>
          </a:p>
          <a:p>
            <a:pPr lvl="1"/>
            <a:r>
              <a:rPr lang="en-US" sz="2000" dirty="0"/>
              <a:t>Maggi is ready!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This sequence of steps = </a:t>
            </a:r>
            <a:r>
              <a:rPr lang="en-US" sz="2400" b="1" dirty="0"/>
              <a:t>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C47B5-D8F8-65FC-8AEF-0724CBCA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4564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27FDE-19DC-631C-F4A8-EC394FE17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0FE6-8BAC-5BD3-11DF-BC790D3B1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8033"/>
          </a:xfrm>
        </p:spPr>
        <p:txBody>
          <a:bodyPr/>
          <a:lstStyle/>
          <a:p>
            <a:pPr algn="ctr"/>
            <a:r>
              <a:rPr lang="en-US" b="1" dirty="0"/>
              <a:t>How to Approach a Problem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815A3-81F9-C0A3-FE52-2B8F63C33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789"/>
            <a:ext cx="10515600" cy="50490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When facing any problem (Math, coding, English, etc.) follow these 3 steps: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i="1" dirty="0"/>
              <a:t>Step 1: Understand the Problem</a:t>
            </a:r>
          </a:p>
          <a:p>
            <a:pPr lvl="1"/>
            <a:r>
              <a:rPr lang="en-IN" sz="2000" dirty="0"/>
              <a:t>Read the problem statement carefully.</a:t>
            </a:r>
          </a:p>
          <a:p>
            <a:pPr lvl="1"/>
            <a:r>
              <a:rPr lang="en-IN" sz="2000" dirty="0"/>
              <a:t>Understand </a:t>
            </a:r>
            <a:r>
              <a:rPr lang="en-IN" sz="2000" b="1" dirty="0"/>
              <a:t>exactly what is being asked.</a:t>
            </a:r>
          </a:p>
          <a:p>
            <a:pPr lvl="1"/>
            <a:r>
              <a:rPr lang="en-IN" sz="2000" dirty="0"/>
              <a:t>Clarify the requirement before jumping to solution.</a:t>
            </a:r>
            <a:endParaRPr lang="en-IN" sz="2400" dirty="0"/>
          </a:p>
          <a:p>
            <a:endParaRPr lang="en-IN" sz="2400" dirty="0"/>
          </a:p>
          <a:p>
            <a:pPr marL="0" indent="0">
              <a:buNone/>
            </a:pPr>
            <a:r>
              <a:rPr lang="en-IN" sz="2400" b="1" i="1" dirty="0"/>
              <a:t>Step 2: Identify Given Values (Inputs)</a:t>
            </a:r>
          </a:p>
          <a:p>
            <a:pPr lvl="1"/>
            <a:r>
              <a:rPr lang="en-IN" sz="2000" dirty="0"/>
              <a:t>Note down all the </a:t>
            </a:r>
            <a:r>
              <a:rPr lang="en-IN" sz="2000" b="1" dirty="0"/>
              <a:t>given/input values</a:t>
            </a:r>
            <a:r>
              <a:rPr lang="en-IN" sz="2000" dirty="0"/>
              <a:t> separately.</a:t>
            </a:r>
          </a:p>
          <a:p>
            <a:pPr lvl="1"/>
            <a:r>
              <a:rPr lang="en-IN" sz="2000" dirty="0"/>
              <a:t>This helps keep track of available data while designing the logic.</a:t>
            </a:r>
          </a:p>
          <a:p>
            <a:pPr lvl="1"/>
            <a:r>
              <a:rPr lang="en-IN" sz="2000" dirty="0"/>
              <a:t>Prevents missing important constraints later.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46505-07BC-6E7F-0071-6E135EB93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601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E49FD-FE2E-D9D2-352D-A40C4B80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A96EA-0578-793E-1E70-0E27B907A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6188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/>
              <a:t>Step 3: Think of the Approach / Algorithm</a:t>
            </a:r>
          </a:p>
          <a:p>
            <a:pPr lvl="1"/>
            <a:r>
              <a:rPr lang="en-US" sz="2000" dirty="0"/>
              <a:t>Based on understanding + given values, build your logic / algorithm.</a:t>
            </a:r>
          </a:p>
          <a:p>
            <a:pPr lvl="1"/>
            <a:r>
              <a:rPr lang="en-US" sz="2000" dirty="0"/>
              <a:t>Decide how these values can be utilized to reach the solution.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i="1" dirty="0"/>
              <a:t>For Interviews:</a:t>
            </a:r>
          </a:p>
          <a:p>
            <a:pPr lvl="1"/>
            <a:r>
              <a:rPr lang="en-US" sz="2000" b="1" dirty="0"/>
              <a:t>To approach any problem:</a:t>
            </a:r>
            <a:r>
              <a:rPr lang="en-US" sz="2000" dirty="0"/>
              <a:t> 1</a:t>
            </a:r>
            <a:r>
              <a:rPr lang="en-US" sz="2000" baseline="30000" dirty="0"/>
              <a:t>st</a:t>
            </a:r>
            <a:r>
              <a:rPr lang="en-US" sz="2000" dirty="0"/>
              <a:t> understand it clearly, list down the given inputs/constraints, then design a logic algorithm to reach the solution.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4D2DB-B2DB-6DD4-3EC0-5DC70ADE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4629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1B8EF-D088-868E-4FD0-6CA29277B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4666-0FB7-0389-43D7-AFC58F87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948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Flowchart &amp; its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ADF1E-6267-BBEA-7D14-6880D9B0B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5032"/>
            <a:ext cx="10515600" cy="5337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What is a Flowchart?</a:t>
            </a:r>
          </a:p>
          <a:p>
            <a:r>
              <a:rPr lang="en-US" sz="2000" dirty="0"/>
              <a:t>A </a:t>
            </a:r>
            <a:r>
              <a:rPr lang="en-US" sz="2000" b="1" dirty="0"/>
              <a:t>Flowchart </a:t>
            </a:r>
            <a:r>
              <a:rPr lang="en-US" sz="2000" dirty="0"/>
              <a:t>= </a:t>
            </a:r>
            <a:r>
              <a:rPr lang="en-US" sz="2000" b="1" dirty="0"/>
              <a:t>Diagrammatic representation of an Algorithm.</a:t>
            </a:r>
          </a:p>
          <a:p>
            <a:r>
              <a:rPr lang="en-US" sz="2000" dirty="0"/>
              <a:t>Same logic / algorithm that was in text format is now represented in </a:t>
            </a:r>
            <a:r>
              <a:rPr lang="en-US" sz="2000" b="1" dirty="0"/>
              <a:t>diagram format.</a:t>
            </a:r>
            <a:endParaRPr lang="en-US" sz="2000" dirty="0"/>
          </a:p>
          <a:p>
            <a:r>
              <a:rPr lang="en-US" sz="2000" dirty="0"/>
              <a:t>Helps visualize the </a:t>
            </a:r>
            <a:r>
              <a:rPr lang="en-US" sz="2000" b="1" dirty="0"/>
              <a:t>flow of execution </a:t>
            </a:r>
            <a:r>
              <a:rPr lang="en-US" sz="2000" dirty="0"/>
              <a:t>of a program.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Components of a Flowchart</a:t>
            </a:r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AC176B-238C-93A7-1782-8C532F01C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353273"/>
              </p:ext>
            </p:extLst>
          </p:nvPr>
        </p:nvGraphicFramePr>
        <p:xfrm>
          <a:off x="192505" y="3635173"/>
          <a:ext cx="11806989" cy="3018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663">
                  <a:extLst>
                    <a:ext uri="{9D8B030D-6E8A-4147-A177-3AD203B41FA5}">
                      <a16:colId xmlns:a16="http://schemas.microsoft.com/office/drawing/2014/main" val="537556750"/>
                    </a:ext>
                  </a:extLst>
                </a:gridCol>
                <a:gridCol w="3935663">
                  <a:extLst>
                    <a:ext uri="{9D8B030D-6E8A-4147-A177-3AD203B41FA5}">
                      <a16:colId xmlns:a16="http://schemas.microsoft.com/office/drawing/2014/main" val="3315043979"/>
                    </a:ext>
                  </a:extLst>
                </a:gridCol>
                <a:gridCol w="3935663">
                  <a:extLst>
                    <a:ext uri="{9D8B030D-6E8A-4147-A177-3AD203B41FA5}">
                      <a16:colId xmlns:a16="http://schemas.microsoft.com/office/drawing/2014/main" val="3147605614"/>
                    </a:ext>
                  </a:extLst>
                </a:gridCol>
              </a:tblGrid>
              <a:tr h="327263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806048"/>
                  </a:ext>
                </a:extLst>
              </a:tr>
              <a:tr h="327263">
                <a:tc>
                  <a:txBody>
                    <a:bodyPr/>
                    <a:lstStyle/>
                    <a:p>
                      <a:r>
                        <a:rPr lang="en-IN" b="1" dirty="0"/>
                        <a:t>Terminator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Oval / Rounded 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 </a:t>
                      </a:r>
                      <a:r>
                        <a:rPr lang="en-IN" b="1" dirty="0"/>
                        <a:t>Start </a:t>
                      </a:r>
                      <a:r>
                        <a:rPr lang="en-IN" b="0" dirty="0"/>
                        <a:t>or </a:t>
                      </a:r>
                      <a:r>
                        <a:rPr lang="en-IN" b="1" dirty="0"/>
                        <a:t>End </a:t>
                      </a:r>
                      <a:r>
                        <a:rPr lang="en-IN" b="0" dirty="0"/>
                        <a:t>a flowchart.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303315"/>
                  </a:ext>
                </a:extLst>
              </a:tr>
              <a:tr h="366362">
                <a:tc>
                  <a:txBody>
                    <a:bodyPr/>
                    <a:lstStyle/>
                    <a:p>
                      <a:r>
                        <a:rPr lang="en-IN" b="1" dirty="0"/>
                        <a:t>Input / Output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Parallelogram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 </a:t>
                      </a:r>
                      <a:r>
                        <a:rPr lang="en-IN" b="1" dirty="0"/>
                        <a:t>take input </a:t>
                      </a:r>
                      <a:r>
                        <a:rPr lang="en-IN" b="0" dirty="0"/>
                        <a:t>or </a:t>
                      </a:r>
                      <a:r>
                        <a:rPr lang="en-IN" b="1" dirty="0"/>
                        <a:t>print/display output.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487980"/>
                  </a:ext>
                </a:extLst>
              </a:tr>
              <a:tr h="572711">
                <a:tc>
                  <a:txBody>
                    <a:bodyPr/>
                    <a:lstStyle/>
                    <a:p>
                      <a:r>
                        <a:rPr lang="en-IN" b="1" dirty="0"/>
                        <a:t>Processing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 </a:t>
                      </a:r>
                      <a:r>
                        <a:rPr lang="en-IN" b="1" dirty="0"/>
                        <a:t>calculations </a:t>
                      </a:r>
                      <a:r>
                        <a:rPr lang="en-IN" b="0" dirty="0"/>
                        <a:t>or </a:t>
                      </a:r>
                      <a:r>
                        <a:rPr lang="en-IN" b="1" dirty="0"/>
                        <a:t>value assignment </a:t>
                      </a:r>
                      <a:r>
                        <a:rPr lang="en-IN" b="0" dirty="0"/>
                        <a:t>(e.g., sum = a + b)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703706"/>
                  </a:ext>
                </a:extLst>
              </a:tr>
              <a:tr h="572711">
                <a:tc>
                  <a:txBody>
                    <a:bodyPr/>
                    <a:lstStyle/>
                    <a:p>
                      <a:r>
                        <a:rPr lang="en-IN" b="1" dirty="0"/>
                        <a:t>Decision Making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Diamond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 </a:t>
                      </a:r>
                      <a:r>
                        <a:rPr lang="en-IN" b="1" dirty="0"/>
                        <a:t>conditions </a:t>
                      </a:r>
                      <a:r>
                        <a:rPr lang="en-IN" b="0" dirty="0"/>
                        <a:t>– has </a:t>
                      </a:r>
                      <a:r>
                        <a:rPr lang="en-IN" b="1" dirty="0"/>
                        <a:t>True / False</a:t>
                      </a:r>
                      <a:r>
                        <a:rPr lang="en-IN" b="0" dirty="0"/>
                        <a:t> path.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179014"/>
                  </a:ext>
                </a:extLst>
              </a:tr>
              <a:tr h="572711">
                <a:tc>
                  <a:txBody>
                    <a:bodyPr/>
                    <a:lstStyle/>
                    <a:p>
                      <a:r>
                        <a:rPr lang="en-IN" b="1" dirty="0"/>
                        <a:t>Links </a:t>
                      </a:r>
                      <a:r>
                        <a:rPr lang="en-IN" b="0" dirty="0"/>
                        <a:t>(Arrows)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Arrows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 </a:t>
                      </a:r>
                      <a:r>
                        <a:rPr lang="en-IN" b="1" dirty="0"/>
                        <a:t>connect </a:t>
                      </a:r>
                      <a:r>
                        <a:rPr lang="en-IN" b="0" dirty="0"/>
                        <a:t>block and show </a:t>
                      </a:r>
                      <a:r>
                        <a:rPr lang="en-IN" b="1" dirty="0"/>
                        <a:t>flow direction.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3492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F4A40A-137C-DCA9-4C5E-C22A96C1E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87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60120-8DA3-70AA-1B28-2FDD2A2DE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7709A-D373-5E97-632B-85A6D0942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61880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Detailed Breakdown:</a:t>
            </a:r>
          </a:p>
          <a:p>
            <a:pPr marL="457200" indent="-457200">
              <a:buAutoNum type="arabicPeriod"/>
            </a:pPr>
            <a:r>
              <a:rPr lang="en-US" sz="2000" b="1" i="1" dirty="0"/>
              <a:t>Terminator Block</a:t>
            </a:r>
          </a:p>
          <a:p>
            <a:pPr lvl="1"/>
            <a:r>
              <a:rPr lang="en-US" sz="1600" dirty="0"/>
              <a:t>Oval or rounded rectangle shaped.</a:t>
            </a:r>
          </a:p>
          <a:p>
            <a:pPr lvl="1"/>
            <a:r>
              <a:rPr lang="en-IN" sz="1600" dirty="0"/>
              <a:t>Used </a:t>
            </a:r>
            <a:r>
              <a:rPr lang="en-IN" sz="1600" b="1" dirty="0"/>
              <a:t>only</a:t>
            </a:r>
            <a:r>
              <a:rPr lang="en-IN" sz="1600" dirty="0"/>
              <a:t> for Start / End of flowchart.</a:t>
            </a:r>
          </a:p>
          <a:p>
            <a:pPr marL="457200" lvl="1" indent="0">
              <a:buNone/>
            </a:pPr>
            <a:r>
              <a:rPr lang="en-US" sz="1600" dirty="0"/>
              <a:t> </a:t>
            </a:r>
          </a:p>
          <a:p>
            <a:pPr marL="457200" indent="-457200">
              <a:buAutoNum type="arabicPeriod"/>
            </a:pPr>
            <a:r>
              <a:rPr lang="en-US" sz="2000" b="1" i="1" dirty="0"/>
              <a:t>Input / Output Block</a:t>
            </a:r>
          </a:p>
          <a:p>
            <a:pPr lvl="1"/>
            <a:r>
              <a:rPr lang="en-IN" sz="1600" dirty="0"/>
              <a:t>Parallelogram shaped.</a:t>
            </a:r>
          </a:p>
          <a:p>
            <a:pPr lvl="1"/>
            <a:r>
              <a:rPr lang="en-IN" sz="1600" dirty="0"/>
              <a:t>Used for: taking input (e.g., </a:t>
            </a:r>
            <a:r>
              <a:rPr lang="en-IN" b="1" dirty="0"/>
              <a:t>Input A, B</a:t>
            </a:r>
            <a:r>
              <a:rPr lang="en-IN" sz="1600" dirty="0"/>
              <a:t>) and printing output (e.g., </a:t>
            </a:r>
            <a:r>
              <a:rPr lang="en-IN" b="1" dirty="0"/>
              <a:t>Print Sum</a:t>
            </a:r>
            <a:r>
              <a:rPr lang="en-IN" sz="1600" dirty="0"/>
              <a:t>)</a:t>
            </a:r>
          </a:p>
          <a:p>
            <a:pPr marL="457200" lvl="1" indent="0">
              <a:buNone/>
            </a:pPr>
            <a:endParaRPr lang="en-US" sz="1600" b="1" i="1" dirty="0"/>
          </a:p>
          <a:p>
            <a:pPr marL="457200" indent="-457200">
              <a:buAutoNum type="arabicPeriod"/>
            </a:pPr>
            <a:r>
              <a:rPr lang="en-US" sz="2000" b="1" i="1" dirty="0"/>
              <a:t>Processing Block</a:t>
            </a:r>
          </a:p>
          <a:p>
            <a:pPr lvl="1"/>
            <a:r>
              <a:rPr lang="en-IN" sz="1600" dirty="0"/>
              <a:t>Rectangle shaped.</a:t>
            </a:r>
          </a:p>
          <a:p>
            <a:pPr lvl="1"/>
            <a:r>
              <a:rPr lang="en-IN" sz="1600" dirty="0"/>
              <a:t>Used for:</a:t>
            </a:r>
          </a:p>
          <a:p>
            <a:pPr lvl="2"/>
            <a:r>
              <a:rPr lang="en-IN" sz="1200" b="1" i="1" dirty="0"/>
              <a:t>Assignment: </a:t>
            </a:r>
            <a:r>
              <a:rPr lang="en-IN" sz="1200" dirty="0"/>
              <a:t>sum = 0</a:t>
            </a:r>
            <a:r>
              <a:rPr lang="en-IN" sz="1200" b="1" i="1" dirty="0"/>
              <a:t>, </a:t>
            </a:r>
            <a:r>
              <a:rPr lang="en-IN" sz="1200" dirty="0"/>
              <a:t>i = 1</a:t>
            </a:r>
          </a:p>
          <a:p>
            <a:pPr lvl="2"/>
            <a:r>
              <a:rPr lang="en-IN" sz="1200" b="1" i="1" dirty="0"/>
              <a:t>Calculation: </a:t>
            </a:r>
            <a:r>
              <a:rPr lang="en-IN" sz="1200" dirty="0"/>
              <a:t>sum = a + b</a:t>
            </a:r>
            <a:endParaRPr lang="en-US" sz="1200" b="1" i="1" dirty="0"/>
          </a:p>
          <a:p>
            <a:pPr marL="457200" indent="-457200">
              <a:buAutoNum type="arabicPeriod"/>
            </a:pPr>
            <a:r>
              <a:rPr lang="en-US" sz="2000" b="1" i="1" dirty="0"/>
              <a:t>Decision Making Block</a:t>
            </a:r>
          </a:p>
          <a:p>
            <a:pPr lvl="1"/>
            <a:r>
              <a:rPr lang="en-IN" sz="1600" dirty="0"/>
              <a:t>Diamond shaped.</a:t>
            </a:r>
          </a:p>
          <a:p>
            <a:pPr lvl="1"/>
            <a:r>
              <a:rPr lang="en-IN" sz="1600" dirty="0"/>
              <a:t>Contains a </a:t>
            </a:r>
            <a:r>
              <a:rPr lang="en-IN" sz="1600" b="1" dirty="0"/>
              <a:t>condition</a:t>
            </a:r>
            <a:r>
              <a:rPr lang="en-IN" sz="1600" dirty="0"/>
              <a:t> that evaluates to </a:t>
            </a:r>
            <a:r>
              <a:rPr lang="en-IN" sz="1600" b="1" dirty="0"/>
              <a:t>True or False.</a:t>
            </a:r>
          </a:p>
          <a:p>
            <a:pPr lvl="1"/>
            <a:r>
              <a:rPr lang="en-IN" sz="1600" dirty="0"/>
              <a:t>Two paths emerge: </a:t>
            </a:r>
            <a:r>
              <a:rPr lang="en-IN" sz="1600" b="1" dirty="0"/>
              <a:t>True path</a:t>
            </a:r>
            <a:r>
              <a:rPr lang="en-IN" sz="1600" dirty="0"/>
              <a:t> and </a:t>
            </a:r>
            <a:r>
              <a:rPr lang="en-IN" sz="1600" b="1" dirty="0"/>
              <a:t>False path.</a:t>
            </a:r>
          </a:p>
          <a:p>
            <a:pPr lvl="1"/>
            <a:r>
              <a:rPr lang="en-IN" sz="1600" dirty="0"/>
              <a:t>Example: name == “Shubham” → True goes one way, False goes another.</a:t>
            </a:r>
            <a:endParaRPr lang="en-US" sz="1600" b="1" i="1" dirty="0"/>
          </a:p>
          <a:p>
            <a:pPr marL="457200" indent="-457200">
              <a:buAutoNum type="arabicPeriod"/>
            </a:pPr>
            <a:r>
              <a:rPr lang="en-US" sz="2000" b="1" i="1" dirty="0"/>
              <a:t>Links</a:t>
            </a:r>
          </a:p>
          <a:p>
            <a:pPr lvl="1"/>
            <a:r>
              <a:rPr lang="en-IN" sz="1600" dirty="0"/>
              <a:t>Arrows connecting all blocks.</a:t>
            </a:r>
          </a:p>
          <a:p>
            <a:pPr lvl="1"/>
            <a:r>
              <a:rPr lang="en-IN" sz="1600" dirty="0"/>
              <a:t>Show </a:t>
            </a:r>
            <a:r>
              <a:rPr lang="en-IN" sz="1600" b="1" dirty="0"/>
              <a:t>execution flow / direction.</a:t>
            </a:r>
            <a:endParaRPr lang="en-US" sz="1600" b="1" i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55344-F3D0-8E78-3F65-62424A758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4256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696E6-BBD4-BDE4-0E60-617D7A09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C42C-0A9F-F8AB-54A4-7032C28AA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6188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Example Flowchart: </a:t>
            </a:r>
            <a:r>
              <a:rPr lang="en-US" sz="2000" dirty="0"/>
              <a:t>Sum of Two numbers (a + b)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66C86-C969-945C-4359-0F5D40502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9</a:t>
            </a:fld>
            <a:endParaRPr lang="en-I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555CDF2-0C5A-56B6-35A0-F8B158E505D5}"/>
              </a:ext>
            </a:extLst>
          </p:cNvPr>
          <p:cNvGrpSpPr/>
          <p:nvPr/>
        </p:nvGrpSpPr>
        <p:grpSpPr>
          <a:xfrm>
            <a:off x="5135880" y="807720"/>
            <a:ext cx="1842135" cy="5503544"/>
            <a:chOff x="5213985" y="743010"/>
            <a:chExt cx="1764030" cy="556825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7A53730-655D-CAAF-02C1-2BBF8F1B7F1D}"/>
                </a:ext>
              </a:extLst>
            </p:cNvPr>
            <p:cNvGrpSpPr/>
            <p:nvPr/>
          </p:nvGrpSpPr>
          <p:grpSpPr>
            <a:xfrm>
              <a:off x="5455920" y="743010"/>
              <a:ext cx="1280160" cy="910530"/>
              <a:chOff x="2804160" y="830580"/>
              <a:chExt cx="1501140" cy="101346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9581F2E7-7794-51BA-BE94-F6DDB7D0330E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3E4F75-B45F-A127-78E2-E83AEE80D1D2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/>
                  <a:t>START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C001BB8-05D0-5FC6-1C56-D64F2B24D739}"/>
                </a:ext>
              </a:extLst>
            </p:cNvPr>
            <p:cNvGrpSpPr/>
            <p:nvPr/>
          </p:nvGrpSpPr>
          <p:grpSpPr>
            <a:xfrm>
              <a:off x="5213985" y="2093654"/>
              <a:ext cx="1764030" cy="662940"/>
              <a:chOff x="2657950" y="2270879"/>
              <a:chExt cx="1764030" cy="662940"/>
            </a:xfrm>
          </p:grpSpPr>
          <p:sp>
            <p:nvSpPr>
              <p:cNvPr id="5" name="Parallelogram 4">
                <a:extLst>
                  <a:ext uri="{FF2B5EF4-FFF2-40B4-BE49-F238E27FC236}">
                    <a16:creationId xmlns:a16="http://schemas.microsoft.com/office/drawing/2014/main" id="{77EA4130-57AC-9DD6-FB65-FCF066BFF3A6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BB4210-609B-87DA-E099-8E59C43E93B8}"/>
                  </a:ext>
                </a:extLst>
              </p:cNvPr>
              <p:cNvSpPr txBox="1"/>
              <p:nvPr/>
            </p:nvSpPr>
            <p:spPr>
              <a:xfrm>
                <a:off x="2951797" y="2417683"/>
                <a:ext cx="12058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/>
                  <a:t>Input a, b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F7A26F4-8298-F9B1-E5D7-9B4F2EF8C102}"/>
                </a:ext>
              </a:extLst>
            </p:cNvPr>
            <p:cNvGrpSpPr/>
            <p:nvPr/>
          </p:nvGrpSpPr>
          <p:grpSpPr>
            <a:xfrm>
              <a:off x="5213985" y="3189088"/>
              <a:ext cx="1764030" cy="662940"/>
              <a:chOff x="2657950" y="3347204"/>
              <a:chExt cx="1764030" cy="66294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DF2B14A-54DF-BED2-8806-4513B29F63F5}"/>
                  </a:ext>
                </a:extLst>
              </p:cNvPr>
              <p:cNvSpPr/>
              <p:nvPr/>
            </p:nvSpPr>
            <p:spPr>
              <a:xfrm>
                <a:off x="2657950" y="3347204"/>
                <a:ext cx="1764030" cy="6629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1D2F64-3D02-4B3F-FE23-C5110A021493}"/>
                  </a:ext>
                </a:extLst>
              </p:cNvPr>
              <p:cNvSpPr txBox="1"/>
              <p:nvPr/>
            </p:nvSpPr>
            <p:spPr>
              <a:xfrm>
                <a:off x="2863213" y="3501628"/>
                <a:ext cx="13535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/>
                  <a:t>sum = a + b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0A3548B-BF95-8B31-ECD3-CBA9E4861856}"/>
                </a:ext>
              </a:extLst>
            </p:cNvPr>
            <p:cNvGrpSpPr/>
            <p:nvPr/>
          </p:nvGrpSpPr>
          <p:grpSpPr>
            <a:xfrm>
              <a:off x="5213985" y="4292142"/>
              <a:ext cx="1764030" cy="662940"/>
              <a:chOff x="2657950" y="2270879"/>
              <a:chExt cx="1764030" cy="662940"/>
            </a:xfrm>
          </p:grpSpPr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A6B2C7EF-CAE2-FF73-EF2B-127C3376C433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A46FC1-E74E-C514-AACD-88620CB17416}"/>
                  </a:ext>
                </a:extLst>
              </p:cNvPr>
              <p:cNvSpPr txBox="1"/>
              <p:nvPr/>
            </p:nvSpPr>
            <p:spPr>
              <a:xfrm>
                <a:off x="2951797" y="2417683"/>
                <a:ext cx="12058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/>
                  <a:t>Print sum</a:t>
                </a: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CB61FFD-B983-00BA-DB4E-9A8EA74FB3C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653540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82FB61E-0EAA-32E8-5FA4-ADC32A11B2A4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2756594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A3D284A-C20F-FCD1-AB82-818584DE51D4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3853874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64C40E4-60A4-AD7B-151E-A714106729A0}"/>
                </a:ext>
              </a:extLst>
            </p:cNvPr>
            <p:cNvCxnSpPr>
              <a:cxnSpLocks/>
            </p:cNvCxnSpPr>
            <p:nvPr/>
          </p:nvCxnSpPr>
          <p:spPr>
            <a:xfrm>
              <a:off x="6095524" y="4958774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82E9CE4-1823-9D6D-33D0-D312B5A19A2B}"/>
                </a:ext>
              </a:extLst>
            </p:cNvPr>
            <p:cNvGrpSpPr/>
            <p:nvPr/>
          </p:nvGrpSpPr>
          <p:grpSpPr>
            <a:xfrm>
              <a:off x="5455444" y="5400734"/>
              <a:ext cx="1280160" cy="910530"/>
              <a:chOff x="2804160" y="830580"/>
              <a:chExt cx="1501140" cy="101346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73F1594-9EB9-1BA5-D1C5-F8003B8A184E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41C41E3-6CA6-D79B-8AB2-00A4742718DF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411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/>
                  <a:t>END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6227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A9AC-7364-E643-1DF7-167940B4B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</p:spPr>
        <p:txBody>
          <a:bodyPr/>
          <a:lstStyle/>
          <a:p>
            <a:pPr algn="ctr"/>
            <a:r>
              <a:rPr lang="en-IN" b="1" dirty="0"/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BBB8C-0840-C2AB-17AC-A0D7BD5EA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Pseudo </a:t>
            </a:r>
            <a:r>
              <a:rPr lang="en-IN" dirty="0"/>
              <a:t> = Fake / Dummy</a:t>
            </a:r>
          </a:p>
          <a:p>
            <a:r>
              <a:rPr lang="en-IN" b="1" dirty="0"/>
              <a:t>Code </a:t>
            </a:r>
            <a:r>
              <a:rPr lang="en-IN" dirty="0"/>
              <a:t>= Code</a:t>
            </a:r>
          </a:p>
          <a:p>
            <a:endParaRPr lang="en-IN" dirty="0"/>
          </a:p>
          <a:p>
            <a:r>
              <a:rPr lang="en-IN" dirty="0"/>
              <a:t>So, </a:t>
            </a:r>
            <a:r>
              <a:rPr lang="en-IN" b="1" dirty="0"/>
              <a:t>Pseudocode = Fake Code</a:t>
            </a:r>
            <a:r>
              <a:rPr lang="en-IN" dirty="0"/>
              <a:t> — it is </a:t>
            </a:r>
            <a:r>
              <a:rPr lang="en-IN" b="1" dirty="0"/>
              <a:t>NOT</a:t>
            </a:r>
            <a:r>
              <a:rPr lang="en-IN" dirty="0"/>
              <a:t> written in any real programming language.</a:t>
            </a:r>
          </a:p>
          <a:p>
            <a:r>
              <a:rPr lang="en-IN" dirty="0"/>
              <a:t>It is the </a:t>
            </a:r>
            <a:r>
              <a:rPr lang="en-IN" b="1" dirty="0"/>
              <a:t>logic/algorithm written in plain, human-understandable language</a:t>
            </a:r>
            <a:r>
              <a:rPr lang="en-IN" dirty="0"/>
              <a:t> (English, Hindi, or any language).</a:t>
            </a:r>
          </a:p>
          <a:p>
            <a:r>
              <a:rPr lang="en-IN" dirty="0"/>
              <a:t>Used to </a:t>
            </a:r>
            <a:r>
              <a:rPr lang="en-IN" b="1" dirty="0"/>
              <a:t>roughly outline</a:t>
            </a:r>
            <a:r>
              <a:rPr lang="en-IN" dirty="0"/>
              <a:t> your approach before actual coding.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7F4BC-5E24-BBDC-EDFC-FBCD3FC8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673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79DA-C000-96E2-53F1-3D161ED40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FE9C0-DC5F-8201-43EB-F0505D920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560"/>
            <a:ext cx="10515600" cy="58874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Key Characteristics:</a:t>
            </a:r>
          </a:p>
          <a:p>
            <a:pPr lvl="1"/>
            <a:r>
              <a:rPr lang="en-IN" dirty="0"/>
              <a:t>No fixed syntax / rules – written in </a:t>
            </a:r>
            <a:r>
              <a:rPr lang="en-IN" b="1" dirty="0"/>
              <a:t>simple</a:t>
            </a:r>
            <a:r>
              <a:rPr lang="en-IN" dirty="0"/>
              <a:t>, </a:t>
            </a:r>
            <a:r>
              <a:rPr lang="en-IN" b="1" dirty="0"/>
              <a:t>understandable</a:t>
            </a:r>
            <a:r>
              <a:rPr lang="en-IN" dirty="0"/>
              <a:t> </a:t>
            </a:r>
            <a:r>
              <a:rPr lang="en-IN" b="1" dirty="0"/>
              <a:t>steps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Different people can write pseudocode </a:t>
            </a:r>
            <a:r>
              <a:rPr lang="en-IN" b="1" dirty="0"/>
              <a:t>differently</a:t>
            </a:r>
            <a:r>
              <a:rPr lang="en-IN" dirty="0"/>
              <a:t> for the same problem – all are valid as long as logic is clear.</a:t>
            </a:r>
          </a:p>
          <a:p>
            <a:pPr lvl="1"/>
            <a:r>
              <a:rPr lang="en-IN" dirty="0"/>
              <a:t>Acts as a </a:t>
            </a:r>
            <a:r>
              <a:rPr lang="en-IN" b="1" dirty="0"/>
              <a:t>bridge</a:t>
            </a:r>
            <a:r>
              <a:rPr lang="en-IN" dirty="0"/>
              <a:t> between Algorithm (thought process) and actual code (Java / C++ / Python).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Example: </a:t>
            </a:r>
            <a:r>
              <a:rPr lang="en-IN" dirty="0"/>
              <a:t>Sum of 2 numbers (a + b)</a:t>
            </a:r>
          </a:p>
          <a:p>
            <a:pPr lvl="1"/>
            <a:r>
              <a:rPr lang="en-IN" b="1" i="1" dirty="0"/>
              <a:t>STEP 1:</a:t>
            </a:r>
            <a:r>
              <a:rPr lang="en-IN" b="1" dirty="0"/>
              <a:t> </a:t>
            </a:r>
            <a:r>
              <a:rPr lang="en-IN" dirty="0"/>
              <a:t>Start</a:t>
            </a:r>
          </a:p>
          <a:p>
            <a:pPr lvl="1"/>
            <a:r>
              <a:rPr lang="en-IN" b="1" i="1" dirty="0"/>
              <a:t>STEP 2: </a:t>
            </a:r>
            <a:r>
              <a:rPr lang="en-IN" dirty="0"/>
              <a:t>Take input from user for a &amp; b.</a:t>
            </a:r>
          </a:p>
          <a:p>
            <a:pPr lvl="1"/>
            <a:r>
              <a:rPr lang="en-IN" b="1" i="1" dirty="0"/>
              <a:t>STEP 3: </a:t>
            </a:r>
            <a:r>
              <a:rPr lang="en-IN" dirty="0"/>
              <a:t>Add a &amp; b, store result in sum.</a:t>
            </a:r>
          </a:p>
          <a:p>
            <a:pPr lvl="1"/>
            <a:r>
              <a:rPr lang="en-IN" b="1" i="1" dirty="0"/>
              <a:t>STEP 4: </a:t>
            </a:r>
            <a:r>
              <a:rPr lang="en-IN" dirty="0"/>
              <a:t>Print sum</a:t>
            </a:r>
          </a:p>
          <a:p>
            <a:pPr lvl="1"/>
            <a:r>
              <a:rPr lang="en-IN" b="1" i="1" dirty="0"/>
              <a:t>STEP 5: </a:t>
            </a:r>
            <a:r>
              <a:rPr lang="en-IN" dirty="0"/>
              <a:t>End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Start / End </a:t>
            </a:r>
            <a:r>
              <a:rPr lang="en-IN" dirty="0"/>
              <a:t>steps are </a:t>
            </a:r>
            <a:r>
              <a:rPr lang="en-IN" b="1" dirty="0"/>
              <a:t>optional </a:t>
            </a:r>
            <a:r>
              <a:rPr lang="en-IN" dirty="0"/>
              <a:t>– even just 3 middle steps are acceptable.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A1D05-7C24-4D4B-7F9A-3A1E4F7A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880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18D65-4C6A-EBEE-177B-8EFF98EF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9337C-89D8-01B6-B4EC-32D91E27B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560"/>
            <a:ext cx="10515600" cy="58874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Example: </a:t>
            </a:r>
            <a:r>
              <a:rPr lang="en-US" dirty="0"/>
              <a:t>Average of a, b, c</a:t>
            </a:r>
          </a:p>
          <a:p>
            <a:pPr lvl="1"/>
            <a:r>
              <a:rPr lang="en-IN" b="1" i="1" dirty="0"/>
              <a:t>STEP 1: </a:t>
            </a:r>
            <a:r>
              <a:rPr lang="en-IN" dirty="0"/>
              <a:t>Start</a:t>
            </a:r>
          </a:p>
          <a:p>
            <a:pPr lvl="1"/>
            <a:r>
              <a:rPr lang="en-IN" b="1" i="1" dirty="0"/>
              <a:t>STEP 2: </a:t>
            </a:r>
            <a:r>
              <a:rPr lang="en-IN" dirty="0"/>
              <a:t>Take input for </a:t>
            </a:r>
            <a:r>
              <a:rPr lang="en-IN" b="1" dirty="0"/>
              <a:t>a</a:t>
            </a:r>
            <a:r>
              <a:rPr lang="en-IN" dirty="0"/>
              <a:t>, </a:t>
            </a:r>
            <a:r>
              <a:rPr lang="en-IN" b="1" dirty="0"/>
              <a:t>b</a:t>
            </a:r>
            <a:r>
              <a:rPr lang="en-IN" dirty="0"/>
              <a:t>, </a:t>
            </a:r>
            <a:r>
              <a:rPr lang="en-IN" b="1" dirty="0"/>
              <a:t>c</a:t>
            </a:r>
          </a:p>
          <a:p>
            <a:pPr lvl="1"/>
            <a:r>
              <a:rPr lang="en-IN" b="1" i="1" dirty="0"/>
              <a:t>STEP 3: </a:t>
            </a:r>
            <a:r>
              <a:rPr lang="en-IN" b="1" dirty="0"/>
              <a:t>Average</a:t>
            </a:r>
            <a:r>
              <a:rPr lang="en-IN" dirty="0"/>
              <a:t> </a:t>
            </a:r>
            <a:r>
              <a:rPr lang="en-IN" b="1" dirty="0"/>
              <a:t>= (a + b + c ) / 3</a:t>
            </a:r>
          </a:p>
          <a:p>
            <a:pPr lvl="1"/>
            <a:r>
              <a:rPr lang="en-IN" b="1" i="1" dirty="0"/>
              <a:t>STEP 4: </a:t>
            </a:r>
            <a:r>
              <a:rPr lang="en-IN" dirty="0"/>
              <a:t>Print </a:t>
            </a:r>
            <a:r>
              <a:rPr lang="en-IN" b="1" dirty="0"/>
              <a:t>Average</a:t>
            </a:r>
          </a:p>
          <a:p>
            <a:pPr lvl="1"/>
            <a:r>
              <a:rPr lang="en-IN" b="1" i="1" dirty="0"/>
              <a:t>STEP 5: </a:t>
            </a:r>
            <a:r>
              <a:rPr lang="en-IN" dirty="0"/>
              <a:t>End</a:t>
            </a:r>
          </a:p>
          <a:p>
            <a:pPr lvl="1"/>
            <a:endParaRPr lang="en-IN" dirty="0"/>
          </a:p>
          <a:p>
            <a:pPr marL="0" indent="0">
              <a:buNone/>
            </a:pPr>
            <a:r>
              <a:rPr lang="en-IN" b="1" dirty="0"/>
              <a:t>Pseudocode with Decision Making (Positive / Negative / Zero check)</a:t>
            </a:r>
          </a:p>
          <a:p>
            <a:pPr lvl="1"/>
            <a:r>
              <a:rPr lang="en-IN" b="1" i="1" dirty="0"/>
              <a:t>STEP 1: </a:t>
            </a:r>
            <a:r>
              <a:rPr lang="en-IN" dirty="0"/>
              <a:t>Start</a:t>
            </a:r>
          </a:p>
          <a:p>
            <a:pPr lvl="1"/>
            <a:r>
              <a:rPr lang="en-IN" b="1" i="1" dirty="0"/>
              <a:t>STEP 2: </a:t>
            </a:r>
            <a:r>
              <a:rPr lang="en-IN" dirty="0"/>
              <a:t>Input </a:t>
            </a:r>
            <a:r>
              <a:rPr lang="en-IN" b="1" dirty="0"/>
              <a:t>number</a:t>
            </a:r>
          </a:p>
          <a:p>
            <a:pPr lvl="1"/>
            <a:r>
              <a:rPr lang="en-IN" b="1" i="1" dirty="0"/>
              <a:t>STEP 3: </a:t>
            </a:r>
            <a:r>
              <a:rPr lang="en-IN" dirty="0"/>
              <a:t>If </a:t>
            </a:r>
            <a:r>
              <a:rPr lang="en-IN" b="1" dirty="0"/>
              <a:t>number</a:t>
            </a:r>
            <a:r>
              <a:rPr lang="en-IN" dirty="0"/>
              <a:t> &gt; </a:t>
            </a:r>
            <a:r>
              <a:rPr lang="en-IN" b="1" dirty="0"/>
              <a:t>0</a:t>
            </a:r>
            <a:r>
              <a:rPr lang="en-IN" dirty="0"/>
              <a:t> </a:t>
            </a:r>
            <a:r>
              <a:rPr lang="en-US" dirty="0"/>
              <a:t>➡️ Print “</a:t>
            </a:r>
            <a:r>
              <a:rPr lang="en-US" b="1" dirty="0"/>
              <a:t>positive</a:t>
            </a:r>
            <a:r>
              <a:rPr lang="en-US" dirty="0"/>
              <a:t>” ➡️ Go to </a:t>
            </a:r>
            <a:r>
              <a:rPr lang="en-US" b="1" i="1" dirty="0"/>
              <a:t>Step 6</a:t>
            </a:r>
          </a:p>
          <a:p>
            <a:pPr lvl="1"/>
            <a:r>
              <a:rPr lang="en-IN" b="1" i="1" dirty="0"/>
              <a:t>STEP 4: </a:t>
            </a:r>
            <a:r>
              <a:rPr lang="en-IN" dirty="0"/>
              <a:t>If </a:t>
            </a:r>
            <a:r>
              <a:rPr lang="en-IN" b="1" dirty="0"/>
              <a:t>number</a:t>
            </a:r>
            <a:r>
              <a:rPr lang="en-IN" dirty="0"/>
              <a:t> &gt; </a:t>
            </a:r>
            <a:r>
              <a:rPr lang="en-IN" b="1" dirty="0"/>
              <a:t>0</a:t>
            </a:r>
            <a:r>
              <a:rPr lang="en-IN" dirty="0"/>
              <a:t> </a:t>
            </a:r>
            <a:r>
              <a:rPr lang="en-US" dirty="0"/>
              <a:t>➡️ Print “</a:t>
            </a:r>
            <a:r>
              <a:rPr lang="en-US" b="1" dirty="0"/>
              <a:t>negative</a:t>
            </a:r>
            <a:r>
              <a:rPr lang="en-US" dirty="0"/>
              <a:t>” ➡️ Go to </a:t>
            </a:r>
            <a:r>
              <a:rPr lang="en-US" b="1" i="1" dirty="0"/>
              <a:t>Step 6</a:t>
            </a:r>
          </a:p>
          <a:p>
            <a:pPr lvl="1"/>
            <a:r>
              <a:rPr lang="en-IN" b="1" i="1" dirty="0"/>
              <a:t>STEP 5: </a:t>
            </a:r>
            <a:r>
              <a:rPr lang="en-IN" dirty="0"/>
              <a:t>Print “</a:t>
            </a:r>
            <a:r>
              <a:rPr lang="en-IN" b="1" dirty="0"/>
              <a:t>zero</a:t>
            </a:r>
            <a:r>
              <a:rPr lang="en-IN" dirty="0"/>
              <a:t>”</a:t>
            </a:r>
          </a:p>
          <a:p>
            <a:pPr lvl="1"/>
            <a:r>
              <a:rPr lang="en-IN" b="1" i="1" dirty="0"/>
              <a:t>STEP 6: </a:t>
            </a:r>
            <a:r>
              <a:rPr lang="en-IN" dirty="0"/>
              <a:t>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B89DD-05D4-CC84-2294-59EFD3A4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3155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A744-FADF-4399-D1A6-20F7CE180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3FB0B-B974-E77F-96AD-83591C9B7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2" y="304800"/>
            <a:ext cx="11256176" cy="6188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Design a Flowchart &amp; Pseudocode: </a:t>
            </a:r>
            <a:r>
              <a:rPr lang="en-US" dirty="0"/>
              <a:t>Print the sum of 2 numbers A &amp; B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1FB81-C1E4-62C8-27D7-01A67E0B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13</a:t>
            </a:fld>
            <a:endParaRPr lang="en-I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452D253-EE5F-7B6E-6442-E66B9A817CCF}"/>
              </a:ext>
            </a:extLst>
          </p:cNvPr>
          <p:cNvGrpSpPr/>
          <p:nvPr/>
        </p:nvGrpSpPr>
        <p:grpSpPr>
          <a:xfrm>
            <a:off x="1323257" y="989331"/>
            <a:ext cx="1842135" cy="5503544"/>
            <a:chOff x="5213985" y="743010"/>
            <a:chExt cx="1764030" cy="556825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EDA9EF9-F685-CBC9-EF60-CD8186FB6164}"/>
                </a:ext>
              </a:extLst>
            </p:cNvPr>
            <p:cNvGrpSpPr/>
            <p:nvPr/>
          </p:nvGrpSpPr>
          <p:grpSpPr>
            <a:xfrm>
              <a:off x="5455920" y="743010"/>
              <a:ext cx="1280160" cy="910530"/>
              <a:chOff x="2804160" y="830580"/>
              <a:chExt cx="1501140" cy="101346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09CC9099-2C94-0247-D066-817DEC648117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860B2B-018D-81C9-3BDA-EB2A3E68944F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415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START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51C09E8-3440-F757-029F-E7B11FA581DF}"/>
                </a:ext>
              </a:extLst>
            </p:cNvPr>
            <p:cNvGrpSpPr/>
            <p:nvPr/>
          </p:nvGrpSpPr>
          <p:grpSpPr>
            <a:xfrm>
              <a:off x="5213985" y="2093654"/>
              <a:ext cx="1764030" cy="662940"/>
              <a:chOff x="2657950" y="2270879"/>
              <a:chExt cx="1764030" cy="662940"/>
            </a:xfrm>
          </p:grpSpPr>
          <p:sp>
            <p:nvSpPr>
              <p:cNvPr id="5" name="Parallelogram 4">
                <a:extLst>
                  <a:ext uri="{FF2B5EF4-FFF2-40B4-BE49-F238E27FC236}">
                    <a16:creationId xmlns:a16="http://schemas.microsoft.com/office/drawing/2014/main" id="{768973C8-FAAD-5261-E485-D50DED093DF4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22AC40-6E62-AD4B-DCAE-B5F2EFBFC55C}"/>
                  </a:ext>
                </a:extLst>
              </p:cNvPr>
              <p:cNvSpPr txBox="1"/>
              <p:nvPr/>
            </p:nvSpPr>
            <p:spPr>
              <a:xfrm>
                <a:off x="2951797" y="2417683"/>
                <a:ext cx="1205865" cy="373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Input</a:t>
                </a:r>
                <a:r>
                  <a:rPr lang="en-IN" b="1" dirty="0"/>
                  <a:t> a, b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A32C836-5124-DE07-B860-F090F2E6D0EA}"/>
                </a:ext>
              </a:extLst>
            </p:cNvPr>
            <p:cNvGrpSpPr/>
            <p:nvPr/>
          </p:nvGrpSpPr>
          <p:grpSpPr>
            <a:xfrm>
              <a:off x="5213985" y="3189088"/>
              <a:ext cx="1764030" cy="662940"/>
              <a:chOff x="2657950" y="3347204"/>
              <a:chExt cx="1764030" cy="66294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8766889-58D5-B780-4003-0E33EBF063D7}"/>
                  </a:ext>
                </a:extLst>
              </p:cNvPr>
              <p:cNvSpPr/>
              <p:nvPr/>
            </p:nvSpPr>
            <p:spPr>
              <a:xfrm>
                <a:off x="2657950" y="3347204"/>
                <a:ext cx="1764030" cy="6629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32A6F6-EE20-6C32-2B29-B1B75C81DE2F}"/>
                  </a:ext>
                </a:extLst>
              </p:cNvPr>
              <p:cNvSpPr txBox="1"/>
              <p:nvPr/>
            </p:nvSpPr>
            <p:spPr>
              <a:xfrm>
                <a:off x="2863213" y="3501628"/>
                <a:ext cx="13535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/>
                  <a:t>sum = a + b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52D411A-B08B-87B5-9BC2-238CB30E1087}"/>
                </a:ext>
              </a:extLst>
            </p:cNvPr>
            <p:cNvGrpSpPr/>
            <p:nvPr/>
          </p:nvGrpSpPr>
          <p:grpSpPr>
            <a:xfrm>
              <a:off x="5213985" y="4292142"/>
              <a:ext cx="1764030" cy="662940"/>
              <a:chOff x="2657950" y="2270879"/>
              <a:chExt cx="1764030" cy="662940"/>
            </a:xfrm>
          </p:grpSpPr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22099FEC-9FD1-C432-7F29-0E3379503005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2B0B002-6336-FBCA-D493-E55517B3CD5E}"/>
                  </a:ext>
                </a:extLst>
              </p:cNvPr>
              <p:cNvSpPr txBox="1"/>
              <p:nvPr/>
            </p:nvSpPr>
            <p:spPr>
              <a:xfrm>
                <a:off x="2764775" y="2417357"/>
                <a:ext cx="1524241" cy="373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Print</a:t>
                </a:r>
                <a:r>
                  <a:rPr lang="en-IN" b="1" dirty="0"/>
                  <a:t> </a:t>
                </a:r>
                <a:r>
                  <a:rPr lang="en-IN" dirty="0"/>
                  <a:t>“</a:t>
                </a:r>
                <a:r>
                  <a:rPr lang="en-IN" b="1" dirty="0"/>
                  <a:t>sum</a:t>
                </a:r>
                <a:r>
                  <a:rPr lang="en-IN" dirty="0"/>
                  <a:t>”</a:t>
                </a: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58DFB4D-FE6E-35D7-4140-E26972305AD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653540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2D5C305-4B12-6446-4297-A994F28B5B09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2756594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39EBD59-3811-AC9E-188D-C41F78E725F6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3853874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38A856A-A348-F1A8-3A7A-0E05BF6DC86C}"/>
                </a:ext>
              </a:extLst>
            </p:cNvPr>
            <p:cNvCxnSpPr>
              <a:cxnSpLocks/>
            </p:cNvCxnSpPr>
            <p:nvPr/>
          </p:nvCxnSpPr>
          <p:spPr>
            <a:xfrm>
              <a:off x="6095524" y="4958774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135BCA8-814C-F007-956D-CA9797C71F5F}"/>
                </a:ext>
              </a:extLst>
            </p:cNvPr>
            <p:cNvGrpSpPr/>
            <p:nvPr/>
          </p:nvGrpSpPr>
          <p:grpSpPr>
            <a:xfrm>
              <a:off x="5455444" y="5400734"/>
              <a:ext cx="1280160" cy="910530"/>
              <a:chOff x="2804160" y="830580"/>
              <a:chExt cx="1501140" cy="101346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2DCA856-4CD0-5C60-8137-5D440EF26EE4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E5716B-4479-E05F-429B-C54284B28CC9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415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END</a:t>
                </a: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C7D995B-CD94-C919-301D-A0CD207C54DB}"/>
              </a:ext>
            </a:extLst>
          </p:cNvPr>
          <p:cNvSpPr txBox="1"/>
          <p:nvPr/>
        </p:nvSpPr>
        <p:spPr>
          <a:xfrm>
            <a:off x="5377815" y="2423657"/>
            <a:ext cx="54909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i="1" dirty="0"/>
              <a:t>STEP 1: </a:t>
            </a:r>
            <a:r>
              <a:rPr lang="en-IN" sz="2400" dirty="0"/>
              <a:t>Start</a:t>
            </a:r>
          </a:p>
          <a:p>
            <a:pPr lvl="1"/>
            <a:r>
              <a:rPr lang="en-IN" sz="2400" b="1" i="1" dirty="0"/>
              <a:t>STEP 2: </a:t>
            </a:r>
            <a:r>
              <a:rPr lang="en-IN" sz="2400" dirty="0"/>
              <a:t>Take input for </a:t>
            </a:r>
            <a:r>
              <a:rPr lang="en-IN" sz="2400" b="1" dirty="0"/>
              <a:t>a</a:t>
            </a:r>
            <a:r>
              <a:rPr lang="en-IN" sz="2400" dirty="0"/>
              <a:t>, </a:t>
            </a:r>
            <a:r>
              <a:rPr lang="en-IN" sz="2400" b="1" dirty="0"/>
              <a:t>b</a:t>
            </a:r>
          </a:p>
          <a:p>
            <a:pPr lvl="1"/>
            <a:r>
              <a:rPr lang="en-IN" sz="2400" b="1" i="1" dirty="0"/>
              <a:t>STEP 3: </a:t>
            </a:r>
            <a:r>
              <a:rPr lang="en-IN" sz="2400" b="1" dirty="0"/>
              <a:t>sum = a + b</a:t>
            </a:r>
          </a:p>
          <a:p>
            <a:pPr lvl="1"/>
            <a:r>
              <a:rPr lang="en-IN" sz="2400" b="1" i="1" dirty="0"/>
              <a:t>STEP 4:</a:t>
            </a:r>
            <a:r>
              <a:rPr lang="en-IN" sz="2400" b="1" dirty="0"/>
              <a:t> </a:t>
            </a:r>
            <a:r>
              <a:rPr lang="en-IN" sz="2400" dirty="0"/>
              <a:t>Print “</a:t>
            </a:r>
            <a:r>
              <a:rPr lang="en-IN" sz="2400" b="1" dirty="0"/>
              <a:t>sum</a:t>
            </a:r>
            <a:r>
              <a:rPr lang="en-IN" sz="2400" dirty="0"/>
              <a:t>”</a:t>
            </a:r>
          </a:p>
          <a:p>
            <a:pPr lvl="1"/>
            <a:r>
              <a:rPr lang="en-IN" sz="2400" b="1" i="1" dirty="0"/>
              <a:t>STEP 5:</a:t>
            </a:r>
            <a:r>
              <a:rPr lang="en-IN" sz="2400" b="1" dirty="0"/>
              <a:t> </a:t>
            </a:r>
            <a:r>
              <a:rPr lang="en-IN" sz="24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071182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EAEFE-255F-59F8-DFE6-5BD0A1EE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FC289-AA71-20B7-56F7-91F2FB678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2" y="304800"/>
            <a:ext cx="11256176" cy="6188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Design a Flowchart &amp; Pseudocode: </a:t>
            </a:r>
            <a:r>
              <a:rPr lang="en-US" dirty="0"/>
              <a:t>Print average of a, b, c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67DCF-CF55-ACDB-F1E4-AA9C61F3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14</a:t>
            </a:fld>
            <a:endParaRPr lang="en-I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DCBFF85-870F-BF4D-5F2E-E6BFD0D783BC}"/>
              </a:ext>
            </a:extLst>
          </p:cNvPr>
          <p:cNvGrpSpPr/>
          <p:nvPr/>
        </p:nvGrpSpPr>
        <p:grpSpPr>
          <a:xfrm>
            <a:off x="1323257" y="989331"/>
            <a:ext cx="1842135" cy="5503544"/>
            <a:chOff x="5213985" y="743010"/>
            <a:chExt cx="1764030" cy="556825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888CE24-8C5B-2373-2F97-360EAFAD4DFB}"/>
                </a:ext>
              </a:extLst>
            </p:cNvPr>
            <p:cNvGrpSpPr/>
            <p:nvPr/>
          </p:nvGrpSpPr>
          <p:grpSpPr>
            <a:xfrm>
              <a:off x="5455920" y="743010"/>
              <a:ext cx="1280160" cy="910530"/>
              <a:chOff x="2804160" y="830580"/>
              <a:chExt cx="1501140" cy="101346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11026EBD-E389-F72B-C41D-AE33B62ABF9C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739ECA-1A2B-7096-6623-BDA45C7F9E80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START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EF6DF1-ECA0-95DA-BDE0-3524AF2A1DF1}"/>
                </a:ext>
              </a:extLst>
            </p:cNvPr>
            <p:cNvGrpSpPr/>
            <p:nvPr/>
          </p:nvGrpSpPr>
          <p:grpSpPr>
            <a:xfrm>
              <a:off x="5213985" y="2093654"/>
              <a:ext cx="1764030" cy="662940"/>
              <a:chOff x="2657950" y="2270879"/>
              <a:chExt cx="1764030" cy="662940"/>
            </a:xfrm>
          </p:grpSpPr>
          <p:sp>
            <p:nvSpPr>
              <p:cNvPr id="5" name="Parallelogram 4">
                <a:extLst>
                  <a:ext uri="{FF2B5EF4-FFF2-40B4-BE49-F238E27FC236}">
                    <a16:creationId xmlns:a16="http://schemas.microsoft.com/office/drawing/2014/main" id="{1F6825DF-FE82-C02E-A97F-FA0B253EABC4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842F43-4D51-1A6C-F11E-F01E1EABFB1A}"/>
                  </a:ext>
                </a:extLst>
              </p:cNvPr>
              <p:cNvSpPr txBox="1"/>
              <p:nvPr/>
            </p:nvSpPr>
            <p:spPr>
              <a:xfrm>
                <a:off x="2791807" y="2419415"/>
                <a:ext cx="1470177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Input</a:t>
                </a:r>
                <a:r>
                  <a:rPr lang="en-IN" sz="1600" b="1" dirty="0"/>
                  <a:t> a, b, c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035B174-460F-21A7-31FB-3FC6449B76C7}"/>
                </a:ext>
              </a:extLst>
            </p:cNvPr>
            <p:cNvGrpSpPr/>
            <p:nvPr/>
          </p:nvGrpSpPr>
          <p:grpSpPr>
            <a:xfrm>
              <a:off x="5213985" y="3189088"/>
              <a:ext cx="1764030" cy="662940"/>
              <a:chOff x="2657950" y="3347204"/>
              <a:chExt cx="1764030" cy="66294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57E58A-700A-4A2E-DC4C-CB47DD915701}"/>
                  </a:ext>
                </a:extLst>
              </p:cNvPr>
              <p:cNvSpPr/>
              <p:nvPr/>
            </p:nvSpPr>
            <p:spPr>
              <a:xfrm>
                <a:off x="2657950" y="3347204"/>
                <a:ext cx="1764030" cy="6629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803052-4279-CEC5-4C3D-6E6B3A965285}"/>
                  </a:ext>
                </a:extLst>
              </p:cNvPr>
              <p:cNvSpPr txBox="1"/>
              <p:nvPr/>
            </p:nvSpPr>
            <p:spPr>
              <a:xfrm>
                <a:off x="2657950" y="3382291"/>
                <a:ext cx="1764030" cy="591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 dirty="0"/>
                  <a:t>average = (a + b + c) / 3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0E15A9-8E34-FB77-5934-F6A9D6FB0EE6}"/>
                </a:ext>
              </a:extLst>
            </p:cNvPr>
            <p:cNvGrpSpPr/>
            <p:nvPr/>
          </p:nvGrpSpPr>
          <p:grpSpPr>
            <a:xfrm>
              <a:off x="5213985" y="4292142"/>
              <a:ext cx="1764030" cy="662940"/>
              <a:chOff x="2657950" y="2270879"/>
              <a:chExt cx="1764030" cy="662940"/>
            </a:xfrm>
          </p:grpSpPr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5E05A30D-826C-5451-C090-679FE2060A41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7C34C8-8D5B-F949-1AF0-E0075C0DFAFD}"/>
                  </a:ext>
                </a:extLst>
              </p:cNvPr>
              <p:cNvSpPr txBox="1"/>
              <p:nvPr/>
            </p:nvSpPr>
            <p:spPr>
              <a:xfrm>
                <a:off x="2762881" y="2431082"/>
                <a:ext cx="1528027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</a:t>
                </a:r>
                <a:r>
                  <a:rPr lang="en-IN" sz="1600" b="1" dirty="0"/>
                  <a:t> </a:t>
                </a:r>
                <a:r>
                  <a:rPr lang="en-IN" sz="1600" dirty="0"/>
                  <a:t>“</a:t>
                </a:r>
                <a:r>
                  <a:rPr lang="en-IN" sz="1600" b="1" dirty="0"/>
                  <a:t>average</a:t>
                </a:r>
                <a:r>
                  <a:rPr lang="en-IN" sz="1600" dirty="0"/>
                  <a:t>”</a:t>
                </a: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97F088D-B269-D25C-8803-262FF985574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653540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13D208B-82C8-F464-0FE4-6D41D8143D15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2756594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4EAEE73-4631-8A62-585C-31C3FEC2A887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3853874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4AF8AB7-E6C5-EE84-F535-D80F57C984EC}"/>
                </a:ext>
              </a:extLst>
            </p:cNvPr>
            <p:cNvCxnSpPr>
              <a:cxnSpLocks/>
            </p:cNvCxnSpPr>
            <p:nvPr/>
          </p:nvCxnSpPr>
          <p:spPr>
            <a:xfrm>
              <a:off x="6095524" y="4958774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B50C5E7-559D-EB0E-1A2C-4EE1113FA8E7}"/>
                </a:ext>
              </a:extLst>
            </p:cNvPr>
            <p:cNvGrpSpPr/>
            <p:nvPr/>
          </p:nvGrpSpPr>
          <p:grpSpPr>
            <a:xfrm>
              <a:off x="5455444" y="5400734"/>
              <a:ext cx="1280160" cy="910530"/>
              <a:chOff x="2804160" y="830580"/>
              <a:chExt cx="1501140" cy="101346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656A196-8259-A71F-536C-3C261383C98E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13F6C41-EA49-5BF2-F600-A34A34B56FD2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END</a:t>
                </a: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77603C9-E0F0-31E9-DF88-65DA964A9EB6}"/>
              </a:ext>
            </a:extLst>
          </p:cNvPr>
          <p:cNvSpPr txBox="1"/>
          <p:nvPr/>
        </p:nvSpPr>
        <p:spPr>
          <a:xfrm>
            <a:off x="5377815" y="2423657"/>
            <a:ext cx="54909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i="1" dirty="0"/>
              <a:t>STEP 1: </a:t>
            </a:r>
            <a:r>
              <a:rPr lang="en-IN" sz="2400" dirty="0"/>
              <a:t>Start</a:t>
            </a:r>
          </a:p>
          <a:p>
            <a:pPr lvl="1"/>
            <a:r>
              <a:rPr lang="en-IN" sz="2400" b="1" i="1" dirty="0"/>
              <a:t>STEP 2: </a:t>
            </a:r>
            <a:r>
              <a:rPr lang="en-IN" sz="2400" dirty="0"/>
              <a:t>Take input for </a:t>
            </a:r>
            <a:r>
              <a:rPr lang="en-IN" sz="2400" b="1" dirty="0"/>
              <a:t>a</a:t>
            </a:r>
            <a:r>
              <a:rPr lang="en-IN" sz="2400" dirty="0"/>
              <a:t>, </a:t>
            </a:r>
            <a:r>
              <a:rPr lang="en-IN" sz="2400" b="1" dirty="0"/>
              <a:t>b</a:t>
            </a:r>
            <a:r>
              <a:rPr lang="en-IN" sz="2400" dirty="0"/>
              <a:t>, </a:t>
            </a:r>
            <a:r>
              <a:rPr lang="en-IN" sz="2400" b="1" dirty="0"/>
              <a:t>c</a:t>
            </a:r>
          </a:p>
          <a:p>
            <a:pPr lvl="1"/>
            <a:r>
              <a:rPr lang="en-IN" sz="2400" b="1" i="1" dirty="0"/>
              <a:t>STEP 3: </a:t>
            </a:r>
            <a:r>
              <a:rPr lang="en-IN" sz="2400" b="1" dirty="0"/>
              <a:t>average = (a + b + c) / 3</a:t>
            </a:r>
          </a:p>
          <a:p>
            <a:pPr lvl="1"/>
            <a:r>
              <a:rPr lang="en-IN" sz="2400" b="1" i="1" dirty="0"/>
              <a:t>STEP 4: </a:t>
            </a:r>
            <a:r>
              <a:rPr lang="en-IN" sz="2400" dirty="0"/>
              <a:t>Print “</a:t>
            </a:r>
            <a:r>
              <a:rPr lang="en-IN" sz="2400" b="1" dirty="0"/>
              <a:t>average</a:t>
            </a:r>
            <a:r>
              <a:rPr lang="en-IN" sz="2400" dirty="0"/>
              <a:t>”</a:t>
            </a:r>
          </a:p>
          <a:p>
            <a:pPr lvl="1"/>
            <a:r>
              <a:rPr lang="en-IN" sz="2400" b="1" i="1" dirty="0"/>
              <a:t>STEP 5: </a:t>
            </a:r>
            <a:r>
              <a:rPr lang="en-IN" sz="24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177032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0561-4FD9-B8CD-A2B4-567F3B84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F368-9091-6085-967D-E657CC60A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2" y="304800"/>
            <a:ext cx="11256176" cy="6188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Design a Flowchart &amp; Pseudocode: </a:t>
            </a:r>
            <a:r>
              <a:rPr lang="en-US" dirty="0"/>
              <a:t>Take input, add 3 numbers &amp; print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1B06B-DE1E-6684-AA18-CD6744192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15</a:t>
            </a:fld>
            <a:endParaRPr lang="en-I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C7B248F-8386-1166-C021-B98193507C6F}"/>
              </a:ext>
            </a:extLst>
          </p:cNvPr>
          <p:cNvGrpSpPr/>
          <p:nvPr/>
        </p:nvGrpSpPr>
        <p:grpSpPr>
          <a:xfrm>
            <a:off x="1323257" y="989331"/>
            <a:ext cx="1842135" cy="5503544"/>
            <a:chOff x="5213985" y="743010"/>
            <a:chExt cx="1764030" cy="556825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A95A354-0E00-0D0B-6E38-074A18E1776A}"/>
                </a:ext>
              </a:extLst>
            </p:cNvPr>
            <p:cNvGrpSpPr/>
            <p:nvPr/>
          </p:nvGrpSpPr>
          <p:grpSpPr>
            <a:xfrm>
              <a:off x="5455920" y="743010"/>
              <a:ext cx="1280160" cy="910530"/>
              <a:chOff x="2804160" y="830580"/>
              <a:chExt cx="1501140" cy="101346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5BBA0FD3-C036-D3DF-F187-D34B19249386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71364F-B282-F923-A25C-012E99219600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START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E9EF94C-D513-29DF-BC02-4D427B8F176E}"/>
                </a:ext>
              </a:extLst>
            </p:cNvPr>
            <p:cNvGrpSpPr/>
            <p:nvPr/>
          </p:nvGrpSpPr>
          <p:grpSpPr>
            <a:xfrm>
              <a:off x="5213985" y="2093654"/>
              <a:ext cx="1764030" cy="662940"/>
              <a:chOff x="2657950" y="2270879"/>
              <a:chExt cx="1764030" cy="662940"/>
            </a:xfrm>
          </p:grpSpPr>
          <p:sp>
            <p:nvSpPr>
              <p:cNvPr id="5" name="Parallelogram 4">
                <a:extLst>
                  <a:ext uri="{FF2B5EF4-FFF2-40B4-BE49-F238E27FC236}">
                    <a16:creationId xmlns:a16="http://schemas.microsoft.com/office/drawing/2014/main" id="{5D1DBE5A-CAFB-A151-6554-5E20FBB744E9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E5F947-542A-BDEE-995F-DEECDE7EC495}"/>
                  </a:ext>
                </a:extLst>
              </p:cNvPr>
              <p:cNvSpPr txBox="1"/>
              <p:nvPr/>
            </p:nvSpPr>
            <p:spPr>
              <a:xfrm>
                <a:off x="2791807" y="2419415"/>
                <a:ext cx="1470177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Input</a:t>
                </a:r>
                <a:r>
                  <a:rPr lang="en-IN" sz="1600" b="1" dirty="0"/>
                  <a:t> a, b, c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BA1D4F4-2067-4EFE-9AC9-15F836F9B54B}"/>
                </a:ext>
              </a:extLst>
            </p:cNvPr>
            <p:cNvGrpSpPr/>
            <p:nvPr/>
          </p:nvGrpSpPr>
          <p:grpSpPr>
            <a:xfrm>
              <a:off x="5213985" y="3189088"/>
              <a:ext cx="1764030" cy="662940"/>
              <a:chOff x="2657950" y="3347204"/>
              <a:chExt cx="1764030" cy="66294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E96400A-668E-4DA7-126A-51705122AB97}"/>
                  </a:ext>
                </a:extLst>
              </p:cNvPr>
              <p:cNvSpPr/>
              <p:nvPr/>
            </p:nvSpPr>
            <p:spPr>
              <a:xfrm>
                <a:off x="2657950" y="3347204"/>
                <a:ext cx="1764030" cy="6629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04FBD3-4DE9-AC01-2297-62ECFF112BC4}"/>
                  </a:ext>
                </a:extLst>
              </p:cNvPr>
              <p:cNvSpPr txBox="1"/>
              <p:nvPr/>
            </p:nvSpPr>
            <p:spPr>
              <a:xfrm>
                <a:off x="2657950" y="3528539"/>
                <a:ext cx="1764030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 dirty="0"/>
                  <a:t>sum = (a +b + c)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C3AC785-5942-4868-6CC4-427A122678CC}"/>
                </a:ext>
              </a:extLst>
            </p:cNvPr>
            <p:cNvGrpSpPr/>
            <p:nvPr/>
          </p:nvGrpSpPr>
          <p:grpSpPr>
            <a:xfrm>
              <a:off x="5213985" y="4292142"/>
              <a:ext cx="1764030" cy="662940"/>
              <a:chOff x="2657950" y="2270879"/>
              <a:chExt cx="1764030" cy="662940"/>
            </a:xfrm>
          </p:grpSpPr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2E82CE64-DC0C-6D6A-BC79-6CCFD551417C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E33F07-AF20-C447-F3FC-3A3593A141A4}"/>
                  </a:ext>
                </a:extLst>
              </p:cNvPr>
              <p:cNvSpPr txBox="1"/>
              <p:nvPr/>
            </p:nvSpPr>
            <p:spPr>
              <a:xfrm>
                <a:off x="2762881" y="2431082"/>
                <a:ext cx="1528027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</a:t>
                </a:r>
                <a:r>
                  <a:rPr lang="en-IN" sz="1600" b="1" dirty="0"/>
                  <a:t> </a:t>
                </a:r>
                <a:r>
                  <a:rPr lang="en-IN" sz="1600" dirty="0"/>
                  <a:t>“</a:t>
                </a:r>
                <a:r>
                  <a:rPr lang="en-IN" sz="1600" b="1" dirty="0"/>
                  <a:t>sum</a:t>
                </a:r>
                <a:r>
                  <a:rPr lang="en-IN" sz="1600" dirty="0"/>
                  <a:t>”</a:t>
                </a: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0A1C7AB-727A-F4EC-5DF4-C6AF6C0561A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653540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F299A99-2164-D2F0-4C4D-78EC198C0638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2756594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7E94110-9171-ED4B-9F46-0932479ED766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3853874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5BF85EB-3FEF-DDA7-B74A-E5EC143D735E}"/>
                </a:ext>
              </a:extLst>
            </p:cNvPr>
            <p:cNvCxnSpPr>
              <a:cxnSpLocks/>
            </p:cNvCxnSpPr>
            <p:nvPr/>
          </p:nvCxnSpPr>
          <p:spPr>
            <a:xfrm>
              <a:off x="6095524" y="4958774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DE21FB7-2A9A-E2DE-619D-5C522974EEC5}"/>
                </a:ext>
              </a:extLst>
            </p:cNvPr>
            <p:cNvGrpSpPr/>
            <p:nvPr/>
          </p:nvGrpSpPr>
          <p:grpSpPr>
            <a:xfrm>
              <a:off x="5455444" y="5400734"/>
              <a:ext cx="1280160" cy="910530"/>
              <a:chOff x="2804160" y="830580"/>
              <a:chExt cx="1501140" cy="101346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EF687FC-4247-A936-FC12-6247A7A5352B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1A416F2-7CF9-C2E7-009D-BF070DE2FEA1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END</a:t>
                </a: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3DB2935-927A-E273-1D7A-6B9767828B8E}"/>
              </a:ext>
            </a:extLst>
          </p:cNvPr>
          <p:cNvSpPr txBox="1"/>
          <p:nvPr/>
        </p:nvSpPr>
        <p:spPr>
          <a:xfrm>
            <a:off x="5377815" y="2423657"/>
            <a:ext cx="54909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i="1" dirty="0"/>
              <a:t>STEP 1: </a:t>
            </a:r>
            <a:r>
              <a:rPr lang="en-IN" sz="2400" dirty="0"/>
              <a:t>Start</a:t>
            </a:r>
          </a:p>
          <a:p>
            <a:pPr lvl="1"/>
            <a:r>
              <a:rPr lang="en-IN" sz="2400" b="1" i="1" dirty="0"/>
              <a:t>STEP 2: </a:t>
            </a:r>
            <a:r>
              <a:rPr lang="en-IN" sz="2400" dirty="0"/>
              <a:t>Take input for </a:t>
            </a:r>
            <a:r>
              <a:rPr lang="en-IN" sz="2400" b="1" dirty="0"/>
              <a:t>a</a:t>
            </a:r>
            <a:r>
              <a:rPr lang="en-IN" sz="2400" dirty="0"/>
              <a:t>, </a:t>
            </a:r>
            <a:r>
              <a:rPr lang="en-IN" sz="2400" b="1" dirty="0"/>
              <a:t>b</a:t>
            </a:r>
            <a:r>
              <a:rPr lang="en-IN" sz="2400" dirty="0"/>
              <a:t>, </a:t>
            </a:r>
            <a:r>
              <a:rPr lang="en-IN" sz="2400" b="1" dirty="0"/>
              <a:t>c</a:t>
            </a:r>
          </a:p>
          <a:p>
            <a:pPr lvl="1"/>
            <a:r>
              <a:rPr lang="en-IN" sz="2400" b="1" i="1" dirty="0"/>
              <a:t>STEP 3: </a:t>
            </a:r>
            <a:r>
              <a:rPr lang="en-IN" sz="2400" b="1" dirty="0"/>
              <a:t>sum = (a + b + c</a:t>
            </a:r>
          </a:p>
          <a:p>
            <a:pPr lvl="1"/>
            <a:r>
              <a:rPr lang="en-IN" sz="2400" b="1" i="1" dirty="0"/>
              <a:t>STEP 4: </a:t>
            </a:r>
            <a:r>
              <a:rPr lang="en-IN" sz="2400" dirty="0"/>
              <a:t>Print “</a:t>
            </a:r>
            <a:r>
              <a:rPr lang="en-IN" sz="2400" b="1" dirty="0"/>
              <a:t>sum</a:t>
            </a:r>
            <a:r>
              <a:rPr lang="en-IN" sz="2400" dirty="0"/>
              <a:t>”</a:t>
            </a:r>
          </a:p>
          <a:p>
            <a:pPr lvl="1"/>
            <a:r>
              <a:rPr lang="en-IN" sz="2400" b="1" i="1" dirty="0"/>
              <a:t>STEP 5: </a:t>
            </a:r>
            <a:r>
              <a:rPr lang="en-IN" sz="24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240795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6729-C30F-0862-CEEA-0DDFEDCB9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FB1DA-2A7F-F82F-C469-7739E0537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2" y="304800"/>
            <a:ext cx="11256176" cy="6188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Design a Flowchart &amp; Pseudocode: </a:t>
            </a:r>
            <a:r>
              <a:rPr lang="en-US" dirty="0"/>
              <a:t>Print area of rectangle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11FA8-841B-8F30-85C7-2A4DD456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16</a:t>
            </a:fld>
            <a:endParaRPr lang="en-I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8051003-40D8-C22F-8859-CE34B9CB0575}"/>
              </a:ext>
            </a:extLst>
          </p:cNvPr>
          <p:cNvGrpSpPr/>
          <p:nvPr/>
        </p:nvGrpSpPr>
        <p:grpSpPr>
          <a:xfrm>
            <a:off x="1323257" y="989331"/>
            <a:ext cx="1842135" cy="5503544"/>
            <a:chOff x="5213985" y="743010"/>
            <a:chExt cx="1764030" cy="556825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33AC67C-778C-19CE-B423-769C78F8520A}"/>
                </a:ext>
              </a:extLst>
            </p:cNvPr>
            <p:cNvGrpSpPr/>
            <p:nvPr/>
          </p:nvGrpSpPr>
          <p:grpSpPr>
            <a:xfrm>
              <a:off x="5455920" y="743010"/>
              <a:ext cx="1280160" cy="910530"/>
              <a:chOff x="2804160" y="830580"/>
              <a:chExt cx="1501140" cy="101346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AABB1E70-6C0E-8E3D-9A6B-47D195E97BDF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F396A7-9B93-E10A-A379-AF9DDED2F91E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START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3DB7494-069F-4BE7-DE39-FA6D744F3EA3}"/>
                </a:ext>
              </a:extLst>
            </p:cNvPr>
            <p:cNvGrpSpPr/>
            <p:nvPr/>
          </p:nvGrpSpPr>
          <p:grpSpPr>
            <a:xfrm>
              <a:off x="5213985" y="2093654"/>
              <a:ext cx="1764030" cy="662940"/>
              <a:chOff x="2657950" y="2270879"/>
              <a:chExt cx="1764030" cy="662940"/>
            </a:xfrm>
          </p:grpSpPr>
          <p:sp>
            <p:nvSpPr>
              <p:cNvPr id="5" name="Parallelogram 4">
                <a:extLst>
                  <a:ext uri="{FF2B5EF4-FFF2-40B4-BE49-F238E27FC236}">
                    <a16:creationId xmlns:a16="http://schemas.microsoft.com/office/drawing/2014/main" id="{ED643AD1-212D-7EB0-D98E-58BBCC809EDA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0FEDED-9385-0784-971D-B617381E18D5}"/>
                  </a:ext>
                </a:extLst>
              </p:cNvPr>
              <p:cNvSpPr txBox="1"/>
              <p:nvPr/>
            </p:nvSpPr>
            <p:spPr>
              <a:xfrm>
                <a:off x="2762881" y="2317307"/>
                <a:ext cx="1558295" cy="591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Input for </a:t>
                </a:r>
                <a:r>
                  <a:rPr lang="en-IN" sz="1600" b="1" dirty="0"/>
                  <a:t>length, width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FEB28F4-FCF5-CBF7-F28F-5D2A8CAE4E99}"/>
                </a:ext>
              </a:extLst>
            </p:cNvPr>
            <p:cNvGrpSpPr/>
            <p:nvPr/>
          </p:nvGrpSpPr>
          <p:grpSpPr>
            <a:xfrm>
              <a:off x="5213985" y="3189088"/>
              <a:ext cx="1764030" cy="662940"/>
              <a:chOff x="2657950" y="3347204"/>
              <a:chExt cx="1764030" cy="66294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F173502-D1C2-B9AB-70A6-07AE1B715E69}"/>
                  </a:ext>
                </a:extLst>
              </p:cNvPr>
              <p:cNvSpPr/>
              <p:nvPr/>
            </p:nvSpPr>
            <p:spPr>
              <a:xfrm>
                <a:off x="2657950" y="3347204"/>
                <a:ext cx="1764030" cy="6629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B104DC-9742-5909-772D-67A101055F19}"/>
                  </a:ext>
                </a:extLst>
              </p:cNvPr>
              <p:cNvSpPr txBox="1"/>
              <p:nvPr/>
            </p:nvSpPr>
            <p:spPr>
              <a:xfrm>
                <a:off x="2657950" y="3366616"/>
                <a:ext cx="1764030" cy="591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 dirty="0"/>
                  <a:t>area = (length * width)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E9C38E7-5410-8B3D-F0E9-86AF22D62A83}"/>
                </a:ext>
              </a:extLst>
            </p:cNvPr>
            <p:cNvGrpSpPr/>
            <p:nvPr/>
          </p:nvGrpSpPr>
          <p:grpSpPr>
            <a:xfrm>
              <a:off x="5213985" y="4292142"/>
              <a:ext cx="1764030" cy="662940"/>
              <a:chOff x="2657950" y="2270879"/>
              <a:chExt cx="1764030" cy="662940"/>
            </a:xfrm>
          </p:grpSpPr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BFFB782A-C2E8-0DA4-9691-D4F706302158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D6AF657-D1A8-02C4-F811-84A47A8E30A9}"/>
                  </a:ext>
                </a:extLst>
              </p:cNvPr>
              <p:cNvSpPr txBox="1"/>
              <p:nvPr/>
            </p:nvSpPr>
            <p:spPr>
              <a:xfrm>
                <a:off x="2762881" y="2431082"/>
                <a:ext cx="1528027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“</a:t>
                </a:r>
                <a:r>
                  <a:rPr lang="en-IN" sz="1600" b="1" dirty="0"/>
                  <a:t>area</a:t>
                </a:r>
                <a:r>
                  <a:rPr lang="en-IN" sz="1600" dirty="0"/>
                  <a:t>”</a:t>
                </a: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5DC480F-7E18-51D7-7D27-4D0CDE151E4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653540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6C9DE09-04E9-9335-7C8B-BE6BD97735F5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2756594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C34FA7B-DDB4-EE3A-E637-06FF6B867A57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3853874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D47A8F9-E666-4E4A-08B8-9D8960E5E81B}"/>
                </a:ext>
              </a:extLst>
            </p:cNvPr>
            <p:cNvCxnSpPr>
              <a:cxnSpLocks/>
            </p:cNvCxnSpPr>
            <p:nvPr/>
          </p:nvCxnSpPr>
          <p:spPr>
            <a:xfrm>
              <a:off x="6095524" y="4958774"/>
              <a:ext cx="0" cy="44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02E93BE-7159-AC27-B2A4-ED646E593252}"/>
                </a:ext>
              </a:extLst>
            </p:cNvPr>
            <p:cNvGrpSpPr/>
            <p:nvPr/>
          </p:nvGrpSpPr>
          <p:grpSpPr>
            <a:xfrm>
              <a:off x="5455444" y="5400734"/>
              <a:ext cx="1280160" cy="910530"/>
              <a:chOff x="2804160" y="830580"/>
              <a:chExt cx="1501140" cy="101346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E3FDA5A-311E-3EE3-17EC-7E6BAF79D512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81F6F5E-97E9-6DFC-7B06-97117AD371B8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END</a:t>
                </a: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2C882D8-002B-06BE-CB05-162306353661}"/>
              </a:ext>
            </a:extLst>
          </p:cNvPr>
          <p:cNvSpPr txBox="1"/>
          <p:nvPr/>
        </p:nvSpPr>
        <p:spPr>
          <a:xfrm>
            <a:off x="5377815" y="2423657"/>
            <a:ext cx="54909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i="1" dirty="0"/>
              <a:t>STEP 1: </a:t>
            </a:r>
            <a:r>
              <a:rPr lang="en-IN" sz="2400" dirty="0"/>
              <a:t>Start</a:t>
            </a:r>
          </a:p>
          <a:p>
            <a:pPr lvl="1"/>
            <a:r>
              <a:rPr lang="en-IN" sz="2400" b="1" i="1" dirty="0"/>
              <a:t>STEP 2: </a:t>
            </a:r>
            <a:r>
              <a:rPr lang="en-IN" sz="2400" dirty="0"/>
              <a:t>Take input for </a:t>
            </a:r>
            <a:r>
              <a:rPr lang="en-IN" sz="2400" b="1" dirty="0"/>
              <a:t>length, width</a:t>
            </a:r>
          </a:p>
          <a:p>
            <a:pPr lvl="1"/>
            <a:r>
              <a:rPr lang="en-IN" sz="2400" b="1" i="1" dirty="0"/>
              <a:t>STEP 3: </a:t>
            </a:r>
            <a:r>
              <a:rPr lang="en-IN" sz="2400" b="1" dirty="0"/>
              <a:t>area = (length * width)</a:t>
            </a:r>
          </a:p>
          <a:p>
            <a:pPr lvl="1"/>
            <a:r>
              <a:rPr lang="en-IN" sz="2400" b="1" i="1" dirty="0"/>
              <a:t>STEP 4: </a:t>
            </a:r>
            <a:r>
              <a:rPr lang="en-IN" sz="2400" dirty="0"/>
              <a:t>Print “</a:t>
            </a:r>
            <a:r>
              <a:rPr lang="en-IN" sz="2400" b="1" dirty="0"/>
              <a:t>area</a:t>
            </a:r>
            <a:r>
              <a:rPr lang="en-IN" sz="2400" dirty="0"/>
              <a:t>”</a:t>
            </a:r>
          </a:p>
          <a:p>
            <a:pPr lvl="1"/>
            <a:r>
              <a:rPr lang="en-IN" sz="2400" b="1" i="1" dirty="0"/>
              <a:t>STEP 5: </a:t>
            </a:r>
            <a:r>
              <a:rPr lang="en-IN" sz="24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889799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C864-35CA-1CCF-3FC9-38E60D861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6626E-322C-E1B6-879C-9E18B2857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2" y="304800"/>
            <a:ext cx="11256176" cy="6188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Design a Flowchart &amp; Pseudocode: </a:t>
            </a:r>
            <a:r>
              <a:rPr lang="en-US" dirty="0"/>
              <a:t>Check +ve, -ve, zero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833BC-90ED-AD01-C516-98507B8E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17</a:t>
            </a:fld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05D9C1-767F-7F50-C394-B770BFA0FC92}"/>
              </a:ext>
            </a:extLst>
          </p:cNvPr>
          <p:cNvSpPr txBox="1"/>
          <p:nvPr/>
        </p:nvSpPr>
        <p:spPr>
          <a:xfrm>
            <a:off x="5377819" y="1138196"/>
            <a:ext cx="66787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i="1" dirty="0"/>
              <a:t>STEP 1: </a:t>
            </a:r>
            <a:r>
              <a:rPr lang="en-IN" sz="2400" dirty="0"/>
              <a:t>Start</a:t>
            </a:r>
          </a:p>
          <a:p>
            <a:pPr lvl="1"/>
            <a:r>
              <a:rPr lang="en-IN" sz="2400" b="1" i="1" dirty="0"/>
              <a:t>STEP 2: </a:t>
            </a:r>
            <a:r>
              <a:rPr lang="en-IN" sz="2400" dirty="0"/>
              <a:t>Take input for </a:t>
            </a:r>
            <a:r>
              <a:rPr lang="en-IN" sz="2400" b="1" dirty="0"/>
              <a:t>n</a:t>
            </a:r>
          </a:p>
          <a:p>
            <a:pPr lvl="1"/>
            <a:r>
              <a:rPr lang="en-IN" sz="2400" b="1" i="1" dirty="0"/>
              <a:t>STEP 3: </a:t>
            </a:r>
            <a:r>
              <a:rPr lang="en-IN" sz="2400" dirty="0"/>
              <a:t>if</a:t>
            </a:r>
            <a:r>
              <a:rPr lang="en-IN" sz="2400" b="1" dirty="0"/>
              <a:t> n &gt; 0 </a:t>
            </a:r>
            <a:r>
              <a:rPr lang="en-US" sz="2400" b="1" dirty="0"/>
              <a:t>➡️ </a:t>
            </a:r>
            <a:r>
              <a:rPr lang="en-US" sz="2400" dirty="0"/>
              <a:t>Print</a:t>
            </a:r>
            <a:r>
              <a:rPr lang="en-US" sz="2400" b="1" dirty="0"/>
              <a:t> “+ve”</a:t>
            </a:r>
            <a:r>
              <a:rPr lang="en-US" sz="2400" dirty="0"/>
              <a:t>,</a:t>
            </a:r>
            <a:r>
              <a:rPr lang="en-US" sz="2400" b="1" dirty="0"/>
              <a:t> </a:t>
            </a:r>
            <a:r>
              <a:rPr lang="en-US" sz="2400" dirty="0"/>
              <a:t>Go to </a:t>
            </a:r>
            <a:r>
              <a:rPr lang="en-US" sz="2400" b="1" i="1" dirty="0"/>
              <a:t>STEP 6</a:t>
            </a:r>
            <a:endParaRPr lang="en-IN" sz="2400" b="1" dirty="0"/>
          </a:p>
          <a:p>
            <a:pPr lvl="1"/>
            <a:r>
              <a:rPr lang="en-IN" sz="2400" b="1" i="1" dirty="0"/>
              <a:t>STEP 4: </a:t>
            </a:r>
            <a:r>
              <a:rPr lang="en-IN" sz="2400" dirty="0"/>
              <a:t>if</a:t>
            </a:r>
            <a:r>
              <a:rPr lang="en-IN" sz="2400" b="1" dirty="0"/>
              <a:t> n &lt; 0 </a:t>
            </a:r>
            <a:r>
              <a:rPr lang="en-US" sz="2400" b="1" dirty="0"/>
              <a:t>➡️ </a:t>
            </a:r>
            <a:r>
              <a:rPr lang="en-US" sz="2400" dirty="0"/>
              <a:t>Print</a:t>
            </a:r>
            <a:r>
              <a:rPr lang="en-US" sz="2400" b="1" dirty="0"/>
              <a:t> “-ve”</a:t>
            </a:r>
            <a:r>
              <a:rPr lang="en-US" sz="2400" dirty="0"/>
              <a:t>,</a:t>
            </a:r>
            <a:r>
              <a:rPr lang="en-US" sz="2400" b="1" dirty="0"/>
              <a:t> </a:t>
            </a:r>
            <a:r>
              <a:rPr lang="en-US" sz="2400" dirty="0"/>
              <a:t>Go to </a:t>
            </a:r>
            <a:r>
              <a:rPr lang="en-US" sz="2400" b="1" i="1" dirty="0"/>
              <a:t>STEP 6</a:t>
            </a:r>
            <a:endParaRPr lang="en-IN" sz="2400" b="1" dirty="0"/>
          </a:p>
          <a:p>
            <a:pPr lvl="1"/>
            <a:r>
              <a:rPr lang="en-IN" sz="2400" b="1" i="1" dirty="0"/>
              <a:t>STEP 5: </a:t>
            </a:r>
            <a:r>
              <a:rPr lang="en-IN" sz="2400" dirty="0"/>
              <a:t>Print “</a:t>
            </a:r>
            <a:r>
              <a:rPr lang="en-IN" sz="2400" b="1" dirty="0"/>
              <a:t>zero</a:t>
            </a:r>
            <a:r>
              <a:rPr lang="en-IN" sz="2400" dirty="0"/>
              <a:t>”</a:t>
            </a:r>
          </a:p>
          <a:p>
            <a:pPr lvl="1"/>
            <a:r>
              <a:rPr lang="en-IN" sz="2400" b="1" i="1" dirty="0"/>
              <a:t>STEP 6: </a:t>
            </a:r>
            <a:r>
              <a:rPr lang="en-IN" sz="2400" dirty="0"/>
              <a:t>End</a:t>
            </a:r>
            <a:endParaRPr lang="en-IN" sz="2400" b="1" i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5F5BF68-7D7F-8BE3-A1D0-37E3CBD51886}"/>
              </a:ext>
            </a:extLst>
          </p:cNvPr>
          <p:cNvGrpSpPr/>
          <p:nvPr/>
        </p:nvGrpSpPr>
        <p:grpSpPr>
          <a:xfrm>
            <a:off x="120028" y="1108203"/>
            <a:ext cx="9271189" cy="5630422"/>
            <a:chOff x="46876" y="989331"/>
            <a:chExt cx="9271189" cy="563042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7221EFD-F34B-1118-CE7A-F451ED539299}"/>
                </a:ext>
              </a:extLst>
            </p:cNvPr>
            <p:cNvGrpSpPr/>
            <p:nvPr/>
          </p:nvGrpSpPr>
          <p:grpSpPr>
            <a:xfrm>
              <a:off x="1575904" y="989331"/>
              <a:ext cx="1336841" cy="899949"/>
              <a:chOff x="2804160" y="830580"/>
              <a:chExt cx="1501140" cy="101346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DC5F3EF4-85B6-579D-57EE-1A0A4FB7B936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BB3B84-1A9A-1E09-BBFF-BC160EB4C909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START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DB9DD03-BE9F-0EE9-2DC4-73A4FE9ABF97}"/>
                </a:ext>
              </a:extLst>
            </p:cNvPr>
            <p:cNvGrpSpPr/>
            <p:nvPr/>
          </p:nvGrpSpPr>
          <p:grpSpPr>
            <a:xfrm>
              <a:off x="1323257" y="2324279"/>
              <a:ext cx="1842135" cy="655236"/>
              <a:chOff x="2657950" y="2270879"/>
              <a:chExt cx="1764030" cy="662940"/>
            </a:xfrm>
          </p:grpSpPr>
          <p:sp>
            <p:nvSpPr>
              <p:cNvPr id="5" name="Parallelogram 4">
                <a:extLst>
                  <a:ext uri="{FF2B5EF4-FFF2-40B4-BE49-F238E27FC236}">
                    <a16:creationId xmlns:a16="http://schemas.microsoft.com/office/drawing/2014/main" id="{9F0E65A9-38F2-21DB-3140-917B43E5858A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03ECAC-9B34-1C5F-B714-65B1F8F943EF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Input for </a:t>
                </a:r>
                <a:r>
                  <a:rPr lang="en-IN" sz="1600" b="1" dirty="0"/>
                  <a:t>n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21C503C-F2F7-EEB7-8503-E07327BF31AC}"/>
                </a:ext>
              </a:extLst>
            </p:cNvPr>
            <p:cNvGrpSpPr/>
            <p:nvPr/>
          </p:nvGrpSpPr>
          <p:grpSpPr>
            <a:xfrm>
              <a:off x="46876" y="4992921"/>
              <a:ext cx="1842135" cy="655236"/>
              <a:chOff x="2657950" y="2270879"/>
              <a:chExt cx="1764030" cy="662940"/>
            </a:xfrm>
          </p:grpSpPr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C824A4A2-B1A6-4656-C8CE-3FDDA807CB52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32001B-D4C0-6250-FF96-AA8D6B088BB8}"/>
                  </a:ext>
                </a:extLst>
              </p:cNvPr>
              <p:cNvSpPr txBox="1"/>
              <p:nvPr/>
            </p:nvSpPr>
            <p:spPr>
              <a:xfrm>
                <a:off x="2762881" y="2431082"/>
                <a:ext cx="1528027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“</a:t>
                </a:r>
                <a:r>
                  <a:rPr lang="en-IN" sz="1600" b="1" dirty="0"/>
                  <a:t>+ve</a:t>
                </a:r>
                <a:r>
                  <a:rPr lang="en-IN" sz="1600" dirty="0"/>
                  <a:t>”</a:t>
                </a: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C81BB1C-4DBE-0723-9E7E-55CBB81D67AB}"/>
                </a:ext>
              </a:extLst>
            </p:cNvPr>
            <p:cNvCxnSpPr>
              <a:cxnSpLocks/>
            </p:cNvCxnSpPr>
            <p:nvPr/>
          </p:nvCxnSpPr>
          <p:spPr>
            <a:xfrm>
              <a:off x="2244325" y="1889280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63C572E-1844-1E6C-2923-270D12BC7473}"/>
                </a:ext>
              </a:extLst>
            </p:cNvPr>
            <p:cNvCxnSpPr>
              <a:cxnSpLocks/>
            </p:cNvCxnSpPr>
            <p:nvPr/>
          </p:nvCxnSpPr>
          <p:spPr>
            <a:xfrm>
              <a:off x="2244323" y="2979515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7BC82C9-CB12-D86B-E8E6-78C78FA6BDFC}"/>
                </a:ext>
              </a:extLst>
            </p:cNvPr>
            <p:cNvCxnSpPr>
              <a:cxnSpLocks/>
            </p:cNvCxnSpPr>
            <p:nvPr/>
          </p:nvCxnSpPr>
          <p:spPr>
            <a:xfrm>
              <a:off x="522662" y="4087263"/>
              <a:ext cx="0" cy="9104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D08B4B5-7115-5640-C90C-B3F15FC501FE}"/>
                </a:ext>
              </a:extLst>
            </p:cNvPr>
            <p:cNvGrpSpPr/>
            <p:nvPr/>
          </p:nvGrpSpPr>
          <p:grpSpPr>
            <a:xfrm>
              <a:off x="7731662" y="5719804"/>
              <a:ext cx="1336841" cy="899949"/>
              <a:chOff x="2804160" y="830580"/>
              <a:chExt cx="1501140" cy="101346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D59F877-9E22-FDD4-D304-6FB1000D8BED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71CD8D2-2E84-1987-CCDC-99AD77A93474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END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03A4DBC-1D5B-0C19-0176-DCA0723A4615}"/>
                </a:ext>
              </a:extLst>
            </p:cNvPr>
            <p:cNvGrpSpPr/>
            <p:nvPr/>
          </p:nvGrpSpPr>
          <p:grpSpPr>
            <a:xfrm>
              <a:off x="1433743" y="3420533"/>
              <a:ext cx="1621159" cy="1333461"/>
              <a:chOff x="1433743" y="3420533"/>
              <a:chExt cx="1621159" cy="1333461"/>
            </a:xfrm>
          </p:grpSpPr>
          <p:sp>
            <p:nvSpPr>
              <p:cNvPr id="10" name="Diamond 9">
                <a:extLst>
                  <a:ext uri="{FF2B5EF4-FFF2-40B4-BE49-F238E27FC236}">
                    <a16:creationId xmlns:a16="http://schemas.microsoft.com/office/drawing/2014/main" id="{D51E3C3C-4340-90B0-767D-446CC03276FE}"/>
                  </a:ext>
                </a:extLst>
              </p:cNvPr>
              <p:cNvSpPr/>
              <p:nvPr/>
            </p:nvSpPr>
            <p:spPr>
              <a:xfrm>
                <a:off x="1433743" y="3420533"/>
                <a:ext cx="1621159" cy="1333461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D61567-C68B-E0AB-764B-93D24801FC60}"/>
                  </a:ext>
                </a:extLst>
              </p:cNvPr>
              <p:cNvSpPr txBox="1"/>
              <p:nvPr/>
            </p:nvSpPr>
            <p:spPr>
              <a:xfrm>
                <a:off x="1776088" y="3874237"/>
                <a:ext cx="9364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if </a:t>
                </a:r>
                <a:r>
                  <a:rPr lang="en-US" sz="1600" b="1" dirty="0"/>
                  <a:t>n &gt; 0</a:t>
                </a:r>
                <a:endParaRPr lang="en-IN" sz="1600" b="1" dirty="0"/>
              </a:p>
            </p:txBody>
          </p:sp>
        </p:grp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3119608-9D5A-C559-A29B-071E138BABFA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3054902" y="4087263"/>
              <a:ext cx="890565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64CA0F8-9E59-B977-C4F5-BDF8CB0552BE}"/>
                </a:ext>
              </a:extLst>
            </p:cNvPr>
            <p:cNvCxnSpPr/>
            <p:nvPr/>
          </p:nvCxnSpPr>
          <p:spPr>
            <a:xfrm flipV="1">
              <a:off x="522662" y="4087263"/>
              <a:ext cx="890565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0025608-0B5F-1E42-8D00-6BDC70240FD5}"/>
                </a:ext>
              </a:extLst>
            </p:cNvPr>
            <p:cNvSpPr txBox="1"/>
            <p:nvPr/>
          </p:nvSpPr>
          <p:spPr>
            <a:xfrm>
              <a:off x="412674" y="3722916"/>
              <a:ext cx="9543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true</a:t>
              </a:r>
              <a:endParaRPr lang="en-IN" sz="1600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A0934AE-FBCD-FE65-AEDE-34B2FD56BD88}"/>
                </a:ext>
              </a:extLst>
            </p:cNvPr>
            <p:cNvCxnSpPr>
              <a:cxnSpLocks/>
              <a:stCxn id="19" idx="4"/>
            </p:cNvCxnSpPr>
            <p:nvPr/>
          </p:nvCxnSpPr>
          <p:spPr>
            <a:xfrm>
              <a:off x="967944" y="5648157"/>
              <a:ext cx="0" cy="5216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1BA0901-1FF2-F508-E107-455A395EE496}"/>
                </a:ext>
              </a:extLst>
            </p:cNvPr>
            <p:cNvCxnSpPr>
              <a:endCxn id="32" idx="2"/>
            </p:cNvCxnSpPr>
            <p:nvPr/>
          </p:nvCxnSpPr>
          <p:spPr>
            <a:xfrm>
              <a:off x="954294" y="6169778"/>
              <a:ext cx="677736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422A24E8-C3DE-9CE6-A85E-BDF50EDC4EF8}"/>
                </a:ext>
              </a:extLst>
            </p:cNvPr>
            <p:cNvGrpSpPr/>
            <p:nvPr/>
          </p:nvGrpSpPr>
          <p:grpSpPr>
            <a:xfrm>
              <a:off x="3945466" y="3610973"/>
              <a:ext cx="1395890" cy="952578"/>
              <a:chOff x="1433743" y="3420533"/>
              <a:chExt cx="1621159" cy="1333461"/>
            </a:xfrm>
          </p:grpSpPr>
          <p:sp>
            <p:nvSpPr>
              <p:cNvPr id="54" name="Diamond 53">
                <a:extLst>
                  <a:ext uri="{FF2B5EF4-FFF2-40B4-BE49-F238E27FC236}">
                    <a16:creationId xmlns:a16="http://schemas.microsoft.com/office/drawing/2014/main" id="{CCEBF9FC-5E8C-700C-C4B2-6DDC2B8F70D8}"/>
                  </a:ext>
                </a:extLst>
              </p:cNvPr>
              <p:cNvSpPr/>
              <p:nvPr/>
            </p:nvSpPr>
            <p:spPr>
              <a:xfrm>
                <a:off x="1433743" y="3420533"/>
                <a:ext cx="1621159" cy="1333461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D0BA2B0-9EC8-AD3E-C16C-B38B044CEE1F}"/>
                  </a:ext>
                </a:extLst>
              </p:cNvPr>
              <p:cNvSpPr txBox="1"/>
              <p:nvPr/>
            </p:nvSpPr>
            <p:spPr>
              <a:xfrm>
                <a:off x="1776088" y="3874237"/>
                <a:ext cx="936467" cy="473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if </a:t>
                </a:r>
                <a:r>
                  <a:rPr lang="en-US" sz="1600" b="1" dirty="0"/>
                  <a:t>n &lt; 0</a:t>
                </a:r>
                <a:endParaRPr lang="en-IN" sz="1600" b="1" dirty="0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DD4FC62-7093-9036-59B3-95981E61A9BC}"/>
                </a:ext>
              </a:extLst>
            </p:cNvPr>
            <p:cNvGrpSpPr/>
            <p:nvPr/>
          </p:nvGrpSpPr>
          <p:grpSpPr>
            <a:xfrm>
              <a:off x="7475930" y="3763342"/>
              <a:ext cx="1842135" cy="655236"/>
              <a:chOff x="2657950" y="2270879"/>
              <a:chExt cx="1764030" cy="662940"/>
            </a:xfrm>
          </p:grpSpPr>
          <p:sp>
            <p:nvSpPr>
              <p:cNvPr id="57" name="Parallelogram 56">
                <a:extLst>
                  <a:ext uri="{FF2B5EF4-FFF2-40B4-BE49-F238E27FC236}">
                    <a16:creationId xmlns:a16="http://schemas.microsoft.com/office/drawing/2014/main" id="{3511B81D-6AFB-F5CC-03B6-5ABA683FF14E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DF82295-112F-AFD6-8102-7BF8429D36BE}"/>
                  </a:ext>
                </a:extLst>
              </p:cNvPr>
              <p:cNvSpPr txBox="1"/>
              <p:nvPr/>
            </p:nvSpPr>
            <p:spPr>
              <a:xfrm>
                <a:off x="2762881" y="2431082"/>
                <a:ext cx="1528027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“</a:t>
                </a:r>
                <a:r>
                  <a:rPr lang="en-IN" sz="1600" b="1" dirty="0"/>
                  <a:t>-ve</a:t>
                </a:r>
                <a:r>
                  <a:rPr lang="en-IN" sz="1600" dirty="0"/>
                  <a:t>”</a:t>
                </a:r>
              </a:p>
            </p:txBody>
          </p:sp>
        </p:grp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5ADE40E-F4B7-C6A4-5A8D-0721C2183F67}"/>
                </a:ext>
              </a:extLst>
            </p:cNvPr>
            <p:cNvCxnSpPr>
              <a:stCxn id="54" idx="3"/>
              <a:endCxn id="57" idx="5"/>
            </p:cNvCxnSpPr>
            <p:nvPr/>
          </p:nvCxnSpPr>
          <p:spPr>
            <a:xfrm>
              <a:off x="5341356" y="4087262"/>
              <a:ext cx="2216479" cy="36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87F2E0A-D2E3-4614-F7CB-CFF83A9B6EEF}"/>
                </a:ext>
              </a:extLst>
            </p:cNvPr>
            <p:cNvCxnSpPr>
              <a:cxnSpLocks/>
              <a:stCxn id="57" idx="4"/>
              <a:endCxn id="32" idx="0"/>
            </p:cNvCxnSpPr>
            <p:nvPr/>
          </p:nvCxnSpPr>
          <p:spPr>
            <a:xfrm>
              <a:off x="8396998" y="4418578"/>
              <a:ext cx="3085" cy="13012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F09A158-2F39-9849-823E-6ED37CF0E16B}"/>
                </a:ext>
              </a:extLst>
            </p:cNvPr>
            <p:cNvCxnSpPr>
              <a:cxnSpLocks/>
              <a:stCxn id="54" idx="2"/>
            </p:cNvCxnSpPr>
            <p:nvPr/>
          </p:nvCxnSpPr>
          <p:spPr>
            <a:xfrm>
              <a:off x="4643411" y="4563551"/>
              <a:ext cx="0" cy="4468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2344A131-0598-6410-ACD8-50E745A66545}"/>
                </a:ext>
              </a:extLst>
            </p:cNvPr>
            <p:cNvGrpSpPr/>
            <p:nvPr/>
          </p:nvGrpSpPr>
          <p:grpSpPr>
            <a:xfrm>
              <a:off x="5670250" y="4734932"/>
              <a:ext cx="1601171" cy="505123"/>
              <a:chOff x="2657950" y="2270879"/>
              <a:chExt cx="1764030" cy="662940"/>
            </a:xfrm>
          </p:grpSpPr>
          <p:sp>
            <p:nvSpPr>
              <p:cNvPr id="70" name="Parallelogram 69">
                <a:extLst>
                  <a:ext uri="{FF2B5EF4-FFF2-40B4-BE49-F238E27FC236}">
                    <a16:creationId xmlns:a16="http://schemas.microsoft.com/office/drawing/2014/main" id="{082AE6FE-8AD3-F6BA-70A1-2354F406B2A5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9F80941-26BA-C0E6-821D-504936017E08}"/>
                  </a:ext>
                </a:extLst>
              </p:cNvPr>
              <p:cNvSpPr txBox="1"/>
              <p:nvPr/>
            </p:nvSpPr>
            <p:spPr>
              <a:xfrm>
                <a:off x="2762881" y="2431082"/>
                <a:ext cx="1528027" cy="444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“</a:t>
                </a:r>
                <a:r>
                  <a:rPr lang="en-IN" sz="1600" b="1" dirty="0"/>
                  <a:t>zero</a:t>
                </a:r>
                <a:r>
                  <a:rPr lang="en-IN" sz="1600" dirty="0"/>
                  <a:t>”</a:t>
                </a: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F995AD8-DCA2-C155-E835-89E41D75D5CB}"/>
                </a:ext>
              </a:extLst>
            </p:cNvPr>
            <p:cNvSpPr txBox="1"/>
            <p:nvPr/>
          </p:nvSpPr>
          <p:spPr>
            <a:xfrm>
              <a:off x="5645681" y="3780749"/>
              <a:ext cx="9543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true</a:t>
              </a:r>
              <a:endParaRPr lang="en-IN" sz="16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D779A46-89F4-54DB-A030-AF5B065E96BB}"/>
                </a:ext>
              </a:extLst>
            </p:cNvPr>
            <p:cNvSpPr txBox="1"/>
            <p:nvPr/>
          </p:nvSpPr>
          <p:spPr>
            <a:xfrm>
              <a:off x="4691381" y="4646836"/>
              <a:ext cx="9543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false</a:t>
              </a:r>
              <a:endParaRPr lang="en-IN" sz="1600" dirty="0"/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9AD19711-AC4E-B0E1-03DD-879F24A7753B}"/>
                </a:ext>
              </a:extLst>
            </p:cNvPr>
            <p:cNvCxnSpPr>
              <a:endCxn id="70" idx="5"/>
            </p:cNvCxnSpPr>
            <p:nvPr/>
          </p:nvCxnSpPr>
          <p:spPr>
            <a:xfrm flipV="1">
              <a:off x="4643410" y="4987494"/>
              <a:ext cx="1089980" cy="229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28195165-93DC-A364-8B11-AF754B86D34C}"/>
                </a:ext>
              </a:extLst>
            </p:cNvPr>
            <p:cNvCxnSpPr>
              <a:cxnSpLocks/>
              <a:stCxn id="70" idx="2"/>
            </p:cNvCxnSpPr>
            <p:nvPr/>
          </p:nvCxnSpPr>
          <p:spPr>
            <a:xfrm flipV="1">
              <a:off x="7208281" y="4987493"/>
              <a:ext cx="118871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687148D-C566-3798-8B40-2E647A9CD786}"/>
                </a:ext>
              </a:extLst>
            </p:cNvPr>
            <p:cNvSpPr txBox="1"/>
            <p:nvPr/>
          </p:nvSpPr>
          <p:spPr>
            <a:xfrm>
              <a:off x="3080504" y="3704960"/>
              <a:ext cx="9543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false</a:t>
              </a: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19785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82579-6B9E-1FE8-C08D-C040E36DC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4E5EE-2443-8BE5-7525-8A67041D4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2" y="304800"/>
            <a:ext cx="11256176" cy="6188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Design a Flowchart &amp; Pseudocode: </a:t>
            </a:r>
            <a:r>
              <a:rPr lang="en-US" dirty="0"/>
              <a:t>Print counting from 1 to 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2E426-4779-F01C-456E-8E695F6CD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18</a:t>
            </a:fld>
            <a:endParaRPr lang="en-IN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3AC892C-211B-E7E3-78B6-8487F20BF088}"/>
              </a:ext>
            </a:extLst>
          </p:cNvPr>
          <p:cNvGrpSpPr/>
          <p:nvPr/>
        </p:nvGrpSpPr>
        <p:grpSpPr>
          <a:xfrm>
            <a:off x="183836" y="852171"/>
            <a:ext cx="7517229" cy="5827421"/>
            <a:chOff x="494732" y="852171"/>
            <a:chExt cx="7517229" cy="582742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C6222D0-37FF-7A1D-AAE7-2C47D2E33183}"/>
                </a:ext>
              </a:extLst>
            </p:cNvPr>
            <p:cNvGrpSpPr/>
            <p:nvPr/>
          </p:nvGrpSpPr>
          <p:grpSpPr>
            <a:xfrm>
              <a:off x="3605872" y="852171"/>
              <a:ext cx="1336841" cy="899949"/>
              <a:chOff x="2804160" y="830580"/>
              <a:chExt cx="1501140" cy="101346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908C3CDB-78AA-FCCA-4524-CC083B2DC101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C2F640-6BB3-72FA-D224-EB82DD26DBF3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START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FAF61B4-71AB-D586-88FC-FE43AD718328}"/>
                </a:ext>
              </a:extLst>
            </p:cNvPr>
            <p:cNvGrpSpPr/>
            <p:nvPr/>
          </p:nvGrpSpPr>
          <p:grpSpPr>
            <a:xfrm>
              <a:off x="3353225" y="2187119"/>
              <a:ext cx="1842135" cy="655236"/>
              <a:chOff x="2657950" y="2270879"/>
              <a:chExt cx="1764030" cy="662940"/>
            </a:xfrm>
          </p:grpSpPr>
          <p:sp>
            <p:nvSpPr>
              <p:cNvPr id="5" name="Parallelogram 4">
                <a:extLst>
                  <a:ext uri="{FF2B5EF4-FFF2-40B4-BE49-F238E27FC236}">
                    <a16:creationId xmlns:a16="http://schemas.microsoft.com/office/drawing/2014/main" id="{C170FA0F-5CC6-D023-0C15-866FCD69816C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7D31EF-FA7D-DA89-CFFA-919A729F0FA0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Input for </a:t>
                </a:r>
                <a:r>
                  <a:rPr lang="en-IN" sz="1600" b="1" dirty="0"/>
                  <a:t>n</a:t>
                </a: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601A949-A7B1-659C-CF44-4D2941FBFF39}"/>
                </a:ext>
              </a:extLst>
            </p:cNvPr>
            <p:cNvCxnSpPr>
              <a:cxnSpLocks/>
            </p:cNvCxnSpPr>
            <p:nvPr/>
          </p:nvCxnSpPr>
          <p:spPr>
            <a:xfrm>
              <a:off x="4274293" y="1752120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6A082D2-1E85-EAE5-2356-0FE51383FB04}"/>
                </a:ext>
              </a:extLst>
            </p:cNvPr>
            <p:cNvCxnSpPr>
              <a:cxnSpLocks/>
            </p:cNvCxnSpPr>
            <p:nvPr/>
          </p:nvCxnSpPr>
          <p:spPr>
            <a:xfrm>
              <a:off x="4274291" y="2842355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DA23359-60E1-327C-093B-96BA55BFBD20}"/>
                </a:ext>
              </a:extLst>
            </p:cNvPr>
            <p:cNvGrpSpPr/>
            <p:nvPr/>
          </p:nvGrpSpPr>
          <p:grpSpPr>
            <a:xfrm>
              <a:off x="3466759" y="4383900"/>
              <a:ext cx="1621159" cy="1333461"/>
              <a:chOff x="1433743" y="3420533"/>
              <a:chExt cx="1621159" cy="1333461"/>
            </a:xfrm>
          </p:grpSpPr>
          <p:sp>
            <p:nvSpPr>
              <p:cNvPr id="10" name="Diamond 9">
                <a:extLst>
                  <a:ext uri="{FF2B5EF4-FFF2-40B4-BE49-F238E27FC236}">
                    <a16:creationId xmlns:a16="http://schemas.microsoft.com/office/drawing/2014/main" id="{40E06967-1B4C-CE9C-A6F7-2B715D06DFAF}"/>
                  </a:ext>
                </a:extLst>
              </p:cNvPr>
              <p:cNvSpPr/>
              <p:nvPr/>
            </p:nvSpPr>
            <p:spPr>
              <a:xfrm>
                <a:off x="1433743" y="3420533"/>
                <a:ext cx="1621159" cy="1333461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5E1BB3-1652-9576-3F9E-4CB6FEFC518C}"/>
                  </a:ext>
                </a:extLst>
              </p:cNvPr>
              <p:cNvSpPr txBox="1"/>
              <p:nvPr/>
            </p:nvSpPr>
            <p:spPr>
              <a:xfrm>
                <a:off x="1773023" y="3917986"/>
                <a:ext cx="9364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if </a:t>
                </a:r>
                <a:r>
                  <a:rPr lang="en-US" sz="1600" b="1" dirty="0"/>
                  <a:t>i &gt; n</a:t>
                </a:r>
                <a:endParaRPr lang="en-IN" sz="1600" b="1" dirty="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83B4546-8ADC-D36B-BE67-150ED0B370B4}"/>
                </a:ext>
              </a:extLst>
            </p:cNvPr>
            <p:cNvGrpSpPr/>
            <p:nvPr/>
          </p:nvGrpSpPr>
          <p:grpSpPr>
            <a:xfrm>
              <a:off x="3353206" y="3291840"/>
              <a:ext cx="1842135" cy="655236"/>
              <a:chOff x="1323238" y="3429000"/>
              <a:chExt cx="1842135" cy="65523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13CEA88-E263-BD2D-A0C2-639EF1A6959D}"/>
                  </a:ext>
                </a:extLst>
              </p:cNvPr>
              <p:cNvSpPr/>
              <p:nvPr/>
            </p:nvSpPr>
            <p:spPr>
              <a:xfrm>
                <a:off x="1323238" y="3429000"/>
                <a:ext cx="1842135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40AAE9-8907-AD6A-13D8-260901BF6280}"/>
                  </a:ext>
                </a:extLst>
              </p:cNvPr>
              <p:cNvSpPr txBox="1"/>
              <p:nvPr/>
            </p:nvSpPr>
            <p:spPr>
              <a:xfrm>
                <a:off x="1430660" y="3587341"/>
                <a:ext cx="16272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i = 1</a:t>
                </a:r>
                <a:endParaRPr lang="en-IN" sz="1600" b="1" dirty="0"/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C3F401C-1440-0953-A225-47CA658F42C2}"/>
                </a:ext>
              </a:extLst>
            </p:cNvPr>
            <p:cNvCxnSpPr>
              <a:cxnSpLocks/>
            </p:cNvCxnSpPr>
            <p:nvPr/>
          </p:nvCxnSpPr>
          <p:spPr>
            <a:xfrm>
              <a:off x="4261142" y="3947076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2268E12-883D-0DF0-4990-F29A247A06CF}"/>
                </a:ext>
              </a:extLst>
            </p:cNvPr>
            <p:cNvGrpSpPr/>
            <p:nvPr/>
          </p:nvGrpSpPr>
          <p:grpSpPr>
            <a:xfrm>
              <a:off x="6675120" y="4600654"/>
              <a:ext cx="1336841" cy="899949"/>
              <a:chOff x="2804160" y="830580"/>
              <a:chExt cx="1501140" cy="101346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8ABCC22-E37E-8760-56B9-729F44006F09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381EAD6-15DE-2AFE-7A8E-25368F5DE1BA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END</a:t>
                </a:r>
              </a:p>
            </p:txBody>
          </p: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68D2C65-DFBA-C7C1-CE34-3B9867AE9657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5087918" y="5050629"/>
              <a:ext cx="1587202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ACD0064-AD48-EB96-B368-948FBADEC89D}"/>
                </a:ext>
              </a:extLst>
            </p:cNvPr>
            <p:cNvSpPr txBox="1"/>
            <p:nvPr/>
          </p:nvSpPr>
          <p:spPr>
            <a:xfrm>
              <a:off x="5250309" y="4712076"/>
              <a:ext cx="11514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true</a:t>
              </a:r>
              <a:endParaRPr lang="en-IN" sz="1600" dirty="0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A54805D-0AB2-CB4F-44A3-482CFEA3289B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1403985" y="5050631"/>
              <a:ext cx="206277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3AB204D-C5AD-58A2-5946-1E9E93165CE4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1415800" y="5050629"/>
              <a:ext cx="0" cy="9737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87E24681-1FF7-B21A-C88D-6BD79CC9CF68}"/>
                </a:ext>
              </a:extLst>
            </p:cNvPr>
            <p:cNvCxnSpPr>
              <a:cxnSpLocks/>
              <a:stCxn id="39" idx="2"/>
              <a:endCxn id="67" idx="1"/>
            </p:cNvCxnSpPr>
            <p:nvPr/>
          </p:nvCxnSpPr>
          <p:spPr>
            <a:xfrm>
              <a:off x="2254963" y="6351974"/>
              <a:ext cx="10980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955B8D8C-0BFB-68C4-1CC8-9B81C6B2C5CA}"/>
                </a:ext>
              </a:extLst>
            </p:cNvPr>
            <p:cNvCxnSpPr>
              <a:stCxn id="67" idx="0"/>
              <a:endCxn id="10" idx="2"/>
            </p:cNvCxnSpPr>
            <p:nvPr/>
          </p:nvCxnSpPr>
          <p:spPr>
            <a:xfrm flipV="1">
              <a:off x="4274095" y="5717361"/>
              <a:ext cx="3244" cy="306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68BD102-C643-D0ED-7E52-9A098CB76A32}"/>
                </a:ext>
              </a:extLst>
            </p:cNvPr>
            <p:cNvSpPr txBox="1"/>
            <p:nvPr/>
          </p:nvSpPr>
          <p:spPr>
            <a:xfrm>
              <a:off x="1727122" y="4694637"/>
              <a:ext cx="11514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false</a:t>
              </a:r>
              <a:endParaRPr lang="en-IN" sz="1600" dirty="0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C075CE3-4640-A731-E6B7-AC6E253E2611}"/>
                </a:ext>
              </a:extLst>
            </p:cNvPr>
            <p:cNvGrpSpPr/>
            <p:nvPr/>
          </p:nvGrpSpPr>
          <p:grpSpPr>
            <a:xfrm>
              <a:off x="494732" y="6024356"/>
              <a:ext cx="1842135" cy="655236"/>
              <a:chOff x="2657950" y="2270879"/>
              <a:chExt cx="1764030" cy="662940"/>
            </a:xfrm>
          </p:grpSpPr>
          <p:sp>
            <p:nvSpPr>
              <p:cNvPr id="39" name="Parallelogram 38">
                <a:extLst>
                  <a:ext uri="{FF2B5EF4-FFF2-40B4-BE49-F238E27FC236}">
                    <a16:creationId xmlns:a16="http://schemas.microsoft.com/office/drawing/2014/main" id="{FD8A2F30-1420-4F70-D54C-5B343D9D6799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60F429C-A88C-0770-6B45-7E959B1D111A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</a:t>
                </a:r>
                <a:r>
                  <a:rPr lang="en-IN" sz="1600" b="1" dirty="0"/>
                  <a:t>i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CC0F8A8-5D03-32E1-FE48-D2576E183F17}"/>
                </a:ext>
              </a:extLst>
            </p:cNvPr>
            <p:cNvGrpSpPr/>
            <p:nvPr/>
          </p:nvGrpSpPr>
          <p:grpSpPr>
            <a:xfrm>
              <a:off x="3353027" y="6024356"/>
              <a:ext cx="1842135" cy="655236"/>
              <a:chOff x="1323238" y="3429000"/>
              <a:chExt cx="1842135" cy="655236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714F9E39-4CAB-69BA-4C8E-CA0A98E80385}"/>
                  </a:ext>
                </a:extLst>
              </p:cNvPr>
              <p:cNvSpPr/>
              <p:nvPr/>
            </p:nvSpPr>
            <p:spPr>
              <a:xfrm>
                <a:off x="1323238" y="3429000"/>
                <a:ext cx="1842135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C86F200-5662-3C99-CE23-CB4916CD8CF9}"/>
                  </a:ext>
                </a:extLst>
              </p:cNvPr>
              <p:cNvSpPr txBox="1"/>
              <p:nvPr/>
            </p:nvSpPr>
            <p:spPr>
              <a:xfrm>
                <a:off x="1430660" y="3587341"/>
                <a:ext cx="16272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i = i + 1</a:t>
                </a:r>
                <a:endParaRPr lang="en-IN" sz="1600" b="1" dirty="0"/>
              </a:p>
            </p:txBody>
          </p:sp>
        </p:grp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393A9277-D68C-38AA-2F5F-C8BF67A075BE}"/>
              </a:ext>
            </a:extLst>
          </p:cNvPr>
          <p:cNvSpPr txBox="1"/>
          <p:nvPr/>
        </p:nvSpPr>
        <p:spPr>
          <a:xfrm>
            <a:off x="5377819" y="1138196"/>
            <a:ext cx="66787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i="1" dirty="0"/>
              <a:t>STEP 1: </a:t>
            </a:r>
            <a:r>
              <a:rPr lang="en-IN" sz="2400" dirty="0"/>
              <a:t>Start</a:t>
            </a:r>
          </a:p>
          <a:p>
            <a:pPr lvl="1"/>
            <a:r>
              <a:rPr lang="en-IN" sz="2400" b="1" i="1" dirty="0"/>
              <a:t>STEP 2: </a:t>
            </a:r>
            <a:r>
              <a:rPr lang="en-IN" sz="2400" dirty="0"/>
              <a:t>Take input for </a:t>
            </a:r>
            <a:r>
              <a:rPr lang="en-IN" sz="2400" b="1" dirty="0"/>
              <a:t>n</a:t>
            </a:r>
          </a:p>
          <a:p>
            <a:pPr lvl="1"/>
            <a:r>
              <a:rPr lang="en-IN" sz="2400" b="1" i="1" dirty="0"/>
              <a:t>STEP 3: </a:t>
            </a:r>
            <a:r>
              <a:rPr lang="en-IN" sz="2400" b="1" dirty="0"/>
              <a:t>i = 1</a:t>
            </a:r>
          </a:p>
          <a:p>
            <a:pPr lvl="1"/>
            <a:r>
              <a:rPr lang="en-IN" sz="2400" b="1" i="1" dirty="0"/>
              <a:t>STEP 4: </a:t>
            </a:r>
            <a:r>
              <a:rPr lang="en-IN" sz="2400" dirty="0"/>
              <a:t>if </a:t>
            </a:r>
            <a:r>
              <a:rPr lang="en-IN" sz="2400" b="1" dirty="0"/>
              <a:t>i &gt; n, </a:t>
            </a:r>
            <a:r>
              <a:rPr lang="en-US" sz="2400" dirty="0"/>
              <a:t>➡️ Go to </a:t>
            </a:r>
            <a:r>
              <a:rPr lang="en-US" sz="2400" b="1" i="1" dirty="0"/>
              <a:t>STEP 7</a:t>
            </a:r>
            <a:endParaRPr lang="en-IN" sz="2400" b="1" dirty="0"/>
          </a:p>
          <a:p>
            <a:pPr lvl="1"/>
            <a:r>
              <a:rPr lang="en-IN" sz="2400" b="1" i="1" dirty="0"/>
              <a:t>STEP 5: </a:t>
            </a:r>
            <a:r>
              <a:rPr lang="en-IN" sz="2400" dirty="0"/>
              <a:t>Print </a:t>
            </a:r>
            <a:r>
              <a:rPr lang="en-IN" sz="2400" b="1" dirty="0"/>
              <a:t>i</a:t>
            </a:r>
          </a:p>
          <a:p>
            <a:pPr lvl="1"/>
            <a:r>
              <a:rPr lang="en-IN" sz="2400" b="1" i="1" dirty="0"/>
              <a:t>STEP 6: </a:t>
            </a:r>
            <a:r>
              <a:rPr lang="en-IN" sz="2400" b="1" dirty="0"/>
              <a:t>i = i + 1, </a:t>
            </a:r>
            <a:r>
              <a:rPr lang="en-US" sz="2400" dirty="0"/>
              <a:t>➡️</a:t>
            </a:r>
            <a:r>
              <a:rPr lang="en-IN" sz="2400" b="1" dirty="0"/>
              <a:t> </a:t>
            </a:r>
            <a:r>
              <a:rPr lang="en-IN" sz="2400" dirty="0"/>
              <a:t>Go to </a:t>
            </a:r>
            <a:r>
              <a:rPr lang="en-IN" sz="2400" b="1" i="1" dirty="0"/>
              <a:t>STEP 4</a:t>
            </a:r>
            <a:endParaRPr lang="en-IN" sz="2400" b="1" dirty="0"/>
          </a:p>
          <a:p>
            <a:pPr lvl="1"/>
            <a:r>
              <a:rPr lang="en-IN" sz="2400" b="1" i="1" dirty="0"/>
              <a:t>STEP 7: </a:t>
            </a:r>
            <a:r>
              <a:rPr lang="en-IN" sz="2400" dirty="0"/>
              <a:t>End</a:t>
            </a:r>
            <a:endParaRPr lang="en-IN" sz="2400" b="1" i="1" dirty="0"/>
          </a:p>
        </p:txBody>
      </p:sp>
    </p:spTree>
    <p:extLst>
      <p:ext uri="{BB962C8B-B14F-4D97-AF65-F5344CB8AC3E}">
        <p14:creationId xmlns:p14="http://schemas.microsoft.com/office/powerpoint/2010/main" val="3292944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F350-9DBD-5439-D816-64FE64E8B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043A-A590-8A72-2B6A-8306A2957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2" y="304800"/>
            <a:ext cx="11256176" cy="6188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Design a Flowchart &amp; Pseudocode: </a:t>
            </a:r>
            <a:r>
              <a:rPr lang="en-US" dirty="0"/>
              <a:t>Print even number from 1 to 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C97D3-4492-09A4-7269-8C29CD2BA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19</a:t>
            </a:fld>
            <a:endParaRPr lang="en-I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0AFF8F5-144F-F661-7E12-AC156BC029FC}"/>
              </a:ext>
            </a:extLst>
          </p:cNvPr>
          <p:cNvGrpSpPr/>
          <p:nvPr/>
        </p:nvGrpSpPr>
        <p:grpSpPr>
          <a:xfrm>
            <a:off x="183836" y="852171"/>
            <a:ext cx="7517229" cy="5827421"/>
            <a:chOff x="183836" y="852171"/>
            <a:chExt cx="7517229" cy="582742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602E7D4-19F2-7164-A641-1E4722274F38}"/>
                </a:ext>
              </a:extLst>
            </p:cNvPr>
            <p:cNvGrpSpPr/>
            <p:nvPr/>
          </p:nvGrpSpPr>
          <p:grpSpPr>
            <a:xfrm>
              <a:off x="3294976" y="852171"/>
              <a:ext cx="1336841" cy="899949"/>
              <a:chOff x="2804160" y="830580"/>
              <a:chExt cx="1501140" cy="101346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7F0BC09A-FDD8-DD9B-95DE-7517D34A417E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744FA0-D91F-4ADB-0AB6-B86C503D7D57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START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A78D31E-538E-3DA3-296B-BAFBDF3F01A8}"/>
                </a:ext>
              </a:extLst>
            </p:cNvPr>
            <p:cNvGrpSpPr/>
            <p:nvPr/>
          </p:nvGrpSpPr>
          <p:grpSpPr>
            <a:xfrm>
              <a:off x="3042329" y="2187119"/>
              <a:ext cx="1842135" cy="655236"/>
              <a:chOff x="2657950" y="2270879"/>
              <a:chExt cx="1764030" cy="662940"/>
            </a:xfrm>
          </p:grpSpPr>
          <p:sp>
            <p:nvSpPr>
              <p:cNvPr id="5" name="Parallelogram 4">
                <a:extLst>
                  <a:ext uri="{FF2B5EF4-FFF2-40B4-BE49-F238E27FC236}">
                    <a16:creationId xmlns:a16="http://schemas.microsoft.com/office/drawing/2014/main" id="{75DAE993-7476-2A26-172F-4C25F2D7F557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FB7AE6-F557-1B74-41ED-54FD79CCE75B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Input for </a:t>
                </a:r>
                <a:r>
                  <a:rPr lang="en-IN" sz="1600" b="1" dirty="0"/>
                  <a:t>n</a:t>
                </a: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9722C47-D6CF-0D6E-D905-59ED0D9C1E38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97" y="1752120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5346E05C-2D9C-13C9-093C-5948A85468C5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95" y="2842355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4985671-EFBF-9F4C-F0F9-53BA9FF83171}"/>
                </a:ext>
              </a:extLst>
            </p:cNvPr>
            <p:cNvGrpSpPr/>
            <p:nvPr/>
          </p:nvGrpSpPr>
          <p:grpSpPr>
            <a:xfrm>
              <a:off x="3155863" y="4383900"/>
              <a:ext cx="1621159" cy="1333461"/>
              <a:chOff x="1433743" y="3420533"/>
              <a:chExt cx="1621159" cy="1333461"/>
            </a:xfrm>
          </p:grpSpPr>
          <p:sp>
            <p:nvSpPr>
              <p:cNvPr id="10" name="Diamond 9">
                <a:extLst>
                  <a:ext uri="{FF2B5EF4-FFF2-40B4-BE49-F238E27FC236}">
                    <a16:creationId xmlns:a16="http://schemas.microsoft.com/office/drawing/2014/main" id="{26177EAB-7AF4-6CBD-B7BD-17C052160171}"/>
                  </a:ext>
                </a:extLst>
              </p:cNvPr>
              <p:cNvSpPr/>
              <p:nvPr/>
            </p:nvSpPr>
            <p:spPr>
              <a:xfrm>
                <a:off x="1433743" y="3420533"/>
                <a:ext cx="1621159" cy="1333461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1B6714-2699-D4F4-877C-129A7F05F66F}"/>
                  </a:ext>
                </a:extLst>
              </p:cNvPr>
              <p:cNvSpPr txBox="1"/>
              <p:nvPr/>
            </p:nvSpPr>
            <p:spPr>
              <a:xfrm>
                <a:off x="1664942" y="3917986"/>
                <a:ext cx="124792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if </a:t>
                </a:r>
                <a:r>
                  <a:rPr lang="en-US" sz="1600" b="1" dirty="0"/>
                  <a:t>i &gt; n</a:t>
                </a:r>
                <a:endParaRPr lang="en-IN" sz="1600" b="1" dirty="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3207197-0EEB-345C-B07C-55DD856BD79D}"/>
                </a:ext>
              </a:extLst>
            </p:cNvPr>
            <p:cNvGrpSpPr/>
            <p:nvPr/>
          </p:nvGrpSpPr>
          <p:grpSpPr>
            <a:xfrm>
              <a:off x="3042310" y="3291840"/>
              <a:ext cx="1842135" cy="655236"/>
              <a:chOff x="1323238" y="3429000"/>
              <a:chExt cx="1842135" cy="65523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F88495-AD0B-D091-E3FD-829A69CFDD48}"/>
                  </a:ext>
                </a:extLst>
              </p:cNvPr>
              <p:cNvSpPr/>
              <p:nvPr/>
            </p:nvSpPr>
            <p:spPr>
              <a:xfrm>
                <a:off x="1323238" y="3429000"/>
                <a:ext cx="1842135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E848046-84A9-E245-827B-21167CE14AD8}"/>
                  </a:ext>
                </a:extLst>
              </p:cNvPr>
              <p:cNvSpPr txBox="1"/>
              <p:nvPr/>
            </p:nvSpPr>
            <p:spPr>
              <a:xfrm>
                <a:off x="1430660" y="3587341"/>
                <a:ext cx="16272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i = 2</a:t>
                </a:r>
                <a:endParaRPr lang="en-IN" sz="1600" b="1" dirty="0"/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31CF784-2156-ECE8-DBF6-CABAB797E1EA}"/>
                </a:ext>
              </a:extLst>
            </p:cNvPr>
            <p:cNvCxnSpPr>
              <a:cxnSpLocks/>
            </p:cNvCxnSpPr>
            <p:nvPr/>
          </p:nvCxnSpPr>
          <p:spPr>
            <a:xfrm>
              <a:off x="3950246" y="3947076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782CD31-A187-97CA-4261-BC53B9BAD753}"/>
                </a:ext>
              </a:extLst>
            </p:cNvPr>
            <p:cNvGrpSpPr/>
            <p:nvPr/>
          </p:nvGrpSpPr>
          <p:grpSpPr>
            <a:xfrm>
              <a:off x="6364224" y="4600654"/>
              <a:ext cx="1336841" cy="899949"/>
              <a:chOff x="2804160" y="830580"/>
              <a:chExt cx="1501140" cy="101346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6972405-66D9-3E17-4310-BB2439764D91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9418A5B-45F3-268F-998E-DD5533CA0222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END</a:t>
                </a:r>
              </a:p>
            </p:txBody>
          </p: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558BBC1-9F51-A750-51F2-FF1744A57A5B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4777022" y="5050629"/>
              <a:ext cx="1587202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0119A5C-B28A-23B7-74CD-3BFB37EAEB26}"/>
                </a:ext>
              </a:extLst>
            </p:cNvPr>
            <p:cNvSpPr txBox="1"/>
            <p:nvPr/>
          </p:nvSpPr>
          <p:spPr>
            <a:xfrm>
              <a:off x="4939413" y="4712076"/>
              <a:ext cx="11514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true</a:t>
              </a:r>
              <a:endParaRPr lang="en-IN" sz="1600" dirty="0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7C8093B-939A-8E26-C58B-A138F865E332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1093089" y="5050631"/>
              <a:ext cx="206277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72395F8-57B6-5E1E-CAC6-29CE0F657B8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1104904" y="5050629"/>
              <a:ext cx="0" cy="9737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F0A364A7-58FF-7F1C-69BA-FEA08E1DD6A7}"/>
                </a:ext>
              </a:extLst>
            </p:cNvPr>
            <p:cNvCxnSpPr>
              <a:cxnSpLocks/>
              <a:stCxn id="39" idx="2"/>
              <a:endCxn id="67" idx="1"/>
            </p:cNvCxnSpPr>
            <p:nvPr/>
          </p:nvCxnSpPr>
          <p:spPr>
            <a:xfrm>
              <a:off x="1944067" y="6351974"/>
              <a:ext cx="10980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FC83F7E2-978B-4B1D-F6CA-D5E52FD8070F}"/>
                </a:ext>
              </a:extLst>
            </p:cNvPr>
            <p:cNvCxnSpPr>
              <a:stCxn id="67" idx="0"/>
              <a:endCxn id="10" idx="2"/>
            </p:cNvCxnSpPr>
            <p:nvPr/>
          </p:nvCxnSpPr>
          <p:spPr>
            <a:xfrm flipV="1">
              <a:off x="3963199" y="5717361"/>
              <a:ext cx="3244" cy="306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2A8B55C-0FEA-7749-B94B-5BDF0C25BEF4}"/>
                </a:ext>
              </a:extLst>
            </p:cNvPr>
            <p:cNvSpPr txBox="1"/>
            <p:nvPr/>
          </p:nvSpPr>
          <p:spPr>
            <a:xfrm>
              <a:off x="1416226" y="4694637"/>
              <a:ext cx="11514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false</a:t>
              </a:r>
              <a:endParaRPr lang="en-IN" sz="1600" dirty="0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5DE48FC-324D-9109-889C-6DA18A5FC6FD}"/>
                </a:ext>
              </a:extLst>
            </p:cNvPr>
            <p:cNvGrpSpPr/>
            <p:nvPr/>
          </p:nvGrpSpPr>
          <p:grpSpPr>
            <a:xfrm>
              <a:off x="183836" y="6024356"/>
              <a:ext cx="1842135" cy="655236"/>
              <a:chOff x="2657950" y="2270879"/>
              <a:chExt cx="1764030" cy="662940"/>
            </a:xfrm>
          </p:grpSpPr>
          <p:sp>
            <p:nvSpPr>
              <p:cNvPr id="39" name="Parallelogram 38">
                <a:extLst>
                  <a:ext uri="{FF2B5EF4-FFF2-40B4-BE49-F238E27FC236}">
                    <a16:creationId xmlns:a16="http://schemas.microsoft.com/office/drawing/2014/main" id="{FBC30CBC-C6F5-6ED9-D4FE-807C8B6F688C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AD10A6F-C4A4-7D04-23B5-F081D428CA6D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</a:t>
                </a:r>
                <a:r>
                  <a:rPr lang="en-IN" sz="1600" b="1" dirty="0"/>
                  <a:t>i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8E7972A-DC3D-657E-B6FF-D191AC085490}"/>
                </a:ext>
              </a:extLst>
            </p:cNvPr>
            <p:cNvGrpSpPr/>
            <p:nvPr/>
          </p:nvGrpSpPr>
          <p:grpSpPr>
            <a:xfrm>
              <a:off x="3042131" y="6024356"/>
              <a:ext cx="1842135" cy="655236"/>
              <a:chOff x="1323238" y="3429000"/>
              <a:chExt cx="1842135" cy="655236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B710F5DA-4615-1AE9-A608-2F4551A72994}"/>
                  </a:ext>
                </a:extLst>
              </p:cNvPr>
              <p:cNvSpPr/>
              <p:nvPr/>
            </p:nvSpPr>
            <p:spPr>
              <a:xfrm>
                <a:off x="1323238" y="3429000"/>
                <a:ext cx="1842135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EE907B8-B580-7944-E0B7-439EFBA5BF31}"/>
                  </a:ext>
                </a:extLst>
              </p:cNvPr>
              <p:cNvSpPr txBox="1"/>
              <p:nvPr/>
            </p:nvSpPr>
            <p:spPr>
              <a:xfrm>
                <a:off x="1430660" y="3587341"/>
                <a:ext cx="16272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i = i + 2</a:t>
                </a:r>
                <a:endParaRPr lang="en-IN" sz="1600" b="1" dirty="0"/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F2BBBEB-5B1C-905A-C702-8C4CA94AB8E4}"/>
              </a:ext>
            </a:extLst>
          </p:cNvPr>
          <p:cNvSpPr txBox="1"/>
          <p:nvPr/>
        </p:nvSpPr>
        <p:spPr>
          <a:xfrm>
            <a:off x="5377819" y="1138196"/>
            <a:ext cx="66787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i="1" dirty="0"/>
              <a:t>STEP 1: </a:t>
            </a:r>
            <a:r>
              <a:rPr lang="en-IN" sz="2400" dirty="0"/>
              <a:t>Start</a:t>
            </a:r>
          </a:p>
          <a:p>
            <a:pPr lvl="1"/>
            <a:r>
              <a:rPr lang="en-IN" sz="2400" b="1" i="1" dirty="0"/>
              <a:t>STEP 2: </a:t>
            </a:r>
            <a:r>
              <a:rPr lang="en-IN" sz="2400" dirty="0"/>
              <a:t>Take input for </a:t>
            </a:r>
            <a:r>
              <a:rPr lang="en-IN" sz="2400" b="1" dirty="0"/>
              <a:t>n</a:t>
            </a:r>
          </a:p>
          <a:p>
            <a:pPr lvl="1"/>
            <a:r>
              <a:rPr lang="en-IN" sz="2400" b="1" i="1" dirty="0"/>
              <a:t>STEP 3: </a:t>
            </a:r>
            <a:r>
              <a:rPr lang="en-IN" sz="2400" b="1" dirty="0"/>
              <a:t>i = 2</a:t>
            </a:r>
          </a:p>
          <a:p>
            <a:pPr lvl="1"/>
            <a:r>
              <a:rPr lang="en-IN" sz="2400" b="1" i="1" dirty="0"/>
              <a:t>STEP 4: </a:t>
            </a:r>
            <a:r>
              <a:rPr lang="en-IN" sz="2400" dirty="0"/>
              <a:t>if </a:t>
            </a:r>
            <a:r>
              <a:rPr lang="en-IN" sz="2400" b="1" dirty="0"/>
              <a:t>i &gt; n, </a:t>
            </a:r>
            <a:r>
              <a:rPr lang="en-US" sz="2400" dirty="0"/>
              <a:t>➡️ Go to </a:t>
            </a:r>
            <a:r>
              <a:rPr lang="en-US" sz="2400" b="1" i="1" dirty="0"/>
              <a:t>STEP 7</a:t>
            </a:r>
            <a:endParaRPr lang="en-IN" sz="2400" b="1" dirty="0"/>
          </a:p>
          <a:p>
            <a:pPr lvl="1"/>
            <a:r>
              <a:rPr lang="en-IN" sz="2400" b="1" i="1" dirty="0"/>
              <a:t>STEP 5: </a:t>
            </a:r>
            <a:r>
              <a:rPr lang="en-IN" sz="2400" dirty="0"/>
              <a:t>Print </a:t>
            </a:r>
            <a:r>
              <a:rPr lang="en-IN" sz="2400" b="1" dirty="0"/>
              <a:t>i</a:t>
            </a:r>
          </a:p>
          <a:p>
            <a:pPr lvl="1"/>
            <a:r>
              <a:rPr lang="en-IN" sz="2400" b="1" i="1" dirty="0"/>
              <a:t>STEP 6: </a:t>
            </a:r>
            <a:r>
              <a:rPr lang="en-IN" sz="2400" b="1" dirty="0"/>
              <a:t>i = i + 2, </a:t>
            </a:r>
            <a:r>
              <a:rPr lang="en-US" sz="2400" dirty="0"/>
              <a:t>➡️</a:t>
            </a:r>
            <a:r>
              <a:rPr lang="en-IN" sz="2400" b="1" dirty="0"/>
              <a:t> </a:t>
            </a:r>
            <a:r>
              <a:rPr lang="en-IN" sz="2400" dirty="0"/>
              <a:t>Go to </a:t>
            </a:r>
            <a:r>
              <a:rPr lang="en-IN" sz="2400" b="1" i="1" dirty="0"/>
              <a:t>STEP 4</a:t>
            </a:r>
            <a:endParaRPr lang="en-IN" sz="2400" b="1" dirty="0"/>
          </a:p>
          <a:p>
            <a:pPr lvl="1"/>
            <a:r>
              <a:rPr lang="en-IN" sz="2400" b="1" i="1" dirty="0"/>
              <a:t>STEP 7: </a:t>
            </a:r>
            <a:r>
              <a:rPr lang="en-IN" sz="2400" dirty="0"/>
              <a:t>End</a:t>
            </a:r>
            <a:endParaRPr lang="en-IN" sz="2400" b="1" i="1" dirty="0"/>
          </a:p>
        </p:txBody>
      </p:sp>
    </p:spTree>
    <p:extLst>
      <p:ext uri="{BB962C8B-B14F-4D97-AF65-F5344CB8AC3E}">
        <p14:creationId xmlns:p14="http://schemas.microsoft.com/office/powerpoint/2010/main" val="399002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FD94-5AA3-97A4-C917-381532EE5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D4BE1-F77D-5708-E67F-BA77AEFFE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2" y="304800"/>
            <a:ext cx="11256176" cy="6188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Design a Flowchart &amp; Pseudocode: </a:t>
            </a:r>
            <a:r>
              <a:rPr lang="en-US" dirty="0"/>
              <a:t>Take 2 input, multiply them &amp; print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ADCD6-63FF-E513-96EA-E9E7BA6E5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20</a:t>
            </a:fld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72E23D-3DAB-E70A-1BC1-BA50A99F580A}"/>
              </a:ext>
            </a:extLst>
          </p:cNvPr>
          <p:cNvSpPr txBox="1"/>
          <p:nvPr/>
        </p:nvSpPr>
        <p:spPr>
          <a:xfrm>
            <a:off x="5377819" y="1138196"/>
            <a:ext cx="66787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i="1" dirty="0"/>
              <a:t>STEP 1: </a:t>
            </a:r>
            <a:r>
              <a:rPr lang="en-IN" sz="2400" dirty="0"/>
              <a:t>Start</a:t>
            </a:r>
          </a:p>
          <a:p>
            <a:pPr lvl="1"/>
            <a:r>
              <a:rPr lang="en-IN" sz="2400" b="1" i="1" dirty="0"/>
              <a:t>STEP 2: </a:t>
            </a:r>
            <a:r>
              <a:rPr lang="en-IN" sz="2400" dirty="0"/>
              <a:t>Take input for </a:t>
            </a:r>
            <a:r>
              <a:rPr lang="en-IN" sz="2400" b="1" dirty="0"/>
              <a:t>a, b</a:t>
            </a:r>
          </a:p>
          <a:p>
            <a:pPr lvl="1"/>
            <a:r>
              <a:rPr lang="en-IN" sz="2400" b="1" i="1" dirty="0"/>
              <a:t>STEP 3: </a:t>
            </a:r>
            <a:r>
              <a:rPr lang="en-US" sz="2400" b="1" dirty="0"/>
              <a:t>multiply = (a * b)</a:t>
            </a:r>
            <a:endParaRPr lang="en-IN" sz="2400" b="1" dirty="0"/>
          </a:p>
          <a:p>
            <a:pPr lvl="1"/>
            <a:r>
              <a:rPr lang="en-IN" sz="2400" b="1" i="1" dirty="0"/>
              <a:t>STEP 4: </a:t>
            </a:r>
            <a:r>
              <a:rPr lang="en-IN" sz="2400" dirty="0"/>
              <a:t>Print “</a:t>
            </a:r>
            <a:r>
              <a:rPr lang="en-IN" sz="2400" b="1" dirty="0"/>
              <a:t>multiply”</a:t>
            </a:r>
          </a:p>
          <a:p>
            <a:pPr lvl="1"/>
            <a:r>
              <a:rPr lang="en-IN" sz="2400" b="1" i="1" dirty="0"/>
              <a:t>STEP 5: </a:t>
            </a:r>
            <a:r>
              <a:rPr lang="en-IN" sz="2400" dirty="0"/>
              <a:t>End</a:t>
            </a:r>
            <a:endParaRPr lang="en-IN" sz="2400" b="1" i="1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27847F-EA58-A644-73DE-FA0E0AC4625C}"/>
              </a:ext>
            </a:extLst>
          </p:cNvPr>
          <p:cNvGrpSpPr/>
          <p:nvPr/>
        </p:nvGrpSpPr>
        <p:grpSpPr>
          <a:xfrm>
            <a:off x="3029177" y="852171"/>
            <a:ext cx="1855287" cy="5536186"/>
            <a:chOff x="3029177" y="852171"/>
            <a:chExt cx="1855287" cy="553618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62ABE5E-DCC6-2908-244A-7878070D9372}"/>
                </a:ext>
              </a:extLst>
            </p:cNvPr>
            <p:cNvGrpSpPr/>
            <p:nvPr/>
          </p:nvGrpSpPr>
          <p:grpSpPr>
            <a:xfrm>
              <a:off x="3294976" y="852171"/>
              <a:ext cx="1336841" cy="899949"/>
              <a:chOff x="2804160" y="830580"/>
              <a:chExt cx="1501140" cy="101346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DC6971BF-04C6-D578-642F-8BA06B333B78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158794-FE8A-5D65-26F0-38A5B3B07D28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START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A126FEA-F721-80A3-03EE-FB77906D3C97}"/>
                </a:ext>
              </a:extLst>
            </p:cNvPr>
            <p:cNvGrpSpPr/>
            <p:nvPr/>
          </p:nvGrpSpPr>
          <p:grpSpPr>
            <a:xfrm>
              <a:off x="3042329" y="2187119"/>
              <a:ext cx="1842135" cy="655236"/>
              <a:chOff x="2657950" y="2270879"/>
              <a:chExt cx="1764030" cy="662940"/>
            </a:xfrm>
          </p:grpSpPr>
          <p:sp>
            <p:nvSpPr>
              <p:cNvPr id="5" name="Parallelogram 4">
                <a:extLst>
                  <a:ext uri="{FF2B5EF4-FFF2-40B4-BE49-F238E27FC236}">
                    <a16:creationId xmlns:a16="http://schemas.microsoft.com/office/drawing/2014/main" id="{9791301E-8E49-27FB-0B48-5C4DB19A673E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D3B5E9-C0B0-8BEB-F4B6-53A4981D7D92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Input for </a:t>
                </a:r>
                <a:r>
                  <a:rPr lang="en-IN" sz="1600" b="1" dirty="0"/>
                  <a:t>a, b</a:t>
                </a: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859300D-379E-F7BA-A195-4244A8A080B6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97" y="1752120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DC5F8B9-1168-51B3-B50E-8D2FB0582669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95" y="2842355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C9C6D58-6263-3BED-81CF-32B3E61CF43A}"/>
                </a:ext>
              </a:extLst>
            </p:cNvPr>
            <p:cNvGrpSpPr/>
            <p:nvPr/>
          </p:nvGrpSpPr>
          <p:grpSpPr>
            <a:xfrm>
              <a:off x="3042310" y="3291840"/>
              <a:ext cx="1842135" cy="655236"/>
              <a:chOff x="1323238" y="3429000"/>
              <a:chExt cx="1842135" cy="65523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19C99D8-E71F-0334-8E8F-9E5AC1A3E614}"/>
                  </a:ext>
                </a:extLst>
              </p:cNvPr>
              <p:cNvSpPr/>
              <p:nvPr/>
            </p:nvSpPr>
            <p:spPr>
              <a:xfrm>
                <a:off x="1323238" y="3429000"/>
                <a:ext cx="1842135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9965FC-7E2B-2CCF-4EB5-F81402089D75}"/>
                  </a:ext>
                </a:extLst>
              </p:cNvPr>
              <p:cNvSpPr txBox="1"/>
              <p:nvPr/>
            </p:nvSpPr>
            <p:spPr>
              <a:xfrm>
                <a:off x="1336333" y="3587341"/>
                <a:ext cx="178968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multiply = (a * b)</a:t>
                </a:r>
                <a:endParaRPr lang="en-IN" sz="1600" b="1" dirty="0"/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C4BAA41-33CF-51E3-79C5-F226D2C9A216}"/>
                </a:ext>
              </a:extLst>
            </p:cNvPr>
            <p:cNvCxnSpPr>
              <a:cxnSpLocks/>
            </p:cNvCxnSpPr>
            <p:nvPr/>
          </p:nvCxnSpPr>
          <p:spPr>
            <a:xfrm>
              <a:off x="3950246" y="3947076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BC3FEE8-61AE-E848-3134-D35176F29A60}"/>
                </a:ext>
              </a:extLst>
            </p:cNvPr>
            <p:cNvGrpSpPr/>
            <p:nvPr/>
          </p:nvGrpSpPr>
          <p:grpSpPr>
            <a:xfrm>
              <a:off x="3281823" y="5488408"/>
              <a:ext cx="1336841" cy="899949"/>
              <a:chOff x="2804160" y="830580"/>
              <a:chExt cx="1501140" cy="101346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517D9F4-AB8D-C43D-3ABC-42D8EC2E5845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87FC12-6A50-7425-FD78-C2212D46BBAA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END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1393CC9-144C-3BC6-9566-D2F7A97D7096}"/>
                </a:ext>
              </a:extLst>
            </p:cNvPr>
            <p:cNvGrpSpPr/>
            <p:nvPr/>
          </p:nvGrpSpPr>
          <p:grpSpPr>
            <a:xfrm>
              <a:off x="3029177" y="4389218"/>
              <a:ext cx="1842135" cy="655236"/>
              <a:chOff x="2657950" y="2270879"/>
              <a:chExt cx="1764030" cy="662940"/>
            </a:xfrm>
          </p:grpSpPr>
          <p:sp>
            <p:nvSpPr>
              <p:cNvPr id="39" name="Parallelogram 38">
                <a:extLst>
                  <a:ext uri="{FF2B5EF4-FFF2-40B4-BE49-F238E27FC236}">
                    <a16:creationId xmlns:a16="http://schemas.microsoft.com/office/drawing/2014/main" id="{ECF8B40F-498B-DE24-F5C6-08B3D9967089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A30D04-D022-2DB7-6CAB-D9004BF7648F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</a:t>
                </a:r>
                <a:r>
                  <a:rPr lang="en-IN" sz="1600" b="1" dirty="0"/>
                  <a:t>“multiply”</a:t>
                </a:r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FFD67E7-F370-F580-10BA-E3132B512B41}"/>
                </a:ext>
              </a:extLst>
            </p:cNvPr>
            <p:cNvCxnSpPr>
              <a:cxnSpLocks/>
            </p:cNvCxnSpPr>
            <p:nvPr/>
          </p:nvCxnSpPr>
          <p:spPr>
            <a:xfrm>
              <a:off x="3951223" y="5050452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4436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656C-A633-83EB-7DE3-4F55E8131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2A6B-0C17-3D1E-883F-D9EB74E00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2" y="304800"/>
            <a:ext cx="11256176" cy="6188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Design a Flowchart &amp; Pseudocode: </a:t>
            </a:r>
            <a:r>
              <a:rPr lang="en-US" dirty="0"/>
              <a:t>Find &amp; print Simple Interest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76BDB-AD56-D7C6-D44D-CCCE0E62A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21</a:t>
            </a:fld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BCDFB5-328D-71A3-DD4D-27D51A58F636}"/>
              </a:ext>
            </a:extLst>
          </p:cNvPr>
          <p:cNvSpPr txBox="1"/>
          <p:nvPr/>
        </p:nvSpPr>
        <p:spPr>
          <a:xfrm>
            <a:off x="5377819" y="1138196"/>
            <a:ext cx="66787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i="1" dirty="0"/>
              <a:t>STEP 1: </a:t>
            </a:r>
            <a:r>
              <a:rPr lang="en-IN" sz="2400" dirty="0"/>
              <a:t>Start</a:t>
            </a:r>
          </a:p>
          <a:p>
            <a:pPr lvl="1"/>
            <a:r>
              <a:rPr lang="en-IN" sz="2400" b="1" i="1" dirty="0"/>
              <a:t>STEP 2: </a:t>
            </a:r>
            <a:r>
              <a:rPr lang="en-IN" sz="2400" dirty="0"/>
              <a:t>Take input for </a:t>
            </a:r>
            <a:r>
              <a:rPr lang="en-IN" sz="2400" b="1" dirty="0"/>
              <a:t>P, r, t</a:t>
            </a:r>
          </a:p>
          <a:p>
            <a:pPr lvl="1"/>
            <a:r>
              <a:rPr lang="en-IN" sz="2400" b="1" i="1" dirty="0"/>
              <a:t>STEP 3: </a:t>
            </a:r>
            <a:r>
              <a:rPr lang="en-US" sz="2400" b="1" dirty="0"/>
              <a:t>SI = (p * r * t) / 100</a:t>
            </a:r>
            <a:endParaRPr lang="en-IN" sz="2400" b="1" dirty="0"/>
          </a:p>
          <a:p>
            <a:pPr lvl="1"/>
            <a:r>
              <a:rPr lang="en-IN" sz="2400" b="1" i="1" dirty="0"/>
              <a:t>STEP 4: </a:t>
            </a:r>
            <a:r>
              <a:rPr lang="en-IN" sz="2400" dirty="0"/>
              <a:t>Print “</a:t>
            </a:r>
            <a:r>
              <a:rPr lang="en-IN" sz="2400" b="1" dirty="0"/>
              <a:t>SI”</a:t>
            </a:r>
          </a:p>
          <a:p>
            <a:pPr lvl="1"/>
            <a:r>
              <a:rPr lang="en-IN" sz="2400" b="1" i="1" dirty="0"/>
              <a:t>STEP 5: </a:t>
            </a:r>
            <a:r>
              <a:rPr lang="en-IN" sz="2400" dirty="0"/>
              <a:t>End</a:t>
            </a:r>
          </a:p>
          <a:p>
            <a:pPr lvl="1"/>
            <a:endParaRPr lang="en-IN" sz="2400" b="1" i="1" dirty="0"/>
          </a:p>
          <a:p>
            <a:pPr lvl="1"/>
            <a:r>
              <a:rPr lang="en-IN" sz="2400" b="1" i="1" dirty="0"/>
              <a:t>P = Principle</a:t>
            </a:r>
          </a:p>
          <a:p>
            <a:pPr lvl="1"/>
            <a:r>
              <a:rPr lang="en-IN" sz="2400" b="1" i="1" dirty="0"/>
              <a:t>r = Rate of Interest</a:t>
            </a:r>
          </a:p>
          <a:p>
            <a:pPr lvl="1"/>
            <a:r>
              <a:rPr lang="en-IN" sz="2400" b="1" i="1" dirty="0"/>
              <a:t>t = Time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39B9199-A40B-5B4F-6807-AF2CD5179386}"/>
              </a:ext>
            </a:extLst>
          </p:cNvPr>
          <p:cNvGrpSpPr/>
          <p:nvPr/>
        </p:nvGrpSpPr>
        <p:grpSpPr>
          <a:xfrm>
            <a:off x="2889611" y="852171"/>
            <a:ext cx="2147531" cy="5536186"/>
            <a:chOff x="2889611" y="852171"/>
            <a:chExt cx="2147531" cy="553618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98576C2-374A-59FA-3F4F-4649B5D37CA8}"/>
                </a:ext>
              </a:extLst>
            </p:cNvPr>
            <p:cNvGrpSpPr/>
            <p:nvPr/>
          </p:nvGrpSpPr>
          <p:grpSpPr>
            <a:xfrm>
              <a:off x="3294976" y="852171"/>
              <a:ext cx="1336841" cy="899949"/>
              <a:chOff x="2804160" y="830580"/>
              <a:chExt cx="1501140" cy="101346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C20CF02D-21F1-DEE4-5C43-B1C85B7850DE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E16605-6E0E-9968-0904-6F9EAAF692E0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START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91663DB-50E5-3084-FF36-A0B63A50D9AC}"/>
                </a:ext>
              </a:extLst>
            </p:cNvPr>
            <p:cNvGrpSpPr/>
            <p:nvPr/>
          </p:nvGrpSpPr>
          <p:grpSpPr>
            <a:xfrm>
              <a:off x="3042329" y="2187119"/>
              <a:ext cx="1842135" cy="655236"/>
              <a:chOff x="2657950" y="2270879"/>
              <a:chExt cx="1764030" cy="662940"/>
            </a:xfrm>
          </p:grpSpPr>
          <p:sp>
            <p:nvSpPr>
              <p:cNvPr id="5" name="Parallelogram 4">
                <a:extLst>
                  <a:ext uri="{FF2B5EF4-FFF2-40B4-BE49-F238E27FC236}">
                    <a16:creationId xmlns:a16="http://schemas.microsoft.com/office/drawing/2014/main" id="{F1BDC764-D3CA-2211-0B9B-68F057DA9CF1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C15B87-997B-0808-5A18-37D1E35520A8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Input for </a:t>
                </a:r>
                <a:r>
                  <a:rPr lang="en-IN" sz="1600" b="1" dirty="0"/>
                  <a:t>P, r, t</a:t>
                </a: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EAEA6F3-CB30-C4C2-CA7E-AA6B0F63F9C1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97" y="1752120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AAE749F-7DBA-2534-8CE7-42CAEA28FA5E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95" y="2842355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06498CA0-1D46-1E60-D498-9C3EC561C878}"/>
                </a:ext>
              </a:extLst>
            </p:cNvPr>
            <p:cNvGrpSpPr/>
            <p:nvPr/>
          </p:nvGrpSpPr>
          <p:grpSpPr>
            <a:xfrm>
              <a:off x="2889611" y="3291840"/>
              <a:ext cx="2147531" cy="655236"/>
              <a:chOff x="1170539" y="3429000"/>
              <a:chExt cx="2147531" cy="65523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A88FD47-0B2E-5A5F-B0B4-E2C51A91B388}"/>
                  </a:ext>
                </a:extLst>
              </p:cNvPr>
              <p:cNvSpPr/>
              <p:nvPr/>
            </p:nvSpPr>
            <p:spPr>
              <a:xfrm>
                <a:off x="1323238" y="3429000"/>
                <a:ext cx="1842135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030D39-38BD-9FD0-BFB0-534A816DA594}"/>
                  </a:ext>
                </a:extLst>
              </p:cNvPr>
              <p:cNvSpPr txBox="1"/>
              <p:nvPr/>
            </p:nvSpPr>
            <p:spPr>
              <a:xfrm>
                <a:off x="1170539" y="3602729"/>
                <a:ext cx="21475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SI = (P * r * t) / 100</a:t>
                </a:r>
                <a:endParaRPr lang="en-IN" sz="1600" b="1" dirty="0"/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DE2B058-9CF2-9676-DA1E-46E1BFF45D59}"/>
                </a:ext>
              </a:extLst>
            </p:cNvPr>
            <p:cNvCxnSpPr>
              <a:cxnSpLocks/>
            </p:cNvCxnSpPr>
            <p:nvPr/>
          </p:nvCxnSpPr>
          <p:spPr>
            <a:xfrm>
              <a:off x="3950246" y="3947076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62DA452-F745-02CB-71D1-6C121ABB1B95}"/>
                </a:ext>
              </a:extLst>
            </p:cNvPr>
            <p:cNvGrpSpPr/>
            <p:nvPr/>
          </p:nvGrpSpPr>
          <p:grpSpPr>
            <a:xfrm>
              <a:off x="3281823" y="5488408"/>
              <a:ext cx="1336841" cy="899949"/>
              <a:chOff x="2804160" y="830580"/>
              <a:chExt cx="1501140" cy="101346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8BC1D49-47F7-795A-F9AD-9B2C4BA67356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10CA39-5F9C-A2A0-0EA8-197CC2399792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END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FB6C933-4850-E876-E474-4FCD3C3072AA}"/>
                </a:ext>
              </a:extLst>
            </p:cNvPr>
            <p:cNvGrpSpPr/>
            <p:nvPr/>
          </p:nvGrpSpPr>
          <p:grpSpPr>
            <a:xfrm>
              <a:off x="3016026" y="4389218"/>
              <a:ext cx="1855287" cy="655236"/>
              <a:chOff x="2645356" y="2270879"/>
              <a:chExt cx="1776624" cy="662940"/>
            </a:xfrm>
          </p:grpSpPr>
          <p:sp>
            <p:nvSpPr>
              <p:cNvPr id="39" name="Parallelogram 38">
                <a:extLst>
                  <a:ext uri="{FF2B5EF4-FFF2-40B4-BE49-F238E27FC236}">
                    <a16:creationId xmlns:a16="http://schemas.microsoft.com/office/drawing/2014/main" id="{6BFA2469-2518-009A-38BA-18BAE47333CB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1D098DE-9997-81D7-C291-D0E930B6B8FE}"/>
                  </a:ext>
                </a:extLst>
              </p:cNvPr>
              <p:cNvSpPr txBox="1"/>
              <p:nvPr/>
            </p:nvSpPr>
            <p:spPr>
              <a:xfrm>
                <a:off x="2645356" y="2431082"/>
                <a:ext cx="1764030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</a:t>
                </a:r>
                <a:r>
                  <a:rPr lang="en-IN" sz="1600" b="1" dirty="0"/>
                  <a:t>“SI”</a:t>
                </a:r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8184A39-792C-7489-BFCD-A96D1812D19A}"/>
                </a:ext>
              </a:extLst>
            </p:cNvPr>
            <p:cNvCxnSpPr>
              <a:cxnSpLocks/>
            </p:cNvCxnSpPr>
            <p:nvPr/>
          </p:nvCxnSpPr>
          <p:spPr>
            <a:xfrm>
              <a:off x="3951223" y="5050452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255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435C-7444-6943-9F43-5BFCD07B0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E3AE6-2C68-8E1D-AB9C-92029A728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2" y="304800"/>
            <a:ext cx="11256176" cy="6188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Design a Flowchart &amp; Pseudocode: </a:t>
            </a:r>
            <a:r>
              <a:rPr lang="en-US" dirty="0"/>
              <a:t>Find &amp; print Compound Interest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1D0E1-D60F-1572-1B2B-427E9E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22</a:t>
            </a:fld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07602A-0BCA-42FA-771D-C8B3B356B8CD}"/>
              </a:ext>
            </a:extLst>
          </p:cNvPr>
          <p:cNvSpPr txBox="1"/>
          <p:nvPr/>
        </p:nvSpPr>
        <p:spPr>
          <a:xfrm>
            <a:off x="5377819" y="1138196"/>
            <a:ext cx="66787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i="1" dirty="0"/>
              <a:t>STEP 1: </a:t>
            </a:r>
            <a:r>
              <a:rPr lang="en-IN" sz="2400" dirty="0"/>
              <a:t>Start</a:t>
            </a:r>
          </a:p>
          <a:p>
            <a:pPr lvl="1"/>
            <a:r>
              <a:rPr lang="en-IN" sz="2400" b="1" i="1" dirty="0"/>
              <a:t>STEP 2: </a:t>
            </a:r>
            <a:r>
              <a:rPr lang="en-IN" sz="2400" dirty="0"/>
              <a:t>Take input for </a:t>
            </a:r>
            <a:r>
              <a:rPr lang="en-IN" sz="2400" b="1" dirty="0"/>
              <a:t>A, P, R, T</a:t>
            </a:r>
          </a:p>
          <a:p>
            <a:pPr lvl="1"/>
            <a:r>
              <a:rPr lang="en-IN" sz="2400" b="1" i="1" dirty="0"/>
              <a:t>STEP 3: </a:t>
            </a:r>
            <a:r>
              <a:rPr lang="en-US" sz="2400" b="1" dirty="0"/>
              <a:t>A = P (1 + (R / 100))^ T ➡️ CI = (A – P)</a:t>
            </a:r>
            <a:endParaRPr lang="en-IN" sz="2400" b="1" dirty="0"/>
          </a:p>
          <a:p>
            <a:pPr lvl="1"/>
            <a:r>
              <a:rPr lang="en-IN" sz="2400" b="1" i="1" dirty="0"/>
              <a:t>STEP 4: </a:t>
            </a:r>
            <a:r>
              <a:rPr lang="en-IN" sz="2400" dirty="0"/>
              <a:t>Print “</a:t>
            </a:r>
            <a:r>
              <a:rPr lang="en-IN" sz="2400" b="1" dirty="0"/>
              <a:t>CI”</a:t>
            </a:r>
          </a:p>
          <a:p>
            <a:pPr lvl="1"/>
            <a:r>
              <a:rPr lang="en-IN" sz="2400" b="1" i="1" dirty="0"/>
              <a:t>STEP 5: </a:t>
            </a:r>
            <a:r>
              <a:rPr lang="en-IN" sz="2400" dirty="0"/>
              <a:t>End</a:t>
            </a:r>
          </a:p>
          <a:p>
            <a:pPr lvl="1"/>
            <a:endParaRPr lang="en-IN" sz="2400" b="1" i="1" dirty="0"/>
          </a:p>
          <a:p>
            <a:pPr lvl="1"/>
            <a:r>
              <a:rPr lang="en-IN" sz="2400" b="1" i="1" dirty="0"/>
              <a:t>A = Final Amount (Principal + Interest)</a:t>
            </a:r>
          </a:p>
          <a:p>
            <a:pPr lvl="1"/>
            <a:r>
              <a:rPr lang="en-IN" sz="2400" b="1" i="1" dirty="0"/>
              <a:t>P = Principle (Initial amount)</a:t>
            </a:r>
          </a:p>
          <a:p>
            <a:pPr lvl="1"/>
            <a:r>
              <a:rPr lang="en-IN" sz="2400" b="1" i="1" dirty="0"/>
              <a:t>R = Rate of Interest (per annum, in %)</a:t>
            </a:r>
          </a:p>
          <a:p>
            <a:pPr lvl="1"/>
            <a:r>
              <a:rPr lang="en-IN" sz="2400" b="1" i="1" dirty="0"/>
              <a:t>T = Time (in yrs)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1C6210E-2E5D-E628-9E6D-7C2F8E5AFDFE}"/>
              </a:ext>
            </a:extLst>
          </p:cNvPr>
          <p:cNvGrpSpPr/>
          <p:nvPr/>
        </p:nvGrpSpPr>
        <p:grpSpPr>
          <a:xfrm>
            <a:off x="2857287" y="852171"/>
            <a:ext cx="2147531" cy="5536186"/>
            <a:chOff x="2857287" y="852171"/>
            <a:chExt cx="2147531" cy="553618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5520328-1F87-8997-03F6-BCE0EFBF9C15}"/>
                </a:ext>
              </a:extLst>
            </p:cNvPr>
            <p:cNvGrpSpPr/>
            <p:nvPr/>
          </p:nvGrpSpPr>
          <p:grpSpPr>
            <a:xfrm>
              <a:off x="3294976" y="852171"/>
              <a:ext cx="1336841" cy="899949"/>
              <a:chOff x="2804160" y="830580"/>
              <a:chExt cx="1501140" cy="101346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3B403E55-C570-058E-F1EB-87F3ED787CEE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83A26B-B238-67DC-1BD9-A48D92333D25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START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414D5FF-C82D-6DC1-898C-BC91D592212C}"/>
                </a:ext>
              </a:extLst>
            </p:cNvPr>
            <p:cNvGrpSpPr/>
            <p:nvPr/>
          </p:nvGrpSpPr>
          <p:grpSpPr>
            <a:xfrm>
              <a:off x="3042329" y="2187119"/>
              <a:ext cx="1842135" cy="655236"/>
              <a:chOff x="2657950" y="2270879"/>
              <a:chExt cx="1764030" cy="662940"/>
            </a:xfrm>
          </p:grpSpPr>
          <p:sp>
            <p:nvSpPr>
              <p:cNvPr id="5" name="Parallelogram 4">
                <a:extLst>
                  <a:ext uri="{FF2B5EF4-FFF2-40B4-BE49-F238E27FC236}">
                    <a16:creationId xmlns:a16="http://schemas.microsoft.com/office/drawing/2014/main" id="{B8D09CA7-B44B-24B9-2B63-4624F156F962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C0FECEE-6EA4-46D8-AB9D-160773979372}"/>
                  </a:ext>
                </a:extLst>
              </p:cNvPr>
              <p:cNvSpPr txBox="1"/>
              <p:nvPr/>
            </p:nvSpPr>
            <p:spPr>
              <a:xfrm>
                <a:off x="2710405" y="2432928"/>
                <a:ext cx="1659080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Input for </a:t>
                </a:r>
                <a:r>
                  <a:rPr lang="en-IN" sz="1600" b="1" dirty="0"/>
                  <a:t>A, P, R, T</a:t>
                </a: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CC919FB-12E3-1E71-851D-B143B5CD8C6A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97" y="1752120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C774B47-A602-6D66-C5DC-3ACBBE2538A3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95" y="2842355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CD78247-7D0B-F72F-C93E-38B0559AFC5D}"/>
                </a:ext>
              </a:extLst>
            </p:cNvPr>
            <p:cNvGrpSpPr/>
            <p:nvPr/>
          </p:nvGrpSpPr>
          <p:grpSpPr>
            <a:xfrm>
              <a:off x="2857287" y="3282696"/>
              <a:ext cx="2147531" cy="664380"/>
              <a:chOff x="1138215" y="3419856"/>
              <a:chExt cx="2147531" cy="66438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07BD087-5FB4-A44C-5638-5EDF7AE4D879}"/>
                  </a:ext>
                </a:extLst>
              </p:cNvPr>
              <p:cNvSpPr/>
              <p:nvPr/>
            </p:nvSpPr>
            <p:spPr>
              <a:xfrm>
                <a:off x="1323238" y="3429000"/>
                <a:ext cx="1842135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A9F964-ACEE-4E5E-24E4-9B39ABCC8D09}"/>
                  </a:ext>
                </a:extLst>
              </p:cNvPr>
              <p:cNvSpPr txBox="1"/>
              <p:nvPr/>
            </p:nvSpPr>
            <p:spPr>
              <a:xfrm>
                <a:off x="1138215" y="3419856"/>
                <a:ext cx="21475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A = P (1 + (R / 100))^ T</a:t>
                </a:r>
              </a:p>
              <a:p>
                <a:pPr algn="ctr"/>
                <a:r>
                  <a:rPr lang="en-US" sz="1200" b="1" dirty="0"/>
                  <a:t>⬇️</a:t>
                </a:r>
              </a:p>
              <a:p>
                <a:pPr algn="ctr"/>
                <a:r>
                  <a:rPr lang="en-US" sz="1200" b="1" dirty="0"/>
                  <a:t>CI = (A – P)</a:t>
                </a:r>
                <a:endParaRPr lang="en-IN" sz="1200" b="1" dirty="0"/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CE0F76E-E265-B0B9-785E-28B2BE3E1F5C}"/>
                </a:ext>
              </a:extLst>
            </p:cNvPr>
            <p:cNvCxnSpPr>
              <a:cxnSpLocks/>
            </p:cNvCxnSpPr>
            <p:nvPr/>
          </p:nvCxnSpPr>
          <p:spPr>
            <a:xfrm>
              <a:off x="3950246" y="3947076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DD428F4-E79B-C9F3-6651-2C285D88EECE}"/>
                </a:ext>
              </a:extLst>
            </p:cNvPr>
            <p:cNvGrpSpPr/>
            <p:nvPr/>
          </p:nvGrpSpPr>
          <p:grpSpPr>
            <a:xfrm>
              <a:off x="3281823" y="5488408"/>
              <a:ext cx="1336841" cy="899949"/>
              <a:chOff x="2804160" y="830580"/>
              <a:chExt cx="1501140" cy="101346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AA64BB8-263A-A57E-2D73-AE19B3254B4E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BCCE420-F69D-7B70-BDDA-89BA141D749C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END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A34ABB9-F3F4-BB0C-776D-0DAF1A7E8902}"/>
                </a:ext>
              </a:extLst>
            </p:cNvPr>
            <p:cNvGrpSpPr/>
            <p:nvPr/>
          </p:nvGrpSpPr>
          <p:grpSpPr>
            <a:xfrm>
              <a:off x="3016026" y="4389218"/>
              <a:ext cx="1855287" cy="655236"/>
              <a:chOff x="2645356" y="2270879"/>
              <a:chExt cx="1776624" cy="662940"/>
            </a:xfrm>
          </p:grpSpPr>
          <p:sp>
            <p:nvSpPr>
              <p:cNvPr id="39" name="Parallelogram 38">
                <a:extLst>
                  <a:ext uri="{FF2B5EF4-FFF2-40B4-BE49-F238E27FC236}">
                    <a16:creationId xmlns:a16="http://schemas.microsoft.com/office/drawing/2014/main" id="{9F2767FD-05EE-9D9E-C998-7EA8FABFB4DC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CC4EF6-314F-F9DB-BE4D-6FF543346F52}"/>
                  </a:ext>
                </a:extLst>
              </p:cNvPr>
              <p:cNvSpPr txBox="1"/>
              <p:nvPr/>
            </p:nvSpPr>
            <p:spPr>
              <a:xfrm>
                <a:off x="2645356" y="2431082"/>
                <a:ext cx="1764030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</a:t>
                </a:r>
                <a:r>
                  <a:rPr lang="en-IN" sz="1600" b="1" dirty="0"/>
                  <a:t>“CI”</a:t>
                </a:r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5FDB030-BD93-3DBA-512D-EBF95E0FE779}"/>
                </a:ext>
              </a:extLst>
            </p:cNvPr>
            <p:cNvCxnSpPr>
              <a:cxnSpLocks/>
            </p:cNvCxnSpPr>
            <p:nvPr/>
          </p:nvCxnSpPr>
          <p:spPr>
            <a:xfrm>
              <a:off x="3951223" y="5050452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2926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42761-9F54-B066-EEDE-C3F758E3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4F85E-8527-063B-0E12-B5A5463EC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2" y="304800"/>
            <a:ext cx="11256176" cy="6188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Design a Flowchart &amp; Pseudocode: </a:t>
            </a:r>
            <a:r>
              <a:rPr lang="en-US" dirty="0"/>
              <a:t>Print counting from </a:t>
            </a:r>
            <a:r>
              <a:rPr lang="en-US" b="1" dirty="0"/>
              <a:t>n</a:t>
            </a:r>
            <a:r>
              <a:rPr lang="en-US" dirty="0"/>
              <a:t> to </a:t>
            </a:r>
            <a:r>
              <a:rPr lang="en-US" b="1" dirty="0"/>
              <a:t>1</a:t>
            </a:r>
            <a:endParaRPr lang="en-US" sz="1600" b="1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9EFEF-6582-A7C1-A5F9-BA1555702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23</a:t>
            </a:fld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829AB1-5C23-AD34-4B2A-A3B206E4F733}"/>
              </a:ext>
            </a:extLst>
          </p:cNvPr>
          <p:cNvSpPr txBox="1"/>
          <p:nvPr/>
        </p:nvSpPr>
        <p:spPr>
          <a:xfrm>
            <a:off x="5870447" y="1138196"/>
            <a:ext cx="61860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i="1" dirty="0"/>
              <a:t>STEP 1: </a:t>
            </a:r>
            <a:r>
              <a:rPr lang="en-IN" sz="2400" dirty="0"/>
              <a:t>Start</a:t>
            </a:r>
          </a:p>
          <a:p>
            <a:pPr lvl="1"/>
            <a:r>
              <a:rPr lang="en-IN" sz="2400" b="1" i="1" dirty="0"/>
              <a:t>STEP 2: </a:t>
            </a:r>
            <a:r>
              <a:rPr lang="en-IN" sz="2400" dirty="0"/>
              <a:t>Take input for </a:t>
            </a:r>
            <a:r>
              <a:rPr lang="en-IN" sz="2400" b="1" dirty="0"/>
              <a:t>n</a:t>
            </a:r>
          </a:p>
          <a:p>
            <a:pPr lvl="1"/>
            <a:r>
              <a:rPr lang="en-IN" sz="2400" b="1" i="1" dirty="0"/>
              <a:t>STEP 3: </a:t>
            </a:r>
            <a:r>
              <a:rPr lang="en-US" sz="2400" b="1" dirty="0"/>
              <a:t>i = n</a:t>
            </a:r>
            <a:endParaRPr lang="en-IN" sz="2400" b="1" dirty="0"/>
          </a:p>
          <a:p>
            <a:pPr lvl="1"/>
            <a:r>
              <a:rPr lang="en-IN" sz="2400" b="1" i="1" dirty="0"/>
              <a:t>STEP 4: </a:t>
            </a:r>
            <a:r>
              <a:rPr lang="en-IN" sz="2400" b="1" dirty="0"/>
              <a:t>if i &lt; 1</a:t>
            </a:r>
            <a:r>
              <a:rPr lang="en-IN" sz="2400" dirty="0"/>
              <a:t>, </a:t>
            </a:r>
            <a:r>
              <a:rPr lang="en-US" sz="2400" dirty="0"/>
              <a:t>➡️ Go to </a:t>
            </a:r>
            <a:r>
              <a:rPr lang="en-US" sz="2400" b="1" i="1" dirty="0"/>
              <a:t>STEP 7</a:t>
            </a:r>
            <a:endParaRPr lang="en-IN" sz="2400" b="1" dirty="0"/>
          </a:p>
          <a:p>
            <a:pPr lvl="1"/>
            <a:r>
              <a:rPr lang="en-IN" sz="2400" b="1" i="1" dirty="0"/>
              <a:t>STEP 5: </a:t>
            </a:r>
            <a:r>
              <a:rPr lang="en-IN" sz="2400" dirty="0"/>
              <a:t>Print “</a:t>
            </a:r>
            <a:r>
              <a:rPr lang="en-IN" sz="2400" b="1" dirty="0"/>
              <a:t>i</a:t>
            </a:r>
            <a:r>
              <a:rPr lang="en-IN" sz="2400" dirty="0"/>
              <a:t>”</a:t>
            </a:r>
          </a:p>
          <a:p>
            <a:pPr lvl="1"/>
            <a:r>
              <a:rPr lang="en-IN" sz="2400" b="1" i="1" dirty="0"/>
              <a:t>STEP 6:</a:t>
            </a:r>
            <a:r>
              <a:rPr lang="en-IN" sz="2400" dirty="0"/>
              <a:t> </a:t>
            </a:r>
            <a:r>
              <a:rPr lang="en-IN" sz="2400" b="1" dirty="0"/>
              <a:t>i = i – 1</a:t>
            </a:r>
            <a:r>
              <a:rPr lang="en-IN" sz="2400" dirty="0"/>
              <a:t>, </a:t>
            </a:r>
            <a:r>
              <a:rPr lang="en-US" sz="2400" dirty="0"/>
              <a:t>➡️ Go to </a:t>
            </a:r>
            <a:r>
              <a:rPr lang="en-US" sz="2400" b="1" i="1" dirty="0"/>
              <a:t>STEP 4</a:t>
            </a:r>
            <a:endParaRPr lang="en-IN" sz="2400" dirty="0"/>
          </a:p>
          <a:p>
            <a:pPr lvl="1"/>
            <a:r>
              <a:rPr lang="en-IN" sz="2400" b="1" i="1" dirty="0"/>
              <a:t>STEP 7: </a:t>
            </a:r>
            <a:r>
              <a:rPr lang="en-IN" sz="2400" dirty="0"/>
              <a:t>End</a:t>
            </a:r>
            <a:endParaRPr lang="en-IN" sz="2400" b="1" i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57F76D-2F0B-6557-07AE-EE7ACCD93A39}"/>
              </a:ext>
            </a:extLst>
          </p:cNvPr>
          <p:cNvGrpSpPr/>
          <p:nvPr/>
        </p:nvGrpSpPr>
        <p:grpSpPr>
          <a:xfrm>
            <a:off x="183836" y="852171"/>
            <a:ext cx="7517229" cy="5827421"/>
            <a:chOff x="183836" y="852171"/>
            <a:chExt cx="7517229" cy="582742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C102D9E-97ED-B3A3-56A5-40FE1D30D75B}"/>
                </a:ext>
              </a:extLst>
            </p:cNvPr>
            <p:cNvGrpSpPr/>
            <p:nvPr/>
          </p:nvGrpSpPr>
          <p:grpSpPr>
            <a:xfrm>
              <a:off x="3294976" y="852171"/>
              <a:ext cx="1336841" cy="899949"/>
              <a:chOff x="2804160" y="830580"/>
              <a:chExt cx="1501140" cy="1013460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6938193-973D-61BB-39A7-F3817F3FDCFA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9CA59E-5F93-1CA4-6B7F-FD68B86B1B8A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START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E1E081B-BC56-EA3B-3AFA-E11FEE967D70}"/>
                </a:ext>
              </a:extLst>
            </p:cNvPr>
            <p:cNvGrpSpPr/>
            <p:nvPr/>
          </p:nvGrpSpPr>
          <p:grpSpPr>
            <a:xfrm>
              <a:off x="3042329" y="2187119"/>
              <a:ext cx="1842135" cy="655236"/>
              <a:chOff x="2657950" y="2270879"/>
              <a:chExt cx="1764030" cy="662940"/>
            </a:xfrm>
          </p:grpSpPr>
          <p:sp>
            <p:nvSpPr>
              <p:cNvPr id="52" name="Parallelogram 51">
                <a:extLst>
                  <a:ext uri="{FF2B5EF4-FFF2-40B4-BE49-F238E27FC236}">
                    <a16:creationId xmlns:a16="http://schemas.microsoft.com/office/drawing/2014/main" id="{8CDDB2E6-221A-0B83-356C-89C6CE58942A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57C1CF4-3F27-C99F-9714-21AD9DC4D693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Input for </a:t>
                </a:r>
                <a:r>
                  <a:rPr lang="en-IN" sz="1600" b="1" dirty="0"/>
                  <a:t>n</a:t>
                </a:r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657AC0D-AE54-9088-5B30-770244515A96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97" y="1752120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02EE690-88DA-ABFD-E181-C5E24425C77F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95" y="2842355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F1BA56C-FA3C-ABEC-C157-4CC7D31DDB79}"/>
                </a:ext>
              </a:extLst>
            </p:cNvPr>
            <p:cNvGrpSpPr/>
            <p:nvPr/>
          </p:nvGrpSpPr>
          <p:grpSpPr>
            <a:xfrm>
              <a:off x="3155863" y="4383900"/>
              <a:ext cx="1621159" cy="1333461"/>
              <a:chOff x="1433743" y="3420533"/>
              <a:chExt cx="1621159" cy="1333461"/>
            </a:xfrm>
          </p:grpSpPr>
          <p:sp>
            <p:nvSpPr>
              <p:cNvPr id="50" name="Diamond 49">
                <a:extLst>
                  <a:ext uri="{FF2B5EF4-FFF2-40B4-BE49-F238E27FC236}">
                    <a16:creationId xmlns:a16="http://schemas.microsoft.com/office/drawing/2014/main" id="{2FA4284B-87C2-18C8-FA32-E020808979E4}"/>
                  </a:ext>
                </a:extLst>
              </p:cNvPr>
              <p:cNvSpPr/>
              <p:nvPr/>
            </p:nvSpPr>
            <p:spPr>
              <a:xfrm>
                <a:off x="1433743" y="3420533"/>
                <a:ext cx="1621159" cy="1333461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1419F17-A9F2-0A3A-B68C-05B8CFFC8B6A}"/>
                  </a:ext>
                </a:extLst>
              </p:cNvPr>
              <p:cNvSpPr txBox="1"/>
              <p:nvPr/>
            </p:nvSpPr>
            <p:spPr>
              <a:xfrm>
                <a:off x="1664942" y="3917986"/>
                <a:ext cx="124792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if </a:t>
                </a:r>
                <a:r>
                  <a:rPr lang="en-US" sz="1600" b="1" dirty="0"/>
                  <a:t>i &lt; 1</a:t>
                </a:r>
                <a:endParaRPr lang="en-IN" sz="1600" b="1" dirty="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BCDE803-6B7D-6B16-B88F-6D646D0FE5C4}"/>
                </a:ext>
              </a:extLst>
            </p:cNvPr>
            <p:cNvGrpSpPr/>
            <p:nvPr/>
          </p:nvGrpSpPr>
          <p:grpSpPr>
            <a:xfrm>
              <a:off x="3042310" y="3291840"/>
              <a:ext cx="1842135" cy="655236"/>
              <a:chOff x="1323238" y="3429000"/>
              <a:chExt cx="1842135" cy="655236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E518645-765D-6396-1E59-6A4A8C7126BC}"/>
                  </a:ext>
                </a:extLst>
              </p:cNvPr>
              <p:cNvSpPr/>
              <p:nvPr/>
            </p:nvSpPr>
            <p:spPr>
              <a:xfrm>
                <a:off x="1323238" y="3429000"/>
                <a:ext cx="1842135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6438450-3356-7214-A139-0285EB37FDD4}"/>
                  </a:ext>
                </a:extLst>
              </p:cNvPr>
              <p:cNvSpPr txBox="1"/>
              <p:nvPr/>
            </p:nvSpPr>
            <p:spPr>
              <a:xfrm>
                <a:off x="1430660" y="3587341"/>
                <a:ext cx="16272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i = n</a:t>
                </a:r>
                <a:endParaRPr lang="en-IN" sz="1600" b="1" dirty="0"/>
              </a:p>
            </p:txBody>
          </p: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2DE0A60-78E8-A053-F8D8-F141010C42D1}"/>
                </a:ext>
              </a:extLst>
            </p:cNvPr>
            <p:cNvCxnSpPr>
              <a:cxnSpLocks/>
            </p:cNvCxnSpPr>
            <p:nvPr/>
          </p:nvCxnSpPr>
          <p:spPr>
            <a:xfrm>
              <a:off x="3950246" y="3947076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188EACC-DA9A-ADA0-6619-4ECBCC09F4A6}"/>
                </a:ext>
              </a:extLst>
            </p:cNvPr>
            <p:cNvGrpSpPr/>
            <p:nvPr/>
          </p:nvGrpSpPr>
          <p:grpSpPr>
            <a:xfrm>
              <a:off x="6364224" y="4600654"/>
              <a:ext cx="1336841" cy="899949"/>
              <a:chOff x="2804160" y="830580"/>
              <a:chExt cx="1501140" cy="1013460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EFE96D9-6AC7-3264-EB2B-3B6DBAD26EFB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81F18E9-35D3-4A0A-0D8E-AD06210D752B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END</a:t>
                </a:r>
              </a:p>
            </p:txBody>
          </p: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C670A21-8279-9EE6-91F5-3C3AB933AC2D}"/>
                </a:ext>
              </a:extLst>
            </p:cNvPr>
            <p:cNvCxnSpPr>
              <a:cxnSpLocks/>
              <a:stCxn id="50" idx="3"/>
            </p:cNvCxnSpPr>
            <p:nvPr/>
          </p:nvCxnSpPr>
          <p:spPr>
            <a:xfrm flipV="1">
              <a:off x="4777022" y="5050629"/>
              <a:ext cx="1587202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6D4AF9B-FB5D-A04E-559E-4F4FA226405F}"/>
                </a:ext>
              </a:extLst>
            </p:cNvPr>
            <p:cNvSpPr txBox="1"/>
            <p:nvPr/>
          </p:nvSpPr>
          <p:spPr>
            <a:xfrm>
              <a:off x="4939413" y="4712076"/>
              <a:ext cx="11514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true</a:t>
              </a:r>
              <a:endParaRPr lang="en-IN" sz="1600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6B63CB3-3A39-1BBD-9DD8-8350821050F5}"/>
                </a:ext>
              </a:extLst>
            </p:cNvPr>
            <p:cNvCxnSpPr>
              <a:cxnSpLocks/>
              <a:stCxn id="50" idx="1"/>
            </p:cNvCxnSpPr>
            <p:nvPr/>
          </p:nvCxnSpPr>
          <p:spPr>
            <a:xfrm flipH="1">
              <a:off x="1093089" y="5050631"/>
              <a:ext cx="206277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A269346-6D40-EFAD-458D-143A08EC3FBD}"/>
                </a:ext>
              </a:extLst>
            </p:cNvPr>
            <p:cNvCxnSpPr>
              <a:cxnSpLocks/>
              <a:endCxn id="44" idx="0"/>
            </p:cNvCxnSpPr>
            <p:nvPr/>
          </p:nvCxnSpPr>
          <p:spPr>
            <a:xfrm>
              <a:off x="1104904" y="5050629"/>
              <a:ext cx="0" cy="9737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B66D021-C856-8FA6-5496-1CF03A6772C0}"/>
                </a:ext>
              </a:extLst>
            </p:cNvPr>
            <p:cNvCxnSpPr>
              <a:cxnSpLocks/>
              <a:stCxn id="44" idx="2"/>
              <a:endCxn id="42" idx="1"/>
            </p:cNvCxnSpPr>
            <p:nvPr/>
          </p:nvCxnSpPr>
          <p:spPr>
            <a:xfrm>
              <a:off x="1944067" y="6351974"/>
              <a:ext cx="10980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1797E25-9D12-A567-122F-681A2B28D082}"/>
                </a:ext>
              </a:extLst>
            </p:cNvPr>
            <p:cNvCxnSpPr>
              <a:stCxn id="42" idx="0"/>
              <a:endCxn id="50" idx="2"/>
            </p:cNvCxnSpPr>
            <p:nvPr/>
          </p:nvCxnSpPr>
          <p:spPr>
            <a:xfrm flipV="1">
              <a:off x="3963199" y="5717361"/>
              <a:ext cx="3244" cy="306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38CFE32-5D4C-1234-646F-E08961D285E9}"/>
                </a:ext>
              </a:extLst>
            </p:cNvPr>
            <p:cNvSpPr txBox="1"/>
            <p:nvPr/>
          </p:nvSpPr>
          <p:spPr>
            <a:xfrm>
              <a:off x="1416226" y="4694637"/>
              <a:ext cx="11514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false</a:t>
              </a:r>
              <a:endParaRPr lang="en-IN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137C707-3E29-32A5-E5E8-8402A4E9662F}"/>
                </a:ext>
              </a:extLst>
            </p:cNvPr>
            <p:cNvGrpSpPr/>
            <p:nvPr/>
          </p:nvGrpSpPr>
          <p:grpSpPr>
            <a:xfrm>
              <a:off x="183836" y="6024356"/>
              <a:ext cx="1842135" cy="655236"/>
              <a:chOff x="2657950" y="2270879"/>
              <a:chExt cx="1764030" cy="662940"/>
            </a:xfrm>
          </p:grpSpPr>
          <p:sp>
            <p:nvSpPr>
              <p:cNvPr id="44" name="Parallelogram 43">
                <a:extLst>
                  <a:ext uri="{FF2B5EF4-FFF2-40B4-BE49-F238E27FC236}">
                    <a16:creationId xmlns:a16="http://schemas.microsoft.com/office/drawing/2014/main" id="{695E2DB1-E136-E028-0D05-35A6460198D0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B070409-0B0D-5F09-7A81-92F992D40AEA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</a:t>
                </a:r>
                <a:r>
                  <a:rPr lang="en-IN" sz="1600" b="1" dirty="0"/>
                  <a:t>i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529DFD1-9600-4456-AD7E-3A4BEE9C955E}"/>
                </a:ext>
              </a:extLst>
            </p:cNvPr>
            <p:cNvGrpSpPr/>
            <p:nvPr/>
          </p:nvGrpSpPr>
          <p:grpSpPr>
            <a:xfrm>
              <a:off x="3042131" y="6024356"/>
              <a:ext cx="1842135" cy="655236"/>
              <a:chOff x="1323238" y="3429000"/>
              <a:chExt cx="1842135" cy="655236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244D8AA-32F4-AF5A-EA2F-92F4DD85DB50}"/>
                  </a:ext>
                </a:extLst>
              </p:cNvPr>
              <p:cNvSpPr/>
              <p:nvPr/>
            </p:nvSpPr>
            <p:spPr>
              <a:xfrm>
                <a:off x="1323238" y="3429000"/>
                <a:ext cx="1842135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DDD3E5B-6291-FF0C-1697-5B7088E3CEA3}"/>
                  </a:ext>
                </a:extLst>
              </p:cNvPr>
              <p:cNvSpPr txBox="1"/>
              <p:nvPr/>
            </p:nvSpPr>
            <p:spPr>
              <a:xfrm>
                <a:off x="1430660" y="3587341"/>
                <a:ext cx="16272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i = i - 1</a:t>
                </a:r>
                <a:endParaRPr lang="en-IN" sz="16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64913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048CC-015C-6661-98EA-4E4BF28B4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E3F43-F95E-ED00-4DE1-04344F09A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2" y="304800"/>
            <a:ext cx="11256176" cy="6188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Design a Flowchart &amp; Pseudocode: </a:t>
            </a:r>
            <a:r>
              <a:rPr lang="en-US" dirty="0"/>
              <a:t>Print factorial of a number </a:t>
            </a:r>
            <a:r>
              <a:rPr lang="en-US" b="1" dirty="0"/>
              <a:t>n</a:t>
            </a:r>
            <a:endParaRPr lang="en-US" sz="1600" b="1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62E88-16C7-7183-B1C4-53F5BD85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24</a:t>
            </a:fld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FED000-8C82-21A2-E360-F0593C3E2B75}"/>
              </a:ext>
            </a:extLst>
          </p:cNvPr>
          <p:cNvSpPr txBox="1"/>
          <p:nvPr/>
        </p:nvSpPr>
        <p:spPr>
          <a:xfrm>
            <a:off x="5870447" y="1138196"/>
            <a:ext cx="61860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i="1" dirty="0"/>
              <a:t>STEP 1: </a:t>
            </a:r>
            <a:r>
              <a:rPr lang="en-IN" sz="2400" dirty="0"/>
              <a:t>Start</a:t>
            </a:r>
          </a:p>
          <a:p>
            <a:pPr lvl="1"/>
            <a:r>
              <a:rPr lang="en-IN" sz="2400" b="1" i="1" dirty="0"/>
              <a:t>STEP 2: </a:t>
            </a:r>
            <a:r>
              <a:rPr lang="en-IN" sz="2400" dirty="0"/>
              <a:t>Take input for </a:t>
            </a:r>
            <a:r>
              <a:rPr lang="en-IN" sz="2400" b="1" dirty="0"/>
              <a:t>n</a:t>
            </a:r>
          </a:p>
          <a:p>
            <a:pPr lvl="1"/>
            <a:r>
              <a:rPr lang="en-IN" sz="2400" b="1" i="1" dirty="0"/>
              <a:t>STEP 3: </a:t>
            </a:r>
            <a:r>
              <a:rPr lang="en-US" sz="2400" b="1" dirty="0"/>
              <a:t>fact = 1, i = 1</a:t>
            </a:r>
            <a:endParaRPr lang="en-IN" sz="2400" b="1" dirty="0"/>
          </a:p>
          <a:p>
            <a:pPr lvl="1"/>
            <a:r>
              <a:rPr lang="en-IN" sz="2400" b="1" i="1" dirty="0"/>
              <a:t>STEP 4: </a:t>
            </a:r>
            <a:r>
              <a:rPr lang="en-IN" sz="2400" b="1" dirty="0"/>
              <a:t>if i &gt; n</a:t>
            </a:r>
            <a:r>
              <a:rPr lang="en-IN" sz="2400" dirty="0"/>
              <a:t>, </a:t>
            </a:r>
            <a:r>
              <a:rPr lang="en-US" sz="2400" dirty="0"/>
              <a:t>➡️ Go to </a:t>
            </a:r>
            <a:r>
              <a:rPr lang="en-US" sz="2400" b="1" i="1" dirty="0"/>
              <a:t>STEP 7</a:t>
            </a:r>
            <a:endParaRPr lang="en-IN" sz="2400" b="1" dirty="0"/>
          </a:p>
          <a:p>
            <a:pPr lvl="1"/>
            <a:r>
              <a:rPr lang="en-IN" sz="2400" b="1" i="1" dirty="0"/>
              <a:t>STEP 5: </a:t>
            </a:r>
            <a:r>
              <a:rPr lang="en-IN" sz="2400" b="1" dirty="0"/>
              <a:t>fact = (fact * i)</a:t>
            </a:r>
          </a:p>
          <a:p>
            <a:pPr lvl="1"/>
            <a:r>
              <a:rPr lang="en-IN" sz="2400" b="1" i="1" dirty="0"/>
              <a:t>STEP 6:</a:t>
            </a:r>
            <a:r>
              <a:rPr lang="en-IN" sz="2400" dirty="0"/>
              <a:t> </a:t>
            </a:r>
            <a:r>
              <a:rPr lang="en-IN" sz="2400" b="1" dirty="0"/>
              <a:t>i = i + 1</a:t>
            </a:r>
            <a:r>
              <a:rPr lang="en-IN" sz="2400" dirty="0"/>
              <a:t>, </a:t>
            </a:r>
            <a:r>
              <a:rPr lang="en-US" sz="2400" dirty="0"/>
              <a:t>➡️ Go to </a:t>
            </a:r>
            <a:r>
              <a:rPr lang="en-US" sz="2400" b="1" i="1" dirty="0"/>
              <a:t>STEP 4</a:t>
            </a:r>
            <a:endParaRPr lang="en-IN" sz="2400" dirty="0"/>
          </a:p>
          <a:p>
            <a:pPr lvl="1"/>
            <a:r>
              <a:rPr lang="en-IN" sz="2400" b="1" i="1" dirty="0"/>
              <a:t>STEP 7: </a:t>
            </a:r>
            <a:r>
              <a:rPr lang="en-IN" sz="2400" dirty="0"/>
              <a:t>Print “</a:t>
            </a:r>
            <a:r>
              <a:rPr lang="en-IN" sz="2400" b="1" dirty="0"/>
              <a:t>fact</a:t>
            </a:r>
            <a:r>
              <a:rPr lang="en-IN" sz="2400" dirty="0"/>
              <a:t>”</a:t>
            </a:r>
          </a:p>
          <a:p>
            <a:pPr lvl="1"/>
            <a:r>
              <a:rPr lang="en-IN" sz="2400" b="1" i="1" dirty="0"/>
              <a:t>STEP 8: </a:t>
            </a:r>
            <a:r>
              <a:rPr lang="en-IN" sz="2400" dirty="0"/>
              <a:t>End</a:t>
            </a:r>
            <a:endParaRPr lang="en-IN" sz="2400" b="1" i="1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E3C78D8-BE46-2BD2-3DDA-C9206F42A7EF}"/>
              </a:ext>
            </a:extLst>
          </p:cNvPr>
          <p:cNvGrpSpPr/>
          <p:nvPr/>
        </p:nvGrpSpPr>
        <p:grpSpPr>
          <a:xfrm>
            <a:off x="183836" y="831120"/>
            <a:ext cx="9600835" cy="5856092"/>
            <a:chOff x="183836" y="831120"/>
            <a:chExt cx="9600835" cy="585609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BCA2962-C970-674E-5EF2-10C08F08D3C3}"/>
                </a:ext>
              </a:extLst>
            </p:cNvPr>
            <p:cNvGrpSpPr/>
            <p:nvPr/>
          </p:nvGrpSpPr>
          <p:grpSpPr>
            <a:xfrm>
              <a:off x="3298143" y="831120"/>
              <a:ext cx="1336841" cy="899949"/>
              <a:chOff x="2804160" y="830580"/>
              <a:chExt cx="1501140" cy="1013460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E2D222D-6F3C-CBFD-170A-7D8ECD5BAC98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E98416-E176-A346-8A87-4D6076453C86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START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24980C4-6E9A-E63E-D82F-B026A28F50C7}"/>
                </a:ext>
              </a:extLst>
            </p:cNvPr>
            <p:cNvGrpSpPr/>
            <p:nvPr/>
          </p:nvGrpSpPr>
          <p:grpSpPr>
            <a:xfrm>
              <a:off x="5776364" y="4705573"/>
              <a:ext cx="1842135" cy="655236"/>
              <a:chOff x="2657950" y="2270879"/>
              <a:chExt cx="1764030" cy="662940"/>
            </a:xfrm>
          </p:grpSpPr>
          <p:sp>
            <p:nvSpPr>
              <p:cNvPr id="52" name="Parallelogram 51">
                <a:extLst>
                  <a:ext uri="{FF2B5EF4-FFF2-40B4-BE49-F238E27FC236}">
                    <a16:creationId xmlns:a16="http://schemas.microsoft.com/office/drawing/2014/main" id="{FD88C86F-21A9-6891-9416-3590901E25F1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E921FBF-2515-AE1E-E510-60589B7077A0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“</a:t>
                </a:r>
                <a:r>
                  <a:rPr lang="en-IN" sz="1600" b="1" dirty="0"/>
                  <a:t>fact</a:t>
                </a:r>
                <a:r>
                  <a:rPr lang="en-IN" sz="1600" dirty="0"/>
                  <a:t>”</a:t>
                </a:r>
                <a:endParaRPr lang="en-IN" sz="1600" b="1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ADD606A-2A8B-EB18-594E-6663466711FA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77" y="1737634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99FD33F-CA5A-8096-E991-8568DD4D25A1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95" y="2842355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D2A97A5-30C1-C388-1D80-DDDE45D317B4}"/>
                </a:ext>
              </a:extLst>
            </p:cNvPr>
            <p:cNvGrpSpPr/>
            <p:nvPr/>
          </p:nvGrpSpPr>
          <p:grpSpPr>
            <a:xfrm>
              <a:off x="3155863" y="4383900"/>
              <a:ext cx="1621159" cy="1333461"/>
              <a:chOff x="1433743" y="3420533"/>
              <a:chExt cx="1621159" cy="1333461"/>
            </a:xfrm>
          </p:grpSpPr>
          <p:sp>
            <p:nvSpPr>
              <p:cNvPr id="50" name="Diamond 49">
                <a:extLst>
                  <a:ext uri="{FF2B5EF4-FFF2-40B4-BE49-F238E27FC236}">
                    <a16:creationId xmlns:a16="http://schemas.microsoft.com/office/drawing/2014/main" id="{EFFC29CE-FCF8-7770-FA91-60294504AB1A}"/>
                  </a:ext>
                </a:extLst>
              </p:cNvPr>
              <p:cNvSpPr/>
              <p:nvPr/>
            </p:nvSpPr>
            <p:spPr>
              <a:xfrm>
                <a:off x="1433743" y="3420533"/>
                <a:ext cx="1621159" cy="1333461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DDB8462-043A-B23F-15D6-FCF084EB6054}"/>
                  </a:ext>
                </a:extLst>
              </p:cNvPr>
              <p:cNvSpPr txBox="1"/>
              <p:nvPr/>
            </p:nvSpPr>
            <p:spPr>
              <a:xfrm>
                <a:off x="1664942" y="3917986"/>
                <a:ext cx="124792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if </a:t>
                </a:r>
                <a:r>
                  <a:rPr lang="en-US" sz="1600" b="1" dirty="0"/>
                  <a:t>i &gt; n</a:t>
                </a:r>
                <a:endParaRPr lang="en-IN" sz="1600" b="1" dirty="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EA9F25-897A-6EB5-55FA-81464503294A}"/>
                </a:ext>
              </a:extLst>
            </p:cNvPr>
            <p:cNvGrpSpPr/>
            <p:nvPr/>
          </p:nvGrpSpPr>
          <p:grpSpPr>
            <a:xfrm>
              <a:off x="3042310" y="3291840"/>
              <a:ext cx="1842135" cy="655236"/>
              <a:chOff x="1323238" y="3429000"/>
              <a:chExt cx="1842135" cy="655236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6AF7BF0-38C1-B7F5-19FA-785701614EE4}"/>
                  </a:ext>
                </a:extLst>
              </p:cNvPr>
              <p:cNvSpPr/>
              <p:nvPr/>
            </p:nvSpPr>
            <p:spPr>
              <a:xfrm>
                <a:off x="1323238" y="3429000"/>
                <a:ext cx="1842135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AE3F921-235E-7A4B-3D35-3D9798B5EDDA}"/>
                  </a:ext>
                </a:extLst>
              </p:cNvPr>
              <p:cNvSpPr txBox="1"/>
              <p:nvPr/>
            </p:nvSpPr>
            <p:spPr>
              <a:xfrm>
                <a:off x="1430660" y="3587341"/>
                <a:ext cx="16272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fact = 1, i = 1</a:t>
                </a:r>
                <a:endParaRPr lang="en-IN" sz="1600" b="1" dirty="0"/>
              </a:p>
            </p:txBody>
          </p: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9ACF40C-60F7-8625-4084-3AFF0EC8B456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77" y="3947076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95BC32A-2F87-1A6B-B12B-AAC69994AFBE}"/>
                </a:ext>
              </a:extLst>
            </p:cNvPr>
            <p:cNvGrpSpPr/>
            <p:nvPr/>
          </p:nvGrpSpPr>
          <p:grpSpPr>
            <a:xfrm>
              <a:off x="8447830" y="4600654"/>
              <a:ext cx="1336841" cy="899949"/>
              <a:chOff x="2804160" y="830580"/>
              <a:chExt cx="1501140" cy="1013460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995BFC1-6AB1-34F9-E607-93444EDF5F05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95CDEC0-2A30-6306-46E3-A578E318D430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END</a:t>
                </a:r>
              </a:p>
            </p:txBody>
          </p: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03E0A4D-4984-A079-47A5-B6AB43EF8270}"/>
                </a:ext>
              </a:extLst>
            </p:cNvPr>
            <p:cNvCxnSpPr>
              <a:cxnSpLocks/>
              <a:stCxn id="50" idx="3"/>
            </p:cNvCxnSpPr>
            <p:nvPr/>
          </p:nvCxnSpPr>
          <p:spPr>
            <a:xfrm>
              <a:off x="4777022" y="5050631"/>
              <a:ext cx="10667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EDC1FEB-6837-4A53-90F9-22636B3E78C3}"/>
                </a:ext>
              </a:extLst>
            </p:cNvPr>
            <p:cNvSpPr txBox="1"/>
            <p:nvPr/>
          </p:nvSpPr>
          <p:spPr>
            <a:xfrm>
              <a:off x="4629207" y="4702377"/>
              <a:ext cx="11514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true</a:t>
              </a:r>
              <a:endParaRPr lang="en-IN" sz="1600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048EEAD-6E6A-3445-2B53-D4E1AAAF5345}"/>
                </a:ext>
              </a:extLst>
            </p:cNvPr>
            <p:cNvCxnSpPr>
              <a:cxnSpLocks/>
              <a:stCxn id="50" idx="1"/>
            </p:cNvCxnSpPr>
            <p:nvPr/>
          </p:nvCxnSpPr>
          <p:spPr>
            <a:xfrm flipH="1">
              <a:off x="1093089" y="5050631"/>
              <a:ext cx="206277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D33C477-E3E4-7D28-829D-C3A6CA03B501}"/>
                </a:ext>
              </a:extLst>
            </p:cNvPr>
            <p:cNvCxnSpPr>
              <a:cxnSpLocks/>
            </p:cNvCxnSpPr>
            <p:nvPr/>
          </p:nvCxnSpPr>
          <p:spPr>
            <a:xfrm>
              <a:off x="1104904" y="5050629"/>
              <a:ext cx="0" cy="9737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4AFB43C-8E9C-BD14-F6D1-8C85DE77C6F3}"/>
                </a:ext>
              </a:extLst>
            </p:cNvPr>
            <p:cNvSpPr txBox="1"/>
            <p:nvPr/>
          </p:nvSpPr>
          <p:spPr>
            <a:xfrm>
              <a:off x="1416226" y="4694637"/>
              <a:ext cx="11514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false</a:t>
              </a:r>
              <a:endParaRPr lang="en-IN" sz="1600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6B60F2E-178F-0AE5-8B8C-0C9F03C0DB77}"/>
                </a:ext>
              </a:extLst>
            </p:cNvPr>
            <p:cNvGrpSpPr/>
            <p:nvPr/>
          </p:nvGrpSpPr>
          <p:grpSpPr>
            <a:xfrm>
              <a:off x="183836" y="6031976"/>
              <a:ext cx="1842135" cy="655236"/>
              <a:chOff x="1323238" y="3429000"/>
              <a:chExt cx="1842135" cy="65523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6F96F94-65CF-452B-3881-929CF90B2628}"/>
                  </a:ext>
                </a:extLst>
              </p:cNvPr>
              <p:cNvSpPr/>
              <p:nvPr/>
            </p:nvSpPr>
            <p:spPr>
              <a:xfrm>
                <a:off x="1323238" y="3429000"/>
                <a:ext cx="1842135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F8200B-8258-2BAC-A9AB-D6A1D10F7DD7}"/>
                  </a:ext>
                </a:extLst>
              </p:cNvPr>
              <p:cNvSpPr txBox="1"/>
              <p:nvPr/>
            </p:nvSpPr>
            <p:spPr>
              <a:xfrm>
                <a:off x="1430660" y="3587341"/>
                <a:ext cx="16272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fact = (fact * i)</a:t>
                </a:r>
                <a:endParaRPr lang="en-IN" sz="1600" b="1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60B81D5-A02D-6E75-34FC-F913DE9CC7BD}"/>
                </a:ext>
              </a:extLst>
            </p:cNvPr>
            <p:cNvGrpSpPr/>
            <p:nvPr/>
          </p:nvGrpSpPr>
          <p:grpSpPr>
            <a:xfrm>
              <a:off x="3045395" y="6031976"/>
              <a:ext cx="1842135" cy="655236"/>
              <a:chOff x="1323238" y="3429000"/>
              <a:chExt cx="1842135" cy="65523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04CAD14-ADC4-B634-4AF9-A539C6AB354B}"/>
                  </a:ext>
                </a:extLst>
              </p:cNvPr>
              <p:cNvSpPr/>
              <p:nvPr/>
            </p:nvSpPr>
            <p:spPr>
              <a:xfrm>
                <a:off x="1323238" y="3429000"/>
                <a:ext cx="1842135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F41C31-4F3C-0A96-75DE-7733D9E8A641}"/>
                  </a:ext>
                </a:extLst>
              </p:cNvPr>
              <p:cNvSpPr txBox="1"/>
              <p:nvPr/>
            </p:nvSpPr>
            <p:spPr>
              <a:xfrm>
                <a:off x="1430660" y="3587341"/>
                <a:ext cx="16272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i = i + 1</a:t>
                </a:r>
                <a:endParaRPr lang="en-IN" sz="1600" b="1" dirty="0"/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CE8D163-37CF-D069-95D5-86D21139FE42}"/>
                </a:ext>
              </a:extLst>
            </p:cNvPr>
            <p:cNvCxnSpPr>
              <a:stCxn id="4" idx="3"/>
              <a:endCxn id="8" idx="1"/>
            </p:cNvCxnSpPr>
            <p:nvPr/>
          </p:nvCxnSpPr>
          <p:spPr>
            <a:xfrm>
              <a:off x="2025971" y="6359594"/>
              <a:ext cx="10194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32779F6-C2C5-FBF6-8D50-1506072AC5D2}"/>
                </a:ext>
              </a:extLst>
            </p:cNvPr>
            <p:cNvCxnSpPr>
              <a:stCxn id="8" idx="0"/>
              <a:endCxn id="50" idx="2"/>
            </p:cNvCxnSpPr>
            <p:nvPr/>
          </p:nvCxnSpPr>
          <p:spPr>
            <a:xfrm flipH="1" flipV="1">
              <a:off x="3966443" y="5717361"/>
              <a:ext cx="20" cy="3146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B3C6A60-253F-359B-8EF6-0C084608DF75}"/>
                </a:ext>
              </a:extLst>
            </p:cNvPr>
            <p:cNvGrpSpPr/>
            <p:nvPr/>
          </p:nvGrpSpPr>
          <p:grpSpPr>
            <a:xfrm>
              <a:off x="3042310" y="2174458"/>
              <a:ext cx="1842135" cy="655236"/>
              <a:chOff x="2657950" y="2270879"/>
              <a:chExt cx="1764030" cy="662940"/>
            </a:xfrm>
          </p:grpSpPr>
          <p:sp>
            <p:nvSpPr>
              <p:cNvPr id="26" name="Parallelogram 25">
                <a:extLst>
                  <a:ext uri="{FF2B5EF4-FFF2-40B4-BE49-F238E27FC236}">
                    <a16:creationId xmlns:a16="http://schemas.microsoft.com/office/drawing/2014/main" id="{DD7463BF-3FD9-7E9C-F8BF-025CFEE2FF8C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B672524-35D9-364F-5B98-0C7005CF1D09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Input for </a:t>
                </a:r>
                <a:r>
                  <a:rPr lang="en-IN" sz="1600" b="1" dirty="0"/>
                  <a:t>n</a:t>
                </a:r>
              </a:p>
            </p:txBody>
          </p:sp>
        </p:grp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D5E7DA0-D332-2B43-DA24-67D0CA5DD218}"/>
                </a:ext>
              </a:extLst>
            </p:cNvPr>
            <p:cNvCxnSpPr>
              <a:cxnSpLocks/>
              <a:stCxn id="52" idx="2"/>
            </p:cNvCxnSpPr>
            <p:nvPr/>
          </p:nvCxnSpPr>
          <p:spPr>
            <a:xfrm>
              <a:off x="7536595" y="5033191"/>
              <a:ext cx="908734" cy="77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4722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870F-F506-FD5D-18C3-9233DB9E7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241BD-A263-7C3D-6F6E-D3FD51972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2" y="304800"/>
            <a:ext cx="11256176" cy="6188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Design a Flowchart &amp; Pseudocode: </a:t>
            </a:r>
            <a:r>
              <a:rPr lang="en-US" dirty="0"/>
              <a:t>Check if a number is prime or not</a:t>
            </a:r>
            <a:endParaRPr lang="en-US" sz="1600" b="1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89FA5-57EE-1CC7-3C6B-0E06C0A65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25</a:t>
            </a:fld>
            <a:endParaRPr lang="en-IN" dirty="0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4ECEE82-C8EE-13D7-1562-EB6E4AE80854}"/>
              </a:ext>
            </a:extLst>
          </p:cNvPr>
          <p:cNvGrpSpPr/>
          <p:nvPr/>
        </p:nvGrpSpPr>
        <p:grpSpPr>
          <a:xfrm>
            <a:off x="170898" y="831120"/>
            <a:ext cx="8459774" cy="5849985"/>
            <a:chOff x="545802" y="831120"/>
            <a:chExt cx="8459774" cy="5849985"/>
          </a:xfrm>
        </p:grpSpPr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F6377E7E-CBE4-2AF3-B7F0-AF69A7E116E1}"/>
                </a:ext>
              </a:extLst>
            </p:cNvPr>
            <p:cNvCxnSpPr>
              <a:cxnSpLocks/>
            </p:cNvCxnSpPr>
            <p:nvPr/>
          </p:nvCxnSpPr>
          <p:spPr>
            <a:xfrm>
              <a:off x="8336280" y="4525934"/>
              <a:ext cx="876" cy="3387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344D3AE-FEDB-FFD1-862A-54229E087B38}"/>
                </a:ext>
              </a:extLst>
            </p:cNvPr>
            <p:cNvGrpSpPr/>
            <p:nvPr/>
          </p:nvGrpSpPr>
          <p:grpSpPr>
            <a:xfrm>
              <a:off x="3298143" y="831120"/>
              <a:ext cx="1336841" cy="899949"/>
              <a:chOff x="2804160" y="830580"/>
              <a:chExt cx="1501140" cy="1013460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8CB07C91-B811-6F03-67BA-02E68E34CCBF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C67D368-C9B6-4A04-989F-2E34F5407DF8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START</a:t>
                </a:r>
              </a:p>
            </p:txBody>
          </p:sp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228206D-E19F-8BDD-B132-7A3288F3590F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77" y="1737634"/>
              <a:ext cx="0" cy="2801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C31C787-835C-FEAC-A7CC-361EDF253B24}"/>
                </a:ext>
              </a:extLst>
            </p:cNvPr>
            <p:cNvGrpSpPr/>
            <p:nvPr/>
          </p:nvGrpSpPr>
          <p:grpSpPr>
            <a:xfrm>
              <a:off x="3206489" y="3917855"/>
              <a:ext cx="1487388" cy="1241559"/>
              <a:chOff x="1433743" y="3420533"/>
              <a:chExt cx="1621159" cy="1333461"/>
            </a:xfrm>
          </p:grpSpPr>
          <p:sp>
            <p:nvSpPr>
              <p:cNvPr id="71" name="Diamond 70">
                <a:extLst>
                  <a:ext uri="{FF2B5EF4-FFF2-40B4-BE49-F238E27FC236}">
                    <a16:creationId xmlns:a16="http://schemas.microsoft.com/office/drawing/2014/main" id="{8934F052-1560-AF19-0958-48C3999FC4D6}"/>
                  </a:ext>
                </a:extLst>
              </p:cNvPr>
              <p:cNvSpPr/>
              <p:nvPr/>
            </p:nvSpPr>
            <p:spPr>
              <a:xfrm>
                <a:off x="1433743" y="3420533"/>
                <a:ext cx="1621159" cy="1333461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3C1C58C-FF3D-A20A-CEAB-8A8209668D23}"/>
                  </a:ext>
                </a:extLst>
              </p:cNvPr>
              <p:cNvSpPr txBox="1"/>
              <p:nvPr/>
            </p:nvSpPr>
            <p:spPr>
              <a:xfrm>
                <a:off x="1664942" y="3917986"/>
                <a:ext cx="124792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if </a:t>
                </a:r>
                <a:r>
                  <a:rPr lang="en-US" sz="1600" b="1" dirty="0"/>
                  <a:t>i &lt; n</a:t>
                </a:r>
                <a:endParaRPr lang="en-IN" sz="1600" b="1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3D12914-D1BB-8600-89BC-6CF88BA64D4F}"/>
                </a:ext>
              </a:extLst>
            </p:cNvPr>
            <p:cNvGrpSpPr/>
            <p:nvPr/>
          </p:nvGrpSpPr>
          <p:grpSpPr>
            <a:xfrm>
              <a:off x="545802" y="5742867"/>
              <a:ext cx="1842135" cy="655236"/>
              <a:chOff x="1323238" y="3429000"/>
              <a:chExt cx="1842135" cy="655236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4BE03169-2B7E-E99E-EABA-093F9C0422CB}"/>
                  </a:ext>
                </a:extLst>
              </p:cNvPr>
              <p:cNvSpPr/>
              <p:nvPr/>
            </p:nvSpPr>
            <p:spPr>
              <a:xfrm>
                <a:off x="1323238" y="3429000"/>
                <a:ext cx="1842135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DFE7724-79EB-DB45-9D17-145C0340CBCD}"/>
                  </a:ext>
                </a:extLst>
              </p:cNvPr>
              <p:cNvSpPr txBox="1"/>
              <p:nvPr/>
            </p:nvSpPr>
            <p:spPr>
              <a:xfrm>
                <a:off x="1430660" y="3587341"/>
                <a:ext cx="16272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i = i + 1</a:t>
                </a:r>
                <a:endParaRPr lang="en-IN" sz="1600" b="1" dirty="0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D561AC-630C-3C69-D5C0-15B1DB929FC4}"/>
                </a:ext>
              </a:extLst>
            </p:cNvPr>
            <p:cNvSpPr txBox="1"/>
            <p:nvPr/>
          </p:nvSpPr>
          <p:spPr>
            <a:xfrm>
              <a:off x="4373614" y="4159099"/>
              <a:ext cx="11514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false</a:t>
              </a:r>
              <a:endParaRPr lang="en-IN" sz="1600" dirty="0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44443B2-5362-E580-0DA7-CB32B898DCC5}"/>
                </a:ext>
              </a:extLst>
            </p:cNvPr>
            <p:cNvGrpSpPr/>
            <p:nvPr/>
          </p:nvGrpSpPr>
          <p:grpSpPr>
            <a:xfrm>
              <a:off x="3042310" y="2024331"/>
              <a:ext cx="1842135" cy="655236"/>
              <a:chOff x="2657950" y="2270879"/>
              <a:chExt cx="1764030" cy="662940"/>
            </a:xfrm>
          </p:grpSpPr>
          <p:sp>
            <p:nvSpPr>
              <p:cNvPr id="61" name="Parallelogram 60">
                <a:extLst>
                  <a:ext uri="{FF2B5EF4-FFF2-40B4-BE49-F238E27FC236}">
                    <a16:creationId xmlns:a16="http://schemas.microsoft.com/office/drawing/2014/main" id="{622843D5-E291-3797-7C8D-5A0A0ABB5AA0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040C75B-94AD-72D6-C7AD-A6E8254DBA23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Input for </a:t>
                </a:r>
                <a:r>
                  <a:rPr lang="en-IN" sz="1600" b="1" dirty="0"/>
                  <a:t>n</a:t>
                </a:r>
              </a:p>
            </p:txBody>
          </p:sp>
        </p:grp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7387BCFE-3F3A-1A50-18C4-69A341BD0509}"/>
                </a:ext>
              </a:extLst>
            </p:cNvPr>
            <p:cNvCxnSpPr>
              <a:cxnSpLocks/>
            </p:cNvCxnSpPr>
            <p:nvPr/>
          </p:nvCxnSpPr>
          <p:spPr>
            <a:xfrm>
              <a:off x="3953413" y="2679567"/>
              <a:ext cx="0" cy="2801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E2A21280-D9F5-EF1D-E663-FF759B4B0F30}"/>
                </a:ext>
              </a:extLst>
            </p:cNvPr>
            <p:cNvCxnSpPr>
              <a:cxnSpLocks/>
            </p:cNvCxnSpPr>
            <p:nvPr/>
          </p:nvCxnSpPr>
          <p:spPr>
            <a:xfrm>
              <a:off x="3952046" y="3637723"/>
              <a:ext cx="0" cy="2801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29BB8F0-E9EA-6108-0872-AACA176C60B5}"/>
                </a:ext>
              </a:extLst>
            </p:cNvPr>
            <p:cNvGrpSpPr/>
            <p:nvPr/>
          </p:nvGrpSpPr>
          <p:grpSpPr>
            <a:xfrm>
              <a:off x="3206489" y="5439546"/>
              <a:ext cx="1487387" cy="1241559"/>
              <a:chOff x="1433743" y="3420533"/>
              <a:chExt cx="1621159" cy="1333461"/>
            </a:xfrm>
          </p:grpSpPr>
          <p:sp>
            <p:nvSpPr>
              <p:cNvPr id="81" name="Diamond 80">
                <a:extLst>
                  <a:ext uri="{FF2B5EF4-FFF2-40B4-BE49-F238E27FC236}">
                    <a16:creationId xmlns:a16="http://schemas.microsoft.com/office/drawing/2014/main" id="{BBED5C17-4CEB-BF48-3AF1-F4697EF32A56}"/>
                  </a:ext>
                </a:extLst>
              </p:cNvPr>
              <p:cNvSpPr/>
              <p:nvPr/>
            </p:nvSpPr>
            <p:spPr>
              <a:xfrm>
                <a:off x="1433743" y="3420533"/>
                <a:ext cx="1621159" cy="1333461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F7CE1FA-6C7B-DB80-83A6-A59EC9C7A5BA}"/>
                  </a:ext>
                </a:extLst>
              </p:cNvPr>
              <p:cNvSpPr txBox="1"/>
              <p:nvPr/>
            </p:nvSpPr>
            <p:spPr>
              <a:xfrm>
                <a:off x="1578325" y="3908113"/>
                <a:ext cx="1359799" cy="363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if </a:t>
                </a:r>
                <a:r>
                  <a:rPr lang="en-US" sz="1600" b="1" dirty="0"/>
                  <a:t>n % i == 0</a:t>
                </a:r>
                <a:endParaRPr lang="en-IN" sz="1600" b="1" dirty="0"/>
              </a:p>
            </p:txBody>
          </p:sp>
        </p:grp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DC3CA429-7296-4617-5251-18F2A29FFC76}"/>
                </a:ext>
              </a:extLst>
            </p:cNvPr>
            <p:cNvCxnSpPr>
              <a:cxnSpLocks/>
            </p:cNvCxnSpPr>
            <p:nvPr/>
          </p:nvCxnSpPr>
          <p:spPr>
            <a:xfrm>
              <a:off x="3950183" y="5159414"/>
              <a:ext cx="0" cy="2801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31854569-37B8-0A93-BDFD-A25B7FFE73D4}"/>
                </a:ext>
              </a:extLst>
            </p:cNvPr>
            <p:cNvGrpSpPr/>
            <p:nvPr/>
          </p:nvGrpSpPr>
          <p:grpSpPr>
            <a:xfrm>
              <a:off x="5265318" y="4205936"/>
              <a:ext cx="1842135" cy="655236"/>
              <a:chOff x="2657950" y="2270879"/>
              <a:chExt cx="1764030" cy="662940"/>
            </a:xfrm>
          </p:grpSpPr>
          <p:sp>
            <p:nvSpPr>
              <p:cNvPr id="85" name="Parallelogram 84">
                <a:extLst>
                  <a:ext uri="{FF2B5EF4-FFF2-40B4-BE49-F238E27FC236}">
                    <a16:creationId xmlns:a16="http://schemas.microsoft.com/office/drawing/2014/main" id="{83CC838C-60B7-0491-C52C-55C1A2736CA3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1DCC58B-5D7A-D21D-6875-BD44FDA05E89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“</a:t>
                </a:r>
                <a:r>
                  <a:rPr lang="en-IN" sz="1600" b="1" dirty="0"/>
                  <a:t>Prime</a:t>
                </a:r>
                <a:r>
                  <a:rPr lang="en-IN" sz="1600" dirty="0"/>
                  <a:t>”</a:t>
                </a:r>
                <a:endParaRPr lang="en-IN" sz="1600" b="1" dirty="0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08C2D389-9D81-2A2E-D7E1-2C8AF3B68432}"/>
                </a:ext>
              </a:extLst>
            </p:cNvPr>
            <p:cNvGrpSpPr/>
            <p:nvPr/>
          </p:nvGrpSpPr>
          <p:grpSpPr>
            <a:xfrm>
              <a:off x="5265319" y="5732707"/>
              <a:ext cx="1849908" cy="655236"/>
              <a:chOff x="2657950" y="2270879"/>
              <a:chExt cx="1771473" cy="662940"/>
            </a:xfrm>
          </p:grpSpPr>
          <p:sp>
            <p:nvSpPr>
              <p:cNvPr id="88" name="Parallelogram 87">
                <a:extLst>
                  <a:ext uri="{FF2B5EF4-FFF2-40B4-BE49-F238E27FC236}">
                    <a16:creationId xmlns:a16="http://schemas.microsoft.com/office/drawing/2014/main" id="{CACA8EC9-E8FC-57BC-EB6A-26137CE9B3C0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2E3067D-C56F-7A10-265A-5A6BABF13F51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666542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“</a:t>
                </a:r>
                <a:r>
                  <a:rPr lang="en-IN" sz="1600" b="1" dirty="0"/>
                  <a:t>Not Prime</a:t>
                </a:r>
                <a:r>
                  <a:rPr lang="en-IN" sz="1600" dirty="0"/>
                  <a:t>”</a:t>
                </a:r>
                <a:endParaRPr lang="en-IN" sz="1600" b="1" dirty="0"/>
              </a:p>
            </p:txBody>
          </p:sp>
        </p:grp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6B1D0517-DDEB-DF66-D390-1353751676D0}"/>
                </a:ext>
              </a:extLst>
            </p:cNvPr>
            <p:cNvCxnSpPr>
              <a:cxnSpLocks/>
              <a:stCxn id="71" idx="3"/>
              <a:endCxn id="85" idx="5"/>
            </p:cNvCxnSpPr>
            <p:nvPr/>
          </p:nvCxnSpPr>
          <p:spPr>
            <a:xfrm flipV="1">
              <a:off x="4693877" y="4533554"/>
              <a:ext cx="653346" cy="50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9BB955F9-9FFD-8F50-C2F4-5CADEAFDDC34}"/>
                </a:ext>
              </a:extLst>
            </p:cNvPr>
            <p:cNvCxnSpPr>
              <a:stCxn id="81" idx="3"/>
              <a:endCxn id="88" idx="5"/>
            </p:cNvCxnSpPr>
            <p:nvPr/>
          </p:nvCxnSpPr>
          <p:spPr>
            <a:xfrm flipV="1">
              <a:off x="4693876" y="6060325"/>
              <a:ext cx="65334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5FFA5B60-C387-C93F-3DAE-0AA9911E52D1}"/>
                </a:ext>
              </a:extLst>
            </p:cNvPr>
            <p:cNvGrpSpPr/>
            <p:nvPr/>
          </p:nvGrpSpPr>
          <p:grpSpPr>
            <a:xfrm>
              <a:off x="7668735" y="4862186"/>
              <a:ext cx="1336841" cy="899949"/>
              <a:chOff x="2804160" y="830580"/>
              <a:chExt cx="1501140" cy="1013460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C91522F5-283A-4A6C-F195-A81473DFDF10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212C3BB4-77CE-9F8E-D3E8-C0D3B9415FD1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END</a:t>
                </a:r>
              </a:p>
            </p:txBody>
          </p:sp>
        </p:grp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BC3D416F-17A2-A966-5F25-66B9DC80021D}"/>
                </a:ext>
              </a:extLst>
            </p:cNvPr>
            <p:cNvCxnSpPr>
              <a:stCxn id="85" idx="2"/>
            </p:cNvCxnSpPr>
            <p:nvPr/>
          </p:nvCxnSpPr>
          <p:spPr>
            <a:xfrm>
              <a:off x="7025549" y="4533554"/>
              <a:ext cx="131073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06B002F-EA6E-B91D-5E03-B35C619B5131}"/>
                </a:ext>
              </a:extLst>
            </p:cNvPr>
            <p:cNvCxnSpPr>
              <a:cxnSpLocks/>
            </p:cNvCxnSpPr>
            <p:nvPr/>
          </p:nvCxnSpPr>
          <p:spPr>
            <a:xfrm>
              <a:off x="7025046" y="6089752"/>
              <a:ext cx="130170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22232FA1-F867-6AC8-56F8-FACD680FB84A}"/>
                </a:ext>
              </a:extLst>
            </p:cNvPr>
            <p:cNvCxnSpPr>
              <a:cxnSpLocks/>
              <a:endCxn id="96" idx="4"/>
            </p:cNvCxnSpPr>
            <p:nvPr/>
          </p:nvCxnSpPr>
          <p:spPr>
            <a:xfrm flipV="1">
              <a:off x="8336280" y="5762135"/>
              <a:ext cx="876" cy="3362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533A7E2-7987-E0BF-53B1-AC1151712C5B}"/>
                </a:ext>
              </a:extLst>
            </p:cNvPr>
            <p:cNvSpPr txBox="1"/>
            <p:nvPr/>
          </p:nvSpPr>
          <p:spPr>
            <a:xfrm>
              <a:off x="4059251" y="5104513"/>
              <a:ext cx="575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true</a:t>
              </a:r>
              <a:endParaRPr lang="en-IN" sz="1600" dirty="0"/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3EAE8C95-A003-43A0-D35C-ACB92475A49E}"/>
                </a:ext>
              </a:extLst>
            </p:cNvPr>
            <p:cNvGrpSpPr/>
            <p:nvPr/>
          </p:nvGrpSpPr>
          <p:grpSpPr>
            <a:xfrm>
              <a:off x="3042310" y="2971338"/>
              <a:ext cx="1842135" cy="655236"/>
              <a:chOff x="1323238" y="3429000"/>
              <a:chExt cx="1842135" cy="655236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ED8EA8CE-F26D-5FF5-9E7C-9FA124860F79}"/>
                  </a:ext>
                </a:extLst>
              </p:cNvPr>
              <p:cNvSpPr/>
              <p:nvPr/>
            </p:nvSpPr>
            <p:spPr>
              <a:xfrm>
                <a:off x="1323238" y="3429000"/>
                <a:ext cx="1842135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21057379-624A-6A68-3CF4-DF07CE4BA2C8}"/>
                  </a:ext>
                </a:extLst>
              </p:cNvPr>
              <p:cNvSpPr txBox="1"/>
              <p:nvPr/>
            </p:nvSpPr>
            <p:spPr>
              <a:xfrm>
                <a:off x="1430660" y="3587341"/>
                <a:ext cx="16272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i = 2</a:t>
                </a:r>
                <a:endParaRPr lang="en-IN" sz="1600" b="1" dirty="0"/>
              </a:p>
            </p:txBody>
          </p:sp>
        </p:grp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BAE5E981-8DE4-654A-39D0-850E0733898E}"/>
                </a:ext>
              </a:extLst>
            </p:cNvPr>
            <p:cNvCxnSpPr>
              <a:stCxn id="81" idx="1"/>
              <a:endCxn id="69" idx="3"/>
            </p:cNvCxnSpPr>
            <p:nvPr/>
          </p:nvCxnSpPr>
          <p:spPr>
            <a:xfrm flipH="1">
              <a:off x="2387937" y="6060326"/>
              <a:ext cx="818552" cy="1015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F779776-464D-D5E5-941E-299871D185F0}"/>
                </a:ext>
              </a:extLst>
            </p:cNvPr>
            <p:cNvSpPr txBox="1"/>
            <p:nvPr/>
          </p:nvSpPr>
          <p:spPr>
            <a:xfrm>
              <a:off x="2276223" y="5662449"/>
              <a:ext cx="11514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false</a:t>
              </a:r>
              <a:endParaRPr lang="en-IN" sz="1600" dirty="0"/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97066ECF-3D41-19B5-636A-C9AD6AFD06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6870" y="4528474"/>
              <a:ext cx="0" cy="12093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EDC5C126-21D6-E1C4-E1CD-32129A07B880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69" y="4538293"/>
              <a:ext cx="17285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95ACE13-AC00-8A79-227F-F9E39C2F1479}"/>
                </a:ext>
              </a:extLst>
            </p:cNvPr>
            <p:cNvSpPr txBox="1"/>
            <p:nvPr/>
          </p:nvSpPr>
          <p:spPr>
            <a:xfrm>
              <a:off x="4695944" y="5673496"/>
              <a:ext cx="575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true</a:t>
              </a:r>
              <a:endParaRPr lang="en-IN" sz="1600" dirty="0"/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4C1667A7-97EA-2899-1BE5-2C28EC1B887B}"/>
              </a:ext>
            </a:extLst>
          </p:cNvPr>
          <p:cNvSpPr txBox="1"/>
          <p:nvPr/>
        </p:nvSpPr>
        <p:spPr>
          <a:xfrm>
            <a:off x="6516640" y="939457"/>
            <a:ext cx="650182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000" b="1" i="1" dirty="0"/>
              <a:t>STEP 1: </a:t>
            </a:r>
            <a:r>
              <a:rPr lang="en-IN" sz="2000" dirty="0"/>
              <a:t>Start</a:t>
            </a:r>
          </a:p>
          <a:p>
            <a:pPr lvl="1"/>
            <a:r>
              <a:rPr lang="en-IN" sz="2000" b="1" i="1" dirty="0"/>
              <a:t>STEP 2: </a:t>
            </a:r>
            <a:r>
              <a:rPr lang="en-IN" sz="2000" dirty="0"/>
              <a:t>Take input for </a:t>
            </a:r>
            <a:r>
              <a:rPr lang="en-IN" sz="2000" b="1" dirty="0"/>
              <a:t>n</a:t>
            </a:r>
          </a:p>
          <a:p>
            <a:pPr lvl="1"/>
            <a:r>
              <a:rPr lang="en-IN" sz="2000" b="1" i="1" dirty="0"/>
              <a:t>STEP 3: </a:t>
            </a:r>
            <a:r>
              <a:rPr lang="en-US" sz="2000" b="1" dirty="0"/>
              <a:t>i = 2</a:t>
            </a:r>
            <a:endParaRPr lang="en-IN" sz="2000" b="1" dirty="0"/>
          </a:p>
          <a:p>
            <a:pPr lvl="1"/>
            <a:r>
              <a:rPr lang="en-IN" sz="2000" b="1" i="1" dirty="0"/>
              <a:t>STEP 4: </a:t>
            </a:r>
            <a:r>
              <a:rPr lang="en-IN" sz="2000" b="1" dirty="0"/>
              <a:t>if i &lt; n </a:t>
            </a:r>
            <a:r>
              <a:rPr lang="en-IN" sz="2000" dirty="0"/>
              <a:t>(true), </a:t>
            </a:r>
            <a:r>
              <a:rPr lang="en-US" sz="2000" dirty="0"/>
              <a:t>➡️ Go to </a:t>
            </a:r>
            <a:r>
              <a:rPr lang="en-US" sz="2000" b="1" i="1" dirty="0"/>
              <a:t>STEP 6</a:t>
            </a:r>
            <a:endParaRPr lang="en-IN" sz="2000" b="1" dirty="0"/>
          </a:p>
          <a:p>
            <a:pPr lvl="1"/>
            <a:r>
              <a:rPr lang="en-IN" sz="2000" b="1" i="1" dirty="0"/>
              <a:t>STEP 5: </a:t>
            </a:r>
            <a:r>
              <a:rPr lang="en-IN" sz="2000" dirty="0"/>
              <a:t>Print “</a:t>
            </a:r>
            <a:r>
              <a:rPr lang="en-IN" sz="2000" b="1" dirty="0"/>
              <a:t>Prime</a:t>
            </a:r>
            <a:r>
              <a:rPr lang="en-IN" sz="2000" dirty="0"/>
              <a:t>”,</a:t>
            </a:r>
            <a:r>
              <a:rPr lang="en-US" sz="2000" dirty="0"/>
              <a:t> ➡️</a:t>
            </a:r>
            <a:r>
              <a:rPr lang="en-IN" sz="2000" dirty="0"/>
              <a:t>Go to </a:t>
            </a:r>
            <a:r>
              <a:rPr lang="en-IN" sz="2000" b="1" i="1" dirty="0"/>
              <a:t>STEP 9</a:t>
            </a:r>
            <a:endParaRPr lang="en-IN" sz="2000" dirty="0"/>
          </a:p>
          <a:p>
            <a:pPr lvl="1"/>
            <a:r>
              <a:rPr lang="en-IN" sz="2000" b="1" i="1" dirty="0"/>
              <a:t>STEP 6:</a:t>
            </a:r>
            <a:r>
              <a:rPr lang="en-IN" sz="2000" dirty="0"/>
              <a:t> </a:t>
            </a:r>
            <a:r>
              <a:rPr lang="en-US" sz="2000" dirty="0"/>
              <a:t>if</a:t>
            </a:r>
            <a:r>
              <a:rPr lang="en-US" sz="2000" b="1" dirty="0"/>
              <a:t> n % i == 0 </a:t>
            </a:r>
            <a:r>
              <a:rPr lang="en-US" sz="2000" dirty="0"/>
              <a:t>(true)</a:t>
            </a:r>
            <a:r>
              <a:rPr lang="en-US" sz="2000" b="1" dirty="0"/>
              <a:t>,</a:t>
            </a:r>
            <a:r>
              <a:rPr lang="en-US" sz="2000" dirty="0"/>
              <a:t> ➡️ Go to </a:t>
            </a:r>
            <a:r>
              <a:rPr lang="en-US" sz="2000" b="1" i="1" dirty="0"/>
              <a:t>STEP 7</a:t>
            </a:r>
          </a:p>
          <a:p>
            <a:pPr lvl="1"/>
            <a:r>
              <a:rPr lang="en-IN" sz="2000" b="1" i="1" dirty="0"/>
              <a:t>STEP 6</a:t>
            </a:r>
            <a:r>
              <a:rPr lang="en-IN" sz="2000" dirty="0"/>
              <a:t>: if </a:t>
            </a:r>
            <a:r>
              <a:rPr lang="en-IN" sz="2000" b="1" dirty="0"/>
              <a:t>n % i == 0 </a:t>
            </a:r>
            <a:r>
              <a:rPr lang="en-IN" sz="2000" dirty="0"/>
              <a:t>(false), Go to </a:t>
            </a:r>
            <a:r>
              <a:rPr lang="en-IN" sz="2000" b="1" i="1" dirty="0"/>
              <a:t>STEP 8</a:t>
            </a:r>
          </a:p>
          <a:p>
            <a:pPr lvl="1"/>
            <a:r>
              <a:rPr lang="en-IN" sz="2000" b="1" i="1" dirty="0"/>
              <a:t>STEP 7: </a:t>
            </a:r>
            <a:r>
              <a:rPr lang="en-IN" sz="2000" dirty="0"/>
              <a:t>Print “</a:t>
            </a:r>
            <a:r>
              <a:rPr lang="en-IN" sz="2000" b="1" dirty="0"/>
              <a:t>Not Prime</a:t>
            </a:r>
            <a:r>
              <a:rPr lang="en-IN" sz="2000" dirty="0"/>
              <a:t>”,</a:t>
            </a:r>
            <a:r>
              <a:rPr lang="en-US" sz="2000" dirty="0"/>
              <a:t> ➡️ </a:t>
            </a:r>
            <a:r>
              <a:rPr lang="en-IN" sz="2000" dirty="0"/>
              <a:t>Go to </a:t>
            </a:r>
            <a:r>
              <a:rPr lang="en-IN" sz="2000" b="1" i="1" dirty="0"/>
              <a:t>STEP 9</a:t>
            </a:r>
            <a:endParaRPr lang="en-IN" sz="2000" dirty="0"/>
          </a:p>
          <a:p>
            <a:pPr lvl="1"/>
            <a:r>
              <a:rPr lang="en-IN" sz="2000" b="1" i="1" dirty="0"/>
              <a:t>STEP 8: </a:t>
            </a:r>
            <a:r>
              <a:rPr lang="en-IN" sz="2000" b="1" dirty="0"/>
              <a:t>i = i + 1</a:t>
            </a:r>
            <a:r>
              <a:rPr lang="en-IN" sz="2000" dirty="0"/>
              <a:t>, Go to </a:t>
            </a:r>
            <a:r>
              <a:rPr lang="en-IN" sz="2000" b="1" i="1" dirty="0"/>
              <a:t>STEP 4 </a:t>
            </a:r>
            <a:endParaRPr lang="en-IN" sz="2000" dirty="0"/>
          </a:p>
          <a:p>
            <a:pPr lvl="1"/>
            <a:r>
              <a:rPr lang="en-IN" sz="2000" b="1" i="1" dirty="0"/>
              <a:t>STEP 9: </a:t>
            </a:r>
            <a:r>
              <a:rPr lang="en-IN" sz="2000" i="1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002344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935D9-6D6E-F528-0E4D-16E1C2D3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D403D-0437-AC64-856D-2D00E2AFD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2" y="304800"/>
            <a:ext cx="11256176" cy="6188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Design a Flowchart &amp; Pseudocode: </a:t>
            </a:r>
            <a:r>
              <a:rPr lang="en-US" dirty="0"/>
              <a:t>Find max of 2 numbers</a:t>
            </a:r>
            <a:endParaRPr lang="en-US" sz="1600" b="1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CBA51-1885-E611-ED41-003F916EC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26</a:t>
            </a:fld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06017B-7F16-87D1-B49C-10E22CECF70A}"/>
              </a:ext>
            </a:extLst>
          </p:cNvPr>
          <p:cNvSpPr txBox="1"/>
          <p:nvPr/>
        </p:nvSpPr>
        <p:spPr>
          <a:xfrm>
            <a:off x="5870447" y="1138196"/>
            <a:ext cx="61860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i="1" dirty="0"/>
              <a:t>STEP 1: </a:t>
            </a:r>
            <a:r>
              <a:rPr lang="en-IN" sz="2400" dirty="0"/>
              <a:t>Start</a:t>
            </a:r>
          </a:p>
          <a:p>
            <a:pPr lvl="1"/>
            <a:r>
              <a:rPr lang="en-IN" sz="2400" b="1" i="1" dirty="0"/>
              <a:t>STEP 2: </a:t>
            </a:r>
            <a:r>
              <a:rPr lang="en-IN" sz="2400" dirty="0"/>
              <a:t>Take input for </a:t>
            </a:r>
            <a:r>
              <a:rPr lang="en-IN" sz="2400" b="1" dirty="0"/>
              <a:t>n1, n2</a:t>
            </a:r>
          </a:p>
          <a:p>
            <a:pPr lvl="1"/>
            <a:r>
              <a:rPr lang="en-IN" sz="2400" b="1" i="1" dirty="0"/>
              <a:t>STEP 3: </a:t>
            </a:r>
            <a:r>
              <a:rPr lang="en-US" sz="2400" b="1" dirty="0"/>
              <a:t>if n1 &gt; n2, </a:t>
            </a:r>
            <a:r>
              <a:rPr lang="en-US" sz="2400" dirty="0"/>
              <a:t>(false)➡️ Go to </a:t>
            </a:r>
            <a:r>
              <a:rPr lang="en-US" sz="2400" b="1" i="1" dirty="0"/>
              <a:t>STEP 5</a:t>
            </a:r>
            <a:endParaRPr lang="en-IN" sz="2400" b="1" dirty="0"/>
          </a:p>
          <a:p>
            <a:pPr lvl="1"/>
            <a:r>
              <a:rPr lang="en-IN" sz="2400" b="1" i="1" dirty="0"/>
              <a:t>STEP 4: </a:t>
            </a:r>
            <a:r>
              <a:rPr lang="en-IN" sz="2400" dirty="0"/>
              <a:t>Print </a:t>
            </a:r>
            <a:r>
              <a:rPr lang="en-IN" sz="2400" b="1" dirty="0"/>
              <a:t>“n1”</a:t>
            </a:r>
          </a:p>
          <a:p>
            <a:pPr lvl="1"/>
            <a:r>
              <a:rPr lang="en-IN" sz="2400" b="1" i="1" dirty="0"/>
              <a:t>STEP 5: </a:t>
            </a:r>
            <a:r>
              <a:rPr lang="en-IN" sz="2400" dirty="0"/>
              <a:t>Print “</a:t>
            </a:r>
            <a:r>
              <a:rPr lang="en-IN" sz="2400" b="1" dirty="0"/>
              <a:t>n2”</a:t>
            </a:r>
          </a:p>
          <a:p>
            <a:pPr lvl="1"/>
            <a:r>
              <a:rPr lang="en-IN" sz="2400" b="1" i="1" dirty="0"/>
              <a:t>STEP 6: </a:t>
            </a:r>
            <a:r>
              <a:rPr lang="en-IN" sz="2400" dirty="0"/>
              <a:t>End</a:t>
            </a:r>
            <a:endParaRPr lang="en-IN" sz="2400" b="1" i="1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13A2F1A-52F0-2DBF-0D95-9ECF8BFB8752}"/>
              </a:ext>
            </a:extLst>
          </p:cNvPr>
          <p:cNvGrpSpPr/>
          <p:nvPr/>
        </p:nvGrpSpPr>
        <p:grpSpPr>
          <a:xfrm>
            <a:off x="467912" y="859648"/>
            <a:ext cx="5967797" cy="5688472"/>
            <a:chOff x="975610" y="831120"/>
            <a:chExt cx="5967797" cy="5688472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5FB3807-8CEA-BF67-E3F9-4D2DC040BACA}"/>
                </a:ext>
              </a:extLst>
            </p:cNvPr>
            <p:cNvCxnSpPr/>
            <p:nvPr/>
          </p:nvCxnSpPr>
          <p:spPr>
            <a:xfrm flipV="1">
              <a:off x="1879405" y="3956475"/>
              <a:ext cx="1263428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D0F918-962F-B17E-21DB-B8032A8EDD4F}"/>
                </a:ext>
              </a:extLst>
            </p:cNvPr>
            <p:cNvSpPr txBox="1"/>
            <p:nvPr/>
          </p:nvSpPr>
          <p:spPr>
            <a:xfrm>
              <a:off x="4718980" y="3671356"/>
              <a:ext cx="11514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true</a:t>
              </a:r>
              <a:endParaRPr lang="en-IN" sz="1600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237B19E-699D-357D-64DE-C3221353333D}"/>
                </a:ext>
              </a:extLst>
            </p:cNvPr>
            <p:cNvGrpSpPr/>
            <p:nvPr/>
          </p:nvGrpSpPr>
          <p:grpSpPr>
            <a:xfrm>
              <a:off x="3298143" y="831120"/>
              <a:ext cx="1336841" cy="899949"/>
              <a:chOff x="2804160" y="830580"/>
              <a:chExt cx="1501140" cy="1013460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FF43078-0D6D-1565-988A-B62EE0C2BA62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E5086B0-F734-57C9-0252-4CDFB241F42E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START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54CDF56-9DD2-8325-746F-701553E7EC8F}"/>
                </a:ext>
              </a:extLst>
            </p:cNvPr>
            <p:cNvGrpSpPr/>
            <p:nvPr/>
          </p:nvGrpSpPr>
          <p:grpSpPr>
            <a:xfrm>
              <a:off x="5101272" y="4457700"/>
              <a:ext cx="1842135" cy="655236"/>
              <a:chOff x="2657950" y="2270879"/>
              <a:chExt cx="1764030" cy="662940"/>
            </a:xfrm>
          </p:grpSpPr>
          <p:sp>
            <p:nvSpPr>
              <p:cNvPr id="52" name="Parallelogram 51">
                <a:extLst>
                  <a:ext uri="{FF2B5EF4-FFF2-40B4-BE49-F238E27FC236}">
                    <a16:creationId xmlns:a16="http://schemas.microsoft.com/office/drawing/2014/main" id="{3580420B-547C-2EC7-D067-81C37E4E0F2A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CE2ABA5-CACF-4D50-67B1-50D97E2F4DB0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“</a:t>
                </a:r>
                <a:r>
                  <a:rPr lang="en-IN" sz="1600" b="1" dirty="0"/>
                  <a:t>n1</a:t>
                </a:r>
                <a:r>
                  <a:rPr lang="en-IN" sz="1600" dirty="0"/>
                  <a:t>”</a:t>
                </a:r>
                <a:endParaRPr lang="en-IN" sz="1600" b="1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8CCC0DF-FF07-02F7-09AC-FC4D57AA5614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77" y="1737634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D1028CE-DC6C-A8EC-6BE1-A6FAC018FDBA}"/>
                </a:ext>
              </a:extLst>
            </p:cNvPr>
            <p:cNvCxnSpPr>
              <a:cxnSpLocks/>
            </p:cNvCxnSpPr>
            <p:nvPr/>
          </p:nvCxnSpPr>
          <p:spPr>
            <a:xfrm>
              <a:off x="3963395" y="2836259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375E49F-8467-0BAC-1599-FAEA106D2663}"/>
                </a:ext>
              </a:extLst>
            </p:cNvPr>
            <p:cNvGrpSpPr/>
            <p:nvPr/>
          </p:nvGrpSpPr>
          <p:grpSpPr>
            <a:xfrm>
              <a:off x="3142833" y="3289745"/>
              <a:ext cx="1621159" cy="1333461"/>
              <a:chOff x="1433743" y="3420533"/>
              <a:chExt cx="1621159" cy="1333461"/>
            </a:xfrm>
          </p:grpSpPr>
          <p:sp>
            <p:nvSpPr>
              <p:cNvPr id="50" name="Diamond 49">
                <a:extLst>
                  <a:ext uri="{FF2B5EF4-FFF2-40B4-BE49-F238E27FC236}">
                    <a16:creationId xmlns:a16="http://schemas.microsoft.com/office/drawing/2014/main" id="{87E3EE1F-35F9-C0D9-CFD4-A770645A282C}"/>
                  </a:ext>
                </a:extLst>
              </p:cNvPr>
              <p:cNvSpPr/>
              <p:nvPr/>
            </p:nvSpPr>
            <p:spPr>
              <a:xfrm>
                <a:off x="1433743" y="3420533"/>
                <a:ext cx="1621159" cy="1333461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F208FF7-EC40-380D-207A-EB07917E83E4}"/>
                  </a:ext>
                </a:extLst>
              </p:cNvPr>
              <p:cNvSpPr txBox="1"/>
              <p:nvPr/>
            </p:nvSpPr>
            <p:spPr>
              <a:xfrm>
                <a:off x="1664942" y="3917986"/>
                <a:ext cx="124792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if </a:t>
                </a:r>
                <a:r>
                  <a:rPr lang="en-US" sz="1600" b="1" dirty="0"/>
                  <a:t>n1 &gt; n2</a:t>
                </a:r>
                <a:endParaRPr lang="en-IN" sz="1600" b="1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7138D81-4C1E-9BAA-8AAD-6774FB3A48FB}"/>
                </a:ext>
              </a:extLst>
            </p:cNvPr>
            <p:cNvGrpSpPr/>
            <p:nvPr/>
          </p:nvGrpSpPr>
          <p:grpSpPr>
            <a:xfrm>
              <a:off x="3042310" y="2174458"/>
              <a:ext cx="1842135" cy="655236"/>
              <a:chOff x="2657950" y="2270879"/>
              <a:chExt cx="1764030" cy="662940"/>
            </a:xfrm>
          </p:grpSpPr>
          <p:sp>
            <p:nvSpPr>
              <p:cNvPr id="26" name="Parallelogram 25">
                <a:extLst>
                  <a:ext uri="{FF2B5EF4-FFF2-40B4-BE49-F238E27FC236}">
                    <a16:creationId xmlns:a16="http://schemas.microsoft.com/office/drawing/2014/main" id="{28064ADF-082A-EE32-82AC-65E3018A5AC0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9364F58-8A36-E588-6FFF-863B27D83123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Input for </a:t>
                </a:r>
                <a:r>
                  <a:rPr lang="en-IN" sz="1600" b="1" dirty="0"/>
                  <a:t>n1, n2</a:t>
                </a:r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805CE90-589C-4E42-3C0B-14BF437056CC}"/>
                </a:ext>
              </a:extLst>
            </p:cNvPr>
            <p:cNvCxnSpPr>
              <a:stCxn id="50" idx="3"/>
            </p:cNvCxnSpPr>
            <p:nvPr/>
          </p:nvCxnSpPr>
          <p:spPr>
            <a:xfrm flipV="1">
              <a:off x="4763992" y="3956475"/>
              <a:ext cx="1263428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A8E0D0C-A699-D1A8-A115-181825B1D26A}"/>
                </a:ext>
              </a:extLst>
            </p:cNvPr>
            <p:cNvCxnSpPr>
              <a:cxnSpLocks/>
            </p:cNvCxnSpPr>
            <p:nvPr/>
          </p:nvCxnSpPr>
          <p:spPr>
            <a:xfrm>
              <a:off x="6022340" y="3948855"/>
              <a:ext cx="5080" cy="5012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7EA8EAC-8D00-4AEB-91E2-D4EF464C3927}"/>
                </a:ext>
              </a:extLst>
            </p:cNvPr>
            <p:cNvGrpSpPr/>
            <p:nvPr/>
          </p:nvGrpSpPr>
          <p:grpSpPr>
            <a:xfrm>
              <a:off x="5353918" y="5619643"/>
              <a:ext cx="1336841" cy="899949"/>
              <a:chOff x="2804160" y="830580"/>
              <a:chExt cx="1501140" cy="1013460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A2BDDE7-8F18-3E1C-EEEA-2FE4CBCE7E45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BFA5C70-3273-DC77-7BFC-844596260C58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END</a:t>
                </a:r>
              </a:p>
            </p:txBody>
          </p:sp>
        </p:grp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7377770-84C2-4A45-01E6-D13A5EF63CAF}"/>
                </a:ext>
              </a:extLst>
            </p:cNvPr>
            <p:cNvCxnSpPr>
              <a:stCxn id="52" idx="4"/>
              <a:endCxn id="37" idx="0"/>
            </p:cNvCxnSpPr>
            <p:nvPr/>
          </p:nvCxnSpPr>
          <p:spPr>
            <a:xfrm flipH="1">
              <a:off x="6022339" y="5112936"/>
              <a:ext cx="1" cy="5067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7032B13-38A4-75A1-C46B-69B90A35E2CF}"/>
                </a:ext>
              </a:extLst>
            </p:cNvPr>
            <p:cNvCxnSpPr>
              <a:cxnSpLocks/>
            </p:cNvCxnSpPr>
            <p:nvPr/>
          </p:nvCxnSpPr>
          <p:spPr>
            <a:xfrm>
              <a:off x="1888930" y="3948854"/>
              <a:ext cx="5080" cy="5012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DC3F5BF-E619-2343-33E8-1C868ED0737C}"/>
                </a:ext>
              </a:extLst>
            </p:cNvPr>
            <p:cNvGrpSpPr/>
            <p:nvPr/>
          </p:nvGrpSpPr>
          <p:grpSpPr>
            <a:xfrm>
              <a:off x="975610" y="4456200"/>
              <a:ext cx="1842135" cy="655236"/>
              <a:chOff x="2657950" y="2270879"/>
              <a:chExt cx="1764030" cy="662940"/>
            </a:xfrm>
          </p:grpSpPr>
          <p:sp>
            <p:nvSpPr>
              <p:cNvPr id="56" name="Parallelogram 55">
                <a:extLst>
                  <a:ext uri="{FF2B5EF4-FFF2-40B4-BE49-F238E27FC236}">
                    <a16:creationId xmlns:a16="http://schemas.microsoft.com/office/drawing/2014/main" id="{FE7DB80B-456D-BE0B-FB4E-762F51E8B954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FA4B033-7195-F338-792D-A0685A9982A5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“</a:t>
                </a:r>
                <a:r>
                  <a:rPr lang="en-IN" sz="1600" b="1" dirty="0"/>
                  <a:t>n2</a:t>
                </a:r>
                <a:r>
                  <a:rPr lang="en-IN" sz="1600" dirty="0"/>
                  <a:t>”</a:t>
                </a:r>
                <a:endParaRPr lang="en-IN" sz="1600" b="1" dirty="0"/>
              </a:p>
            </p:txBody>
          </p:sp>
        </p:grp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20145A3-99D7-CB00-3B13-9DAA58017A1A}"/>
                </a:ext>
              </a:extLst>
            </p:cNvPr>
            <p:cNvCxnSpPr>
              <a:cxnSpLocks/>
            </p:cNvCxnSpPr>
            <p:nvPr/>
          </p:nvCxnSpPr>
          <p:spPr>
            <a:xfrm>
              <a:off x="1896678" y="5116516"/>
              <a:ext cx="0" cy="96347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1A670367-5BAB-B9F3-F88F-B193DA64AFC3}"/>
                </a:ext>
              </a:extLst>
            </p:cNvPr>
            <p:cNvCxnSpPr>
              <a:cxnSpLocks/>
              <a:endCxn id="37" idx="2"/>
            </p:cNvCxnSpPr>
            <p:nvPr/>
          </p:nvCxnSpPr>
          <p:spPr>
            <a:xfrm>
              <a:off x="1888930" y="6069618"/>
              <a:ext cx="34649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F7A5EBD-C989-7514-2C95-B8245EB814EA}"/>
                </a:ext>
              </a:extLst>
            </p:cNvPr>
            <p:cNvSpPr txBox="1"/>
            <p:nvPr/>
          </p:nvSpPr>
          <p:spPr>
            <a:xfrm>
              <a:off x="1947450" y="3610300"/>
              <a:ext cx="11514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false</a:t>
              </a: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14755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6CBF7-E337-6B69-B1F6-6B0FF496B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E716E-BFAA-FBEA-78F2-853CE800C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2" y="304800"/>
            <a:ext cx="11256176" cy="6188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Design a Flowchart &amp; Pseudocode: </a:t>
            </a:r>
            <a:r>
              <a:rPr lang="en-US" dirty="0"/>
              <a:t>Add </a:t>
            </a:r>
            <a:r>
              <a:rPr lang="en-US" b="1" dirty="0"/>
              <a:t>n</a:t>
            </a:r>
            <a:r>
              <a:rPr lang="en-US" dirty="0"/>
              <a:t> numbers from user input &amp; print</a:t>
            </a:r>
            <a:endParaRPr lang="en-US" sz="1600" b="1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04172-16A2-2443-5D3B-754E99FF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27</a:t>
            </a:fld>
            <a:endParaRPr lang="en-IN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B8D3DE0-27BD-AB92-A3FE-C7DE6C713EB5}"/>
              </a:ext>
            </a:extLst>
          </p:cNvPr>
          <p:cNvGrpSpPr/>
          <p:nvPr/>
        </p:nvGrpSpPr>
        <p:grpSpPr>
          <a:xfrm>
            <a:off x="113259" y="1024241"/>
            <a:ext cx="8543061" cy="5720984"/>
            <a:chOff x="67539" y="859648"/>
            <a:chExt cx="9016675" cy="597165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DC0A5DC-F943-8F00-769C-343CB83A485F}"/>
                </a:ext>
              </a:extLst>
            </p:cNvPr>
            <p:cNvGrpSpPr/>
            <p:nvPr/>
          </p:nvGrpSpPr>
          <p:grpSpPr>
            <a:xfrm>
              <a:off x="2790445" y="859648"/>
              <a:ext cx="1336841" cy="899949"/>
              <a:chOff x="2804160" y="830580"/>
              <a:chExt cx="1501140" cy="1013460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B660C00-041A-23A6-5729-B9DE3325678B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C97F54F-A366-175E-5909-ED4C63CE60A4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START</a:t>
                </a:r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B782241-BF41-229E-EC90-2D184EAA649D}"/>
                </a:ext>
              </a:extLst>
            </p:cNvPr>
            <p:cNvCxnSpPr>
              <a:cxnSpLocks/>
            </p:cNvCxnSpPr>
            <p:nvPr/>
          </p:nvCxnSpPr>
          <p:spPr>
            <a:xfrm>
              <a:off x="3455679" y="1766162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827F84A-65D5-3260-DF0A-4E58A976AA00}"/>
                </a:ext>
              </a:extLst>
            </p:cNvPr>
            <p:cNvCxnSpPr>
              <a:cxnSpLocks/>
            </p:cNvCxnSpPr>
            <p:nvPr/>
          </p:nvCxnSpPr>
          <p:spPr>
            <a:xfrm>
              <a:off x="3455697" y="2864787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FA7302E-793B-93FD-4D9C-47C158DE2007}"/>
                </a:ext>
              </a:extLst>
            </p:cNvPr>
            <p:cNvGrpSpPr/>
            <p:nvPr/>
          </p:nvGrpSpPr>
          <p:grpSpPr>
            <a:xfrm>
              <a:off x="2645099" y="4393520"/>
              <a:ext cx="1621159" cy="1333461"/>
              <a:chOff x="1428521" y="3420533"/>
              <a:chExt cx="1621159" cy="1333461"/>
            </a:xfrm>
          </p:grpSpPr>
          <p:sp>
            <p:nvSpPr>
              <p:cNvPr id="50" name="Diamond 49">
                <a:extLst>
                  <a:ext uri="{FF2B5EF4-FFF2-40B4-BE49-F238E27FC236}">
                    <a16:creationId xmlns:a16="http://schemas.microsoft.com/office/drawing/2014/main" id="{58B77A69-C8AD-51D7-6EE6-E4561689E3F0}"/>
                  </a:ext>
                </a:extLst>
              </p:cNvPr>
              <p:cNvSpPr/>
              <p:nvPr/>
            </p:nvSpPr>
            <p:spPr>
              <a:xfrm>
                <a:off x="1428521" y="3420533"/>
                <a:ext cx="1621159" cy="1333461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A75F436-B864-ACCF-DF2F-161F862E9248}"/>
                  </a:ext>
                </a:extLst>
              </p:cNvPr>
              <p:cNvSpPr txBox="1"/>
              <p:nvPr/>
            </p:nvSpPr>
            <p:spPr>
              <a:xfrm>
                <a:off x="1664942" y="3917986"/>
                <a:ext cx="124792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if </a:t>
                </a:r>
                <a:r>
                  <a:rPr lang="en-US" sz="1600" b="1" dirty="0"/>
                  <a:t>i &gt; n</a:t>
                </a:r>
                <a:endParaRPr lang="en-IN" sz="1600" b="1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6C12ABB-9853-C18D-4EE2-7CC90935D03A}"/>
                </a:ext>
              </a:extLst>
            </p:cNvPr>
            <p:cNvGrpSpPr/>
            <p:nvPr/>
          </p:nvGrpSpPr>
          <p:grpSpPr>
            <a:xfrm>
              <a:off x="2534612" y="2202986"/>
              <a:ext cx="1842135" cy="655236"/>
              <a:chOff x="2657950" y="2270879"/>
              <a:chExt cx="1764030" cy="662940"/>
            </a:xfrm>
          </p:grpSpPr>
          <p:sp>
            <p:nvSpPr>
              <p:cNvPr id="26" name="Parallelogram 25">
                <a:extLst>
                  <a:ext uri="{FF2B5EF4-FFF2-40B4-BE49-F238E27FC236}">
                    <a16:creationId xmlns:a16="http://schemas.microsoft.com/office/drawing/2014/main" id="{6AA4C1AB-FBE0-B5AC-48BA-408947DEB78D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FD5EE7-A997-570C-3D76-B6F7D6750803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Input for </a:t>
                </a:r>
                <a:r>
                  <a:rPr lang="en-IN" sz="1600" b="1" dirty="0"/>
                  <a:t>n</a:t>
                </a:r>
              </a:p>
            </p:txBody>
          </p: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64DAFF3-EAD4-88E4-90AD-00739E10BBBD}"/>
                </a:ext>
              </a:extLst>
            </p:cNvPr>
            <p:cNvCxnSpPr>
              <a:cxnSpLocks/>
            </p:cNvCxnSpPr>
            <p:nvPr/>
          </p:nvCxnSpPr>
          <p:spPr>
            <a:xfrm>
              <a:off x="3455679" y="3950242"/>
              <a:ext cx="0" cy="436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7478AB-6D06-9A38-D651-CCBD0F6B2868}"/>
                </a:ext>
              </a:extLst>
            </p:cNvPr>
            <p:cNvSpPr txBox="1"/>
            <p:nvPr/>
          </p:nvSpPr>
          <p:spPr>
            <a:xfrm>
              <a:off x="4502679" y="4721695"/>
              <a:ext cx="6048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true</a:t>
              </a:r>
              <a:endParaRPr lang="en-IN" sz="160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6624C4D-23F8-0653-7888-5281DDD21A09}"/>
                </a:ext>
              </a:extLst>
            </p:cNvPr>
            <p:cNvGrpSpPr/>
            <p:nvPr/>
          </p:nvGrpSpPr>
          <p:grpSpPr>
            <a:xfrm>
              <a:off x="5298200" y="4732631"/>
              <a:ext cx="1842135" cy="655236"/>
              <a:chOff x="2657950" y="2270879"/>
              <a:chExt cx="1764030" cy="662940"/>
            </a:xfrm>
          </p:grpSpPr>
          <p:sp>
            <p:nvSpPr>
              <p:cNvPr id="15" name="Parallelogram 14">
                <a:extLst>
                  <a:ext uri="{FF2B5EF4-FFF2-40B4-BE49-F238E27FC236}">
                    <a16:creationId xmlns:a16="http://schemas.microsoft.com/office/drawing/2014/main" id="{42F1F4D2-7EE3-2859-5184-A8E3FC8106E2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C86888-42F8-C971-A18F-8E8770C23AE5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Print “</a:t>
                </a:r>
                <a:r>
                  <a:rPr lang="en-IN" sz="1600" b="1" dirty="0"/>
                  <a:t>sum</a:t>
                </a:r>
                <a:r>
                  <a:rPr lang="en-IN" sz="1600" dirty="0"/>
                  <a:t>”</a:t>
                </a:r>
                <a:endParaRPr lang="en-IN" sz="1600" b="1" dirty="0"/>
              </a:p>
            </p:txBody>
          </p: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36A030E-D9EF-35C2-43D9-78B09D56435D}"/>
                </a:ext>
              </a:extLst>
            </p:cNvPr>
            <p:cNvCxnSpPr>
              <a:cxnSpLocks/>
              <a:stCxn id="50" idx="3"/>
            </p:cNvCxnSpPr>
            <p:nvPr/>
          </p:nvCxnSpPr>
          <p:spPr>
            <a:xfrm flipV="1">
              <a:off x="4266258" y="5060249"/>
              <a:ext cx="1101784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04031C2-D926-0DA2-C514-2D625A34DBFE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 flipV="1">
              <a:off x="6802330" y="5060249"/>
              <a:ext cx="945043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FA5B92F-BA55-4DEB-309D-8FADF8E6195A}"/>
                </a:ext>
              </a:extLst>
            </p:cNvPr>
            <p:cNvGrpSpPr/>
            <p:nvPr/>
          </p:nvGrpSpPr>
          <p:grpSpPr>
            <a:xfrm>
              <a:off x="7747373" y="4610274"/>
              <a:ext cx="1336841" cy="899949"/>
              <a:chOff x="2804160" y="830580"/>
              <a:chExt cx="1501140" cy="101346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71CE6AE-4375-5162-77EC-AA47CDCA9649}"/>
                  </a:ext>
                </a:extLst>
              </p:cNvPr>
              <p:cNvSpPr/>
              <p:nvPr/>
            </p:nvSpPr>
            <p:spPr>
              <a:xfrm>
                <a:off x="2804160" y="830580"/>
                <a:ext cx="1501140" cy="10134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59D620A-5F08-EB85-9FC7-8B54DE5BCFB5}"/>
                  </a:ext>
                </a:extLst>
              </p:cNvPr>
              <p:cNvSpPr txBox="1"/>
              <p:nvPr/>
            </p:nvSpPr>
            <p:spPr>
              <a:xfrm>
                <a:off x="3014184" y="1152644"/>
                <a:ext cx="1051560" cy="381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END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04105B2-D879-8C24-CB41-2FAF1DECFA7A}"/>
                </a:ext>
              </a:extLst>
            </p:cNvPr>
            <p:cNvGrpSpPr/>
            <p:nvPr/>
          </p:nvGrpSpPr>
          <p:grpSpPr>
            <a:xfrm>
              <a:off x="2534613" y="3305408"/>
              <a:ext cx="1842134" cy="655236"/>
              <a:chOff x="2534612" y="3298253"/>
              <a:chExt cx="1842134" cy="65523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B63815E-BDAF-8ECA-36DB-87A02DEB6D1D}"/>
                  </a:ext>
                </a:extLst>
              </p:cNvPr>
              <p:cNvSpPr/>
              <p:nvPr/>
            </p:nvSpPr>
            <p:spPr>
              <a:xfrm>
                <a:off x="2534612" y="3298253"/>
                <a:ext cx="1842134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BF3BEF0-EDAE-0261-F2AD-0F240E188538}"/>
                  </a:ext>
                </a:extLst>
              </p:cNvPr>
              <p:cNvSpPr txBox="1"/>
              <p:nvPr/>
            </p:nvSpPr>
            <p:spPr>
              <a:xfrm>
                <a:off x="2672465" y="3460510"/>
                <a:ext cx="15664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/>
                  <a:t>sum = 0, i = 1</a:t>
                </a:r>
                <a:endParaRPr lang="en-IN" sz="1600" b="1" dirty="0"/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12B6CD1-8633-2CB6-AD68-75B2C7B07B56}"/>
                </a:ext>
              </a:extLst>
            </p:cNvPr>
            <p:cNvSpPr txBox="1"/>
            <p:nvPr/>
          </p:nvSpPr>
          <p:spPr>
            <a:xfrm>
              <a:off x="2070173" y="4694359"/>
              <a:ext cx="6127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false</a:t>
              </a:r>
              <a:endParaRPr lang="en-IN" sz="1600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5B03F37-EC99-90A3-0C90-BDE266C01A26}"/>
                </a:ext>
              </a:extLst>
            </p:cNvPr>
            <p:cNvCxnSpPr>
              <a:cxnSpLocks/>
              <a:stCxn id="50" idx="1"/>
              <a:endCxn id="71" idx="2"/>
            </p:cNvCxnSpPr>
            <p:nvPr/>
          </p:nvCxnSpPr>
          <p:spPr>
            <a:xfrm flipH="1">
              <a:off x="1827770" y="5060251"/>
              <a:ext cx="817329" cy="50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CD72701-19C0-1D2F-9F01-19A445651E6C}"/>
                </a:ext>
              </a:extLst>
            </p:cNvPr>
            <p:cNvGrpSpPr/>
            <p:nvPr/>
          </p:nvGrpSpPr>
          <p:grpSpPr>
            <a:xfrm>
              <a:off x="67539" y="4737710"/>
              <a:ext cx="1842135" cy="655236"/>
              <a:chOff x="2657950" y="2270879"/>
              <a:chExt cx="1764030" cy="662940"/>
            </a:xfrm>
          </p:grpSpPr>
          <p:sp>
            <p:nvSpPr>
              <p:cNvPr id="71" name="Parallelogram 70">
                <a:extLst>
                  <a:ext uri="{FF2B5EF4-FFF2-40B4-BE49-F238E27FC236}">
                    <a16:creationId xmlns:a16="http://schemas.microsoft.com/office/drawing/2014/main" id="{4D719C1A-847C-A8BB-FF10-14C095FCD2FB}"/>
                  </a:ext>
                </a:extLst>
              </p:cNvPr>
              <p:cNvSpPr/>
              <p:nvPr/>
            </p:nvSpPr>
            <p:spPr>
              <a:xfrm>
                <a:off x="2657950" y="2270879"/>
                <a:ext cx="1764030" cy="662940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F19A6E7-4634-5636-4A53-218187F6C730}"/>
                  </a:ext>
                </a:extLst>
              </p:cNvPr>
              <p:cNvSpPr txBox="1"/>
              <p:nvPr/>
            </p:nvSpPr>
            <p:spPr>
              <a:xfrm>
                <a:off x="2762881" y="2454392"/>
                <a:ext cx="1558295" cy="34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Input </a:t>
                </a:r>
                <a:r>
                  <a:rPr lang="en-IN" sz="1600" b="1" dirty="0"/>
                  <a:t>number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0122553-7803-4406-B921-2A1E3A31803B}"/>
                </a:ext>
              </a:extLst>
            </p:cNvPr>
            <p:cNvGrpSpPr/>
            <p:nvPr/>
          </p:nvGrpSpPr>
          <p:grpSpPr>
            <a:xfrm>
              <a:off x="73762" y="6142220"/>
              <a:ext cx="1842134" cy="689079"/>
              <a:chOff x="2534612" y="3298253"/>
              <a:chExt cx="1842134" cy="689079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4050D4F-185B-6EC3-5780-CC12A68E367C}"/>
                  </a:ext>
                </a:extLst>
              </p:cNvPr>
              <p:cNvSpPr/>
              <p:nvPr/>
            </p:nvSpPr>
            <p:spPr>
              <a:xfrm>
                <a:off x="2534612" y="3298253"/>
                <a:ext cx="1842134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2FAC54B-7A4A-225F-F297-E94FCDEEFF18}"/>
                  </a:ext>
                </a:extLst>
              </p:cNvPr>
              <p:cNvSpPr txBox="1"/>
              <p:nvPr/>
            </p:nvSpPr>
            <p:spPr>
              <a:xfrm>
                <a:off x="2672466" y="3402557"/>
                <a:ext cx="156642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sum = sum + number</a:t>
                </a:r>
                <a:endParaRPr lang="en-IN" sz="1600" b="1" dirty="0"/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6361FCF-9D16-A803-F462-F1784514FE07}"/>
                </a:ext>
              </a:extLst>
            </p:cNvPr>
            <p:cNvGrpSpPr/>
            <p:nvPr/>
          </p:nvGrpSpPr>
          <p:grpSpPr>
            <a:xfrm>
              <a:off x="2533792" y="6142220"/>
              <a:ext cx="1842134" cy="655236"/>
              <a:chOff x="2534612" y="3298253"/>
              <a:chExt cx="1842134" cy="655236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56DE8D58-0276-63F4-A949-578C22BD78C4}"/>
                  </a:ext>
                </a:extLst>
              </p:cNvPr>
              <p:cNvSpPr/>
              <p:nvPr/>
            </p:nvSpPr>
            <p:spPr>
              <a:xfrm>
                <a:off x="2534612" y="3298253"/>
                <a:ext cx="1842134" cy="6552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86897A2-0ED3-6BBF-4906-AC791D1F9BD8}"/>
                  </a:ext>
                </a:extLst>
              </p:cNvPr>
              <p:cNvSpPr txBox="1"/>
              <p:nvPr/>
            </p:nvSpPr>
            <p:spPr>
              <a:xfrm>
                <a:off x="2672465" y="3460510"/>
                <a:ext cx="15664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i = i + 1</a:t>
                </a:r>
                <a:endParaRPr lang="en-IN" sz="1600" b="1" dirty="0"/>
              </a:p>
            </p:txBody>
          </p:sp>
        </p:grp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9AAABEF-E2DC-8775-C489-8A8D8D35D53E}"/>
                </a:ext>
              </a:extLst>
            </p:cNvPr>
            <p:cNvCxnSpPr>
              <a:stCxn id="71" idx="4"/>
            </p:cNvCxnSpPr>
            <p:nvPr/>
          </p:nvCxnSpPr>
          <p:spPr>
            <a:xfrm flipH="1">
              <a:off x="988606" y="5392946"/>
              <a:ext cx="1" cy="7492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3F0C385C-1766-586A-EBF8-E5EA2326007D}"/>
                </a:ext>
              </a:extLst>
            </p:cNvPr>
            <p:cNvCxnSpPr>
              <a:stCxn id="76" idx="3"/>
              <a:endCxn id="79" idx="1"/>
            </p:cNvCxnSpPr>
            <p:nvPr/>
          </p:nvCxnSpPr>
          <p:spPr>
            <a:xfrm>
              <a:off x="1915896" y="6469838"/>
              <a:ext cx="6178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FBC8C5BC-4093-BAED-2CB9-10E140C81B1C}"/>
                </a:ext>
              </a:extLst>
            </p:cNvPr>
            <p:cNvCxnSpPr>
              <a:stCxn id="79" idx="0"/>
              <a:endCxn id="50" idx="2"/>
            </p:cNvCxnSpPr>
            <p:nvPr/>
          </p:nvCxnSpPr>
          <p:spPr>
            <a:xfrm flipV="1">
              <a:off x="3454859" y="5726981"/>
              <a:ext cx="820" cy="4152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4EC67802-9AA4-F213-393C-04E46380E9ED}"/>
              </a:ext>
            </a:extLst>
          </p:cNvPr>
          <p:cNvSpPr txBox="1"/>
          <p:nvPr/>
        </p:nvSpPr>
        <p:spPr>
          <a:xfrm>
            <a:off x="5777834" y="953616"/>
            <a:ext cx="61860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i="1" dirty="0"/>
              <a:t>STEP 1: </a:t>
            </a:r>
            <a:r>
              <a:rPr lang="en-IN" sz="2400" dirty="0"/>
              <a:t>Start</a:t>
            </a:r>
          </a:p>
          <a:p>
            <a:pPr lvl="1"/>
            <a:r>
              <a:rPr lang="en-IN" sz="2400" b="1" i="1" dirty="0"/>
              <a:t>STEP 2: </a:t>
            </a:r>
            <a:r>
              <a:rPr lang="en-IN" sz="2400" dirty="0"/>
              <a:t>Take input for </a:t>
            </a:r>
            <a:r>
              <a:rPr lang="en-IN" sz="2400" b="1" dirty="0"/>
              <a:t>n</a:t>
            </a:r>
          </a:p>
          <a:p>
            <a:pPr lvl="1"/>
            <a:r>
              <a:rPr lang="en-IN" sz="2400" b="1" i="1" dirty="0"/>
              <a:t>STEP 3: </a:t>
            </a:r>
            <a:r>
              <a:rPr lang="en-US" sz="2400" b="1" dirty="0"/>
              <a:t>sum = 0, i = 1</a:t>
            </a:r>
            <a:endParaRPr lang="en-IN" sz="2400" b="1" dirty="0"/>
          </a:p>
          <a:p>
            <a:pPr lvl="1"/>
            <a:r>
              <a:rPr lang="en-IN" sz="2400" b="1" i="1" dirty="0"/>
              <a:t>STEP 4: </a:t>
            </a:r>
            <a:r>
              <a:rPr lang="en-IN" sz="2400" dirty="0"/>
              <a:t>if </a:t>
            </a:r>
            <a:r>
              <a:rPr lang="en-IN" sz="2400" b="1" dirty="0"/>
              <a:t>i &gt; n, </a:t>
            </a:r>
            <a:r>
              <a:rPr lang="en-IN" sz="2400" dirty="0"/>
              <a:t>(true) </a:t>
            </a:r>
            <a:r>
              <a:rPr lang="en-US" sz="2400" dirty="0"/>
              <a:t>➡️ Go to </a:t>
            </a:r>
            <a:r>
              <a:rPr lang="en-US" sz="2400" b="1" i="1" dirty="0"/>
              <a:t>STEP 8</a:t>
            </a:r>
            <a:endParaRPr lang="en-IN" sz="2400" b="1" dirty="0"/>
          </a:p>
          <a:p>
            <a:pPr lvl="1"/>
            <a:r>
              <a:rPr lang="en-IN" sz="2400" b="1" i="1" dirty="0"/>
              <a:t>STEP 5: </a:t>
            </a:r>
            <a:r>
              <a:rPr lang="en-IN" sz="2400" dirty="0"/>
              <a:t>input </a:t>
            </a:r>
            <a:r>
              <a:rPr lang="en-IN" sz="2400" b="1" dirty="0"/>
              <a:t>number</a:t>
            </a:r>
          </a:p>
          <a:p>
            <a:pPr lvl="1"/>
            <a:r>
              <a:rPr lang="en-IN" sz="2400" b="1" i="1" dirty="0"/>
              <a:t>STEP 6: </a:t>
            </a:r>
            <a:r>
              <a:rPr lang="en-IN" sz="2400" b="1" dirty="0"/>
              <a:t>sum = sum + number</a:t>
            </a:r>
          </a:p>
          <a:p>
            <a:pPr lvl="1"/>
            <a:r>
              <a:rPr lang="en-IN" sz="2400" b="1" i="1" dirty="0"/>
              <a:t>STEP 7: </a:t>
            </a:r>
            <a:r>
              <a:rPr lang="en-IN" sz="2400" b="1" dirty="0"/>
              <a:t>i =  i + 1</a:t>
            </a:r>
            <a:r>
              <a:rPr lang="en-IN" sz="2400" dirty="0"/>
              <a:t>, </a:t>
            </a:r>
            <a:r>
              <a:rPr lang="en-US" sz="2400" dirty="0"/>
              <a:t>➡️ Go to </a:t>
            </a:r>
            <a:r>
              <a:rPr lang="en-US" sz="2400" b="1" i="1" dirty="0"/>
              <a:t>STEP 4</a:t>
            </a:r>
          </a:p>
          <a:p>
            <a:pPr lvl="1"/>
            <a:r>
              <a:rPr lang="en-US" sz="2400" b="1" i="1" dirty="0"/>
              <a:t>STEP 8: </a:t>
            </a:r>
            <a:r>
              <a:rPr lang="en-US" sz="2400" dirty="0"/>
              <a:t>Print </a:t>
            </a:r>
            <a:r>
              <a:rPr lang="en-US" sz="2400" b="1" dirty="0"/>
              <a:t>“sum”</a:t>
            </a:r>
          </a:p>
          <a:p>
            <a:pPr lvl="1"/>
            <a:r>
              <a:rPr lang="en-US" sz="2400" b="1" i="1" dirty="0"/>
              <a:t>STEP 9: </a:t>
            </a:r>
            <a:r>
              <a:rPr lang="en-US" sz="2400" dirty="0"/>
              <a:t>End</a:t>
            </a:r>
            <a:endParaRPr lang="en-IN" sz="2400" b="1" i="1" dirty="0"/>
          </a:p>
        </p:txBody>
      </p:sp>
    </p:spTree>
    <p:extLst>
      <p:ext uri="{BB962C8B-B14F-4D97-AF65-F5344CB8AC3E}">
        <p14:creationId xmlns:p14="http://schemas.microsoft.com/office/powerpoint/2010/main" val="2158749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37F00-EBE9-B617-6E93-CA304787C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i="1" dirty="0"/>
              <a:t>Lecture 2 – How a Java Program Runs</a:t>
            </a:r>
            <a:endParaRPr lang="en-IN" b="1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734581-3459-5713-9BAC-3AC16B768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65582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3E6A-4954-B1C4-DC61-44E5B08E0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</p:spPr>
        <p:txBody>
          <a:bodyPr/>
          <a:lstStyle/>
          <a:p>
            <a:r>
              <a:rPr lang="en-US" b="1" dirty="0"/>
              <a:t>Program Execution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C3DE3-EFFD-76C7-826B-8CB26E22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29</a:t>
            </a:fld>
            <a:endParaRPr lang="en-IN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B008A38-C365-FAF2-3175-DE932E8B6B78}"/>
              </a:ext>
            </a:extLst>
          </p:cNvPr>
          <p:cNvGrpSpPr/>
          <p:nvPr/>
        </p:nvGrpSpPr>
        <p:grpSpPr>
          <a:xfrm>
            <a:off x="424260" y="1199887"/>
            <a:ext cx="11343480" cy="4458225"/>
            <a:chOff x="160541" y="1199878"/>
            <a:chExt cx="11343480" cy="445822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9BF28D6-E047-CD7B-9588-8BA1B14D293C}"/>
                </a:ext>
              </a:extLst>
            </p:cNvPr>
            <p:cNvGrpSpPr/>
            <p:nvPr/>
          </p:nvGrpSpPr>
          <p:grpSpPr>
            <a:xfrm>
              <a:off x="160541" y="2539787"/>
              <a:ext cx="1355317" cy="1778417"/>
              <a:chOff x="412954" y="1555326"/>
              <a:chExt cx="1533833" cy="2079522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37AB5F7-6C57-EAD5-9727-F1F10E4E2266}"/>
                  </a:ext>
                </a:extLst>
              </p:cNvPr>
              <p:cNvSpPr/>
              <p:nvPr/>
            </p:nvSpPr>
            <p:spPr>
              <a:xfrm>
                <a:off x="412954" y="1555326"/>
                <a:ext cx="1533833" cy="207952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724D4B-D609-69B5-6F90-C38B6D33561E}"/>
                  </a:ext>
                </a:extLst>
              </p:cNvPr>
              <p:cNvSpPr txBox="1"/>
              <p:nvPr/>
            </p:nvSpPr>
            <p:spPr>
              <a:xfrm>
                <a:off x="538315" y="2133422"/>
                <a:ext cx="128311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User code</a:t>
                </a:r>
              </a:p>
              <a:p>
                <a:pPr algn="ctr"/>
                <a:endParaRPr lang="en-US" b="1" dirty="0"/>
              </a:p>
              <a:p>
                <a:pPr algn="ctr"/>
                <a:r>
                  <a:rPr lang="en-US" b="1" dirty="0"/>
                  <a:t>(.java)</a:t>
                </a:r>
                <a:endParaRPr lang="en-IN" b="1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FF0D80-8476-8A11-F3F1-7FD7F13B751E}"/>
                </a:ext>
              </a:extLst>
            </p:cNvPr>
            <p:cNvSpPr/>
            <p:nvPr/>
          </p:nvSpPr>
          <p:spPr>
            <a:xfrm>
              <a:off x="2060739" y="1199878"/>
              <a:ext cx="865239" cy="44582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O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M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P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I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L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E</a:t>
              </a:r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R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00AC66C-E077-DFB4-96F6-B31C806D99D0}"/>
                </a:ext>
              </a:extLst>
            </p:cNvPr>
            <p:cNvGrpSpPr/>
            <p:nvPr/>
          </p:nvGrpSpPr>
          <p:grpSpPr>
            <a:xfrm>
              <a:off x="3470859" y="2522996"/>
              <a:ext cx="1173887" cy="1787574"/>
              <a:chOff x="412954" y="1555326"/>
              <a:chExt cx="1533833" cy="207952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A1E57B5-EC9F-598E-E63D-D3C55CF3D8BB}"/>
                  </a:ext>
                </a:extLst>
              </p:cNvPr>
              <p:cNvSpPr/>
              <p:nvPr/>
            </p:nvSpPr>
            <p:spPr>
              <a:xfrm>
                <a:off x="412954" y="1555326"/>
                <a:ext cx="1533833" cy="207952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59FF9C-6274-A710-2225-7F4825FD69AA}"/>
                  </a:ext>
                </a:extLst>
              </p:cNvPr>
              <p:cNvSpPr txBox="1"/>
              <p:nvPr/>
            </p:nvSpPr>
            <p:spPr>
              <a:xfrm>
                <a:off x="538315" y="2133422"/>
                <a:ext cx="128311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Byte Code</a:t>
                </a:r>
              </a:p>
              <a:p>
                <a:pPr algn="ctr"/>
                <a:endParaRPr lang="en-US" b="1" dirty="0"/>
              </a:p>
              <a:p>
                <a:pPr algn="ctr"/>
                <a:r>
                  <a:rPr lang="en-US" b="1" dirty="0"/>
                  <a:t>(.class)</a:t>
                </a:r>
                <a:endParaRPr lang="en-IN" b="1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7EFE019-70A4-4A25-BC20-A91F95D79695}"/>
                </a:ext>
              </a:extLst>
            </p:cNvPr>
            <p:cNvGrpSpPr/>
            <p:nvPr/>
          </p:nvGrpSpPr>
          <p:grpSpPr>
            <a:xfrm>
              <a:off x="5189627" y="2539777"/>
              <a:ext cx="1476812" cy="1778426"/>
              <a:chOff x="412954" y="1555326"/>
              <a:chExt cx="1533833" cy="2079522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5BCA644-50CA-8570-3607-EC9EAFDE8227}"/>
                  </a:ext>
                </a:extLst>
              </p:cNvPr>
              <p:cNvSpPr/>
              <p:nvPr/>
            </p:nvSpPr>
            <p:spPr>
              <a:xfrm>
                <a:off x="412954" y="1555326"/>
                <a:ext cx="1533833" cy="207952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00BE10-7060-63D9-F12A-87A035657B01}"/>
                  </a:ext>
                </a:extLst>
              </p:cNvPr>
              <p:cNvSpPr txBox="1"/>
              <p:nvPr/>
            </p:nvSpPr>
            <p:spPr>
              <a:xfrm>
                <a:off x="538315" y="2133422"/>
                <a:ext cx="1283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J V M</a:t>
                </a:r>
                <a:endParaRPr lang="en-IN" b="1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EDBBCF6-4B58-7AE0-94EE-0CD6B84EBB3D}"/>
                </a:ext>
              </a:extLst>
            </p:cNvPr>
            <p:cNvGrpSpPr/>
            <p:nvPr/>
          </p:nvGrpSpPr>
          <p:grpSpPr>
            <a:xfrm>
              <a:off x="7211320" y="2428848"/>
              <a:ext cx="2271008" cy="2000304"/>
              <a:chOff x="412954" y="1555326"/>
              <a:chExt cx="1533833" cy="2079522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2669B5C-8C87-C711-38B9-E298A28E08DF}"/>
                  </a:ext>
                </a:extLst>
              </p:cNvPr>
              <p:cNvSpPr/>
              <p:nvPr/>
            </p:nvSpPr>
            <p:spPr>
              <a:xfrm>
                <a:off x="412954" y="1555326"/>
                <a:ext cx="1533833" cy="207952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D8F382-7297-F7B1-8FA1-59270B977CEF}"/>
                  </a:ext>
                </a:extLst>
              </p:cNvPr>
              <p:cNvSpPr txBox="1"/>
              <p:nvPr/>
            </p:nvSpPr>
            <p:spPr>
              <a:xfrm>
                <a:off x="538315" y="2133422"/>
                <a:ext cx="128311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Machine Understandable</a:t>
                </a:r>
              </a:p>
              <a:p>
                <a:pPr algn="ctr"/>
                <a:r>
                  <a:rPr lang="en-US" b="1" dirty="0"/>
                  <a:t>Format</a:t>
                </a:r>
                <a:endParaRPr lang="en-IN" b="1" dirty="0"/>
              </a:p>
            </p:txBody>
          </p: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3329E25-ADCF-1149-F5E4-8F9DE271D81D}"/>
                </a:ext>
              </a:extLst>
            </p:cNvPr>
            <p:cNvCxnSpPr>
              <a:cxnSpLocks/>
            </p:cNvCxnSpPr>
            <p:nvPr/>
          </p:nvCxnSpPr>
          <p:spPr>
            <a:xfrm>
              <a:off x="4644746" y="3438134"/>
              <a:ext cx="54488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6236CD5-7F1D-908E-D894-EB83E1B2D191}"/>
                </a:ext>
              </a:extLst>
            </p:cNvPr>
            <p:cNvCxnSpPr>
              <a:cxnSpLocks/>
            </p:cNvCxnSpPr>
            <p:nvPr/>
          </p:nvCxnSpPr>
          <p:spPr>
            <a:xfrm>
              <a:off x="1515858" y="3416783"/>
              <a:ext cx="54488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9ADE30D-BD2A-1BDD-AEED-F02830345DBA}"/>
                </a:ext>
              </a:extLst>
            </p:cNvPr>
            <p:cNvCxnSpPr>
              <a:cxnSpLocks/>
            </p:cNvCxnSpPr>
            <p:nvPr/>
          </p:nvCxnSpPr>
          <p:spPr>
            <a:xfrm>
              <a:off x="2925978" y="3438134"/>
              <a:ext cx="54488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B855276-2669-C4C0-E96D-7155A08904DF}"/>
                </a:ext>
              </a:extLst>
            </p:cNvPr>
            <p:cNvCxnSpPr>
              <a:cxnSpLocks/>
            </p:cNvCxnSpPr>
            <p:nvPr/>
          </p:nvCxnSpPr>
          <p:spPr>
            <a:xfrm>
              <a:off x="6666439" y="3438134"/>
              <a:ext cx="54488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196549A-FCA1-35E5-FE43-96B117FD3F53}"/>
                </a:ext>
              </a:extLst>
            </p:cNvPr>
            <p:cNvCxnSpPr>
              <a:cxnSpLocks/>
            </p:cNvCxnSpPr>
            <p:nvPr/>
          </p:nvCxnSpPr>
          <p:spPr>
            <a:xfrm>
              <a:off x="9482328" y="3444210"/>
              <a:ext cx="54488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4A8C91A-BFD7-0F22-881D-4F54C6334BD6}"/>
                </a:ext>
              </a:extLst>
            </p:cNvPr>
            <p:cNvGrpSpPr/>
            <p:nvPr/>
          </p:nvGrpSpPr>
          <p:grpSpPr>
            <a:xfrm>
              <a:off x="10027209" y="2527570"/>
              <a:ext cx="1476812" cy="1778426"/>
              <a:chOff x="412954" y="1555326"/>
              <a:chExt cx="1533833" cy="2079522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50C3D99-0FE8-1515-2F98-12F76E9460EA}"/>
                  </a:ext>
                </a:extLst>
              </p:cNvPr>
              <p:cNvSpPr/>
              <p:nvPr/>
            </p:nvSpPr>
            <p:spPr>
              <a:xfrm>
                <a:off x="412954" y="1555326"/>
                <a:ext cx="1533833" cy="207952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913D2BA-52B5-91CB-7165-DA8316C92E38}"/>
                  </a:ext>
                </a:extLst>
              </p:cNvPr>
              <p:cNvSpPr txBox="1"/>
              <p:nvPr/>
            </p:nvSpPr>
            <p:spPr>
              <a:xfrm>
                <a:off x="538315" y="2133422"/>
                <a:ext cx="1283110" cy="1403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/>
                  <a:t>OUTPUT</a:t>
                </a:r>
              </a:p>
              <a:p>
                <a:pPr algn="ctr"/>
                <a:endParaRPr lang="en-IN" b="1" dirty="0"/>
              </a:p>
              <a:p>
                <a:pPr algn="ctr"/>
                <a:r>
                  <a:rPr lang="en-IN" b="1" dirty="0"/>
                  <a:t>(Runs on Machine)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51678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4F63-093F-EB55-B6EA-075BB5401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7647"/>
          </a:xfrm>
        </p:spPr>
        <p:txBody>
          <a:bodyPr/>
          <a:lstStyle/>
          <a:p>
            <a:r>
              <a:rPr lang="en-US" b="1" dirty="0"/>
              <a:t>User code (.java file)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72E-B581-336A-EAB6-AE5A8F1F3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131"/>
            <a:ext cx="10515600" cy="4773832"/>
          </a:xfrm>
        </p:spPr>
        <p:txBody>
          <a:bodyPr/>
          <a:lstStyle/>
          <a:p>
            <a:r>
              <a:rPr lang="en-US" dirty="0"/>
              <a:t>Code written by the developer / programmer in </a:t>
            </a:r>
            <a:r>
              <a:rPr lang="en-US" b="1" dirty="0"/>
              <a:t>Java language.</a:t>
            </a:r>
          </a:p>
          <a:p>
            <a:r>
              <a:rPr lang="en-US" dirty="0"/>
              <a:t>Saved with </a:t>
            </a:r>
            <a:r>
              <a:rPr lang="en-US" b="1" i="1" dirty="0"/>
              <a:t>.java </a:t>
            </a:r>
            <a:r>
              <a:rPr lang="en-US" dirty="0"/>
              <a:t>extension.</a:t>
            </a:r>
          </a:p>
          <a:p>
            <a:r>
              <a:rPr lang="en-US" dirty="0"/>
              <a:t>Example filename: </a:t>
            </a:r>
            <a:r>
              <a:rPr lang="en-US" b="1" i="1" dirty="0"/>
              <a:t>xyz.java</a:t>
            </a:r>
          </a:p>
          <a:p>
            <a:r>
              <a:rPr lang="en-US" b="1" dirty="0"/>
              <a:t>Human readable </a:t>
            </a:r>
            <a:r>
              <a:rPr lang="en-US" dirty="0"/>
              <a:t>but machine cannot directly understand or run it.</a:t>
            </a:r>
          </a:p>
          <a:p>
            <a:r>
              <a:rPr lang="en-US" dirty="0"/>
              <a:t>Cannot be directly fed to the machine – needs translation layers.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AFD2D-CD45-7519-6FBA-5396BAE4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74578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655D6-6ED0-D33E-A9DD-29B7B1A87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623C7-E631-4C14-8086-AD97A14A7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7647"/>
          </a:xfrm>
        </p:spPr>
        <p:txBody>
          <a:bodyPr/>
          <a:lstStyle/>
          <a:p>
            <a:r>
              <a:rPr lang="en-US" b="1" dirty="0"/>
              <a:t>Compiler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831F8-3270-8685-CD11-0E50BC257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130"/>
            <a:ext cx="10515600" cy="49532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Compiler </a:t>
            </a:r>
            <a:r>
              <a:rPr lang="en-US" dirty="0"/>
              <a:t>is a translation layer that converts our human-readable Java source code (</a:t>
            </a:r>
            <a:r>
              <a:rPr lang="en-US" b="1" i="1" dirty="0"/>
              <a:t>.java</a:t>
            </a:r>
            <a:r>
              <a:rPr lang="en-US" i="1" dirty="0"/>
              <a:t> file</a:t>
            </a:r>
            <a:r>
              <a:rPr lang="en-US" dirty="0"/>
              <a:t>) into </a:t>
            </a:r>
            <a:r>
              <a:rPr lang="en-US" b="1" dirty="0"/>
              <a:t>Byte code </a:t>
            </a:r>
            <a:r>
              <a:rPr lang="en-US" dirty="0"/>
              <a:t>(</a:t>
            </a:r>
            <a:r>
              <a:rPr lang="en-US" b="1" i="1" dirty="0"/>
              <a:t>.class</a:t>
            </a:r>
            <a:r>
              <a:rPr lang="en-US" dirty="0"/>
              <a:t> file).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Input: </a:t>
            </a:r>
            <a:r>
              <a:rPr lang="en-US" dirty="0"/>
              <a:t>User code (</a:t>
            </a:r>
            <a:r>
              <a:rPr lang="en-US" b="1" i="1" dirty="0"/>
              <a:t>.java</a:t>
            </a:r>
            <a:r>
              <a:rPr lang="en-US" dirty="0"/>
              <a:t>)</a:t>
            </a:r>
          </a:p>
          <a:p>
            <a:r>
              <a:rPr lang="en-US" b="1" dirty="0"/>
              <a:t>Output: </a:t>
            </a:r>
            <a:r>
              <a:rPr lang="en-US" dirty="0"/>
              <a:t>Byte Code (</a:t>
            </a:r>
            <a:r>
              <a:rPr lang="en-US" b="1" i="1" dirty="0"/>
              <a:t>.class</a:t>
            </a:r>
            <a:r>
              <a:rPr lang="en-US" dirty="0"/>
              <a:t>)</a:t>
            </a:r>
          </a:p>
          <a:p>
            <a:r>
              <a:rPr lang="en-US" dirty="0"/>
              <a:t>It is </a:t>
            </a:r>
            <a:r>
              <a:rPr lang="en-US" b="1" dirty="0"/>
              <a:t>Layer 1</a:t>
            </a:r>
            <a:r>
              <a:rPr lang="en-US" dirty="0"/>
              <a:t> of translation.</a:t>
            </a:r>
          </a:p>
          <a:p>
            <a:r>
              <a:rPr lang="en-US" dirty="0"/>
              <a:t>Compiler support comes from </a:t>
            </a:r>
            <a:r>
              <a:rPr lang="en-US" b="1" dirty="0"/>
              <a:t>JDK</a:t>
            </a:r>
            <a:r>
              <a:rPr lang="en-US" dirty="0"/>
              <a:t>.</a:t>
            </a:r>
          </a:p>
          <a:p>
            <a:r>
              <a:rPr lang="en-US" dirty="0"/>
              <a:t>Does Not run the code – only converts it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Analogy:</a:t>
            </a:r>
            <a:r>
              <a:rPr lang="en-US" dirty="0"/>
              <a:t> We speak </a:t>
            </a:r>
            <a:r>
              <a:rPr lang="en-US" b="1" dirty="0"/>
              <a:t>Hindi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Compiler translates </a:t>
            </a:r>
            <a:r>
              <a:rPr lang="en-US" b="1" dirty="0">
                <a:sym typeface="Wingdings" panose="05000000000000000000" pitchFamily="2" charset="2"/>
              </a:rPr>
              <a:t>Hindi</a:t>
            </a:r>
            <a:r>
              <a:rPr lang="en-US" dirty="0">
                <a:sym typeface="Wingdings" panose="05000000000000000000" pitchFamily="2" charset="2"/>
              </a:rPr>
              <a:t> to </a:t>
            </a:r>
            <a:r>
              <a:rPr lang="en-US" b="1" dirty="0">
                <a:sym typeface="Wingdings" panose="05000000000000000000" pitchFamily="2" charset="2"/>
              </a:rPr>
              <a:t>English</a:t>
            </a:r>
            <a:r>
              <a:rPr lang="en-US" dirty="0">
                <a:sym typeface="Wingdings" panose="05000000000000000000" pitchFamily="2" charset="2"/>
              </a:rPr>
              <a:t> (intermediate language)  another layer translates </a:t>
            </a:r>
            <a:r>
              <a:rPr lang="en-US" b="1" dirty="0">
                <a:sym typeface="Wingdings" panose="05000000000000000000" pitchFamily="2" charset="2"/>
              </a:rPr>
              <a:t>English</a:t>
            </a:r>
            <a:r>
              <a:rPr lang="en-US" dirty="0">
                <a:sym typeface="Wingdings" panose="05000000000000000000" pitchFamily="2" charset="2"/>
              </a:rPr>
              <a:t> to </a:t>
            </a:r>
            <a:r>
              <a:rPr lang="en-US" b="1" dirty="0">
                <a:sym typeface="Wingdings" panose="05000000000000000000" pitchFamily="2" charset="2"/>
              </a:rPr>
              <a:t>French</a:t>
            </a:r>
            <a:r>
              <a:rPr lang="en-US" dirty="0">
                <a:sym typeface="Wingdings" panose="05000000000000000000" pitchFamily="2" charset="2"/>
              </a:rPr>
              <a:t> (Machine language)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EEB13-37A3-7CBF-8AB0-61095099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71964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B96CE-1F10-4E7D-9508-4C439E05D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EA90E-11F4-5F54-DBB8-6FADE85B5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7647"/>
          </a:xfrm>
        </p:spPr>
        <p:txBody>
          <a:bodyPr/>
          <a:lstStyle/>
          <a:p>
            <a:r>
              <a:rPr lang="en-US" b="1" dirty="0"/>
              <a:t>Byte Code (.class file)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2FC75-EAB9-9822-E15D-9963F2CA0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130"/>
            <a:ext cx="10515600" cy="4953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Byte Code </a:t>
            </a:r>
            <a:r>
              <a:rPr lang="en-US" dirty="0"/>
              <a:t>is an intermediate format of code generated by the compiler that is neither </a:t>
            </a:r>
            <a:r>
              <a:rPr lang="en-US" b="1" dirty="0"/>
              <a:t>human-readable nor directly machine-readable.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Key Characteristics:</a:t>
            </a:r>
          </a:p>
          <a:p>
            <a:r>
              <a:rPr lang="en-US" dirty="0"/>
              <a:t>Saved with </a:t>
            </a:r>
            <a:r>
              <a:rPr lang="en-US" b="1" i="1" dirty="0"/>
              <a:t>.class</a:t>
            </a:r>
            <a:r>
              <a:rPr lang="en-US" dirty="0"/>
              <a:t> extension.</a:t>
            </a:r>
          </a:p>
          <a:p>
            <a:r>
              <a:rPr lang="en-US" dirty="0"/>
              <a:t>Neither humans nor machines can understand it directly.</a:t>
            </a:r>
          </a:p>
          <a:p>
            <a:r>
              <a:rPr lang="en-US" dirty="0"/>
              <a:t>But it is </a:t>
            </a:r>
            <a:r>
              <a:rPr lang="en-US" b="1" dirty="0"/>
              <a:t>Platform Independent ✅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61F44-15AF-3534-A179-FFE170AF3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58892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574A0-A5C8-2C60-B670-DBE665D05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46470-E528-B993-8E1E-0BF2CA959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7647"/>
          </a:xfrm>
        </p:spPr>
        <p:txBody>
          <a:bodyPr/>
          <a:lstStyle/>
          <a:p>
            <a:r>
              <a:rPr lang="en-US" b="1" dirty="0"/>
              <a:t>Byte Code (.class file)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D64D4-B2F0-69E9-D328-9A0320035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130"/>
            <a:ext cx="10515600" cy="4953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Platform independence – What does it means?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93BAE-BCAC-5F69-F441-414BCA1E2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33</a:t>
            </a:fld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06A3E2-B439-67F8-9E46-DD7C06371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249425"/>
              </p:ext>
            </p:extLst>
          </p:nvPr>
        </p:nvGraphicFramePr>
        <p:xfrm>
          <a:off x="838200" y="2501900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501383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49661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Operating System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Can Byte Code Runs?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719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Windows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(via JVM) 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141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Mac OS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(via JVM) 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044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Linux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(via JVM) 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295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Any OS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(via JVM) 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2818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60D9D08-DF3F-F06E-6928-E7D00043D3E6}"/>
              </a:ext>
            </a:extLst>
          </p:cNvPr>
          <p:cNvSpPr txBox="1"/>
          <p:nvPr/>
        </p:nvSpPr>
        <p:spPr>
          <a:xfrm>
            <a:off x="838200" y="4808539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Point: </a:t>
            </a:r>
            <a:r>
              <a:rPr lang="en-US" dirty="0"/>
              <a:t>The SAME byte code can run on ANY operating system using JVM – this is what makes Java “</a:t>
            </a:r>
            <a:r>
              <a:rPr lang="en-US" b="1" dirty="0"/>
              <a:t>Write Once, Run Anywhere”.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784968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24997-781A-0A95-8D03-87E6C6176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1E01-3DD5-EA94-56EA-5DBCA35E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7647"/>
          </a:xfrm>
        </p:spPr>
        <p:txBody>
          <a:bodyPr/>
          <a:lstStyle/>
          <a:p>
            <a:r>
              <a:rPr lang="en-US" b="1" dirty="0"/>
              <a:t>JVM (Java Virtual Machine)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BFC4E-72E8-E4FA-033D-C64128D3B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130"/>
            <a:ext cx="10515600" cy="4953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JVM (Java Virtual Machine) </a:t>
            </a:r>
            <a:r>
              <a:rPr lang="en-US" dirty="0"/>
              <a:t>is a software that takes Byte Code as input, converts it into </a:t>
            </a:r>
            <a:r>
              <a:rPr lang="en-US" b="1" dirty="0"/>
              <a:t>Machine Understandable Format,</a:t>
            </a:r>
            <a:r>
              <a:rPr lang="en-US" dirty="0"/>
              <a:t> and </a:t>
            </a:r>
            <a:r>
              <a:rPr lang="en-US" b="1" dirty="0"/>
              <a:t>executes / runs</a:t>
            </a:r>
            <a:r>
              <a:rPr lang="en-US" dirty="0"/>
              <a:t> it on our machine.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Two Jobs of JVM:</a:t>
            </a:r>
          </a:p>
          <a:p>
            <a:r>
              <a:rPr lang="en-US" b="1" dirty="0"/>
              <a:t>Translation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Converts Byte Code  Machine Understandable Format.</a:t>
            </a:r>
          </a:p>
          <a:p>
            <a:r>
              <a:rPr lang="en-US" b="1" dirty="0">
                <a:sym typeface="Wingdings" panose="05000000000000000000" pitchFamily="2" charset="2"/>
              </a:rPr>
              <a:t>Execution</a:t>
            </a:r>
            <a:r>
              <a:rPr lang="en-US" dirty="0">
                <a:sym typeface="Wingdings" panose="05000000000000000000" pitchFamily="2" charset="2"/>
              </a:rPr>
              <a:t>  Runs that Machine Understandable code on our machine.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46F3A-EF3B-D270-ABF3-BE93BE305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27885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64BDC-B7C2-0BB9-A074-4A87D0748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72CCB-CE05-EAD8-C81B-F5F4D22FD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7647"/>
          </a:xfrm>
        </p:spPr>
        <p:txBody>
          <a:bodyPr/>
          <a:lstStyle/>
          <a:p>
            <a:r>
              <a:rPr lang="en-US" b="1" dirty="0"/>
              <a:t>JVM (Java Virtual Machine)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285EE-B7DB-B6AD-59EB-F36094DF6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130"/>
            <a:ext cx="10515600" cy="495321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Key Points:</a:t>
            </a:r>
          </a:p>
          <a:p>
            <a:r>
              <a:rPr lang="en-US" dirty="0"/>
              <a:t>Without JVM, Java program </a:t>
            </a:r>
            <a:r>
              <a:rPr lang="en-US" b="1" dirty="0"/>
              <a:t>cannot run</a:t>
            </a:r>
            <a:r>
              <a:rPr lang="en-US" dirty="0"/>
              <a:t> – period.</a:t>
            </a:r>
          </a:p>
          <a:p>
            <a:r>
              <a:rPr lang="en-US" dirty="0"/>
              <a:t>JVM is </a:t>
            </a:r>
            <a:r>
              <a:rPr lang="en-US" b="1" dirty="0"/>
              <a:t>platform dependent</a:t>
            </a:r>
            <a:r>
              <a:rPr lang="en-US" dirty="0"/>
              <a:t> (different JVM for Windows / Mac / Linux).</a:t>
            </a:r>
          </a:p>
          <a:p>
            <a:r>
              <a:rPr lang="en-US" dirty="0"/>
              <a:t>But Byte Code is </a:t>
            </a:r>
            <a:r>
              <a:rPr lang="en-US" b="1" dirty="0"/>
              <a:t>platform independent</a:t>
            </a:r>
            <a:r>
              <a:rPr lang="en-US" dirty="0"/>
              <a:t> – same byte code, different JVMs.</a:t>
            </a:r>
          </a:p>
          <a:p>
            <a:r>
              <a:rPr lang="en-US" dirty="0"/>
              <a:t>JVM is a component inside </a:t>
            </a:r>
            <a:r>
              <a:rPr lang="en-US" b="1" dirty="0"/>
              <a:t>JRE.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Analogy: </a:t>
            </a:r>
            <a:endParaRPr lang="en-US" dirty="0"/>
          </a:p>
          <a:p>
            <a:r>
              <a:rPr lang="en-US" dirty="0"/>
              <a:t>Compiler = Hindi to English translator.</a:t>
            </a:r>
          </a:p>
          <a:p>
            <a:r>
              <a:rPr lang="en-US" dirty="0"/>
              <a:t>JVM = English to French translator + person who delivers the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0FB05-2D94-AD82-A9E7-62EEACD11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15771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07C4-FC94-722E-C259-6E6C4BF74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DC330-8869-43D3-5A5E-6A99054DE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7647"/>
          </a:xfrm>
        </p:spPr>
        <p:txBody>
          <a:bodyPr/>
          <a:lstStyle/>
          <a:p>
            <a:r>
              <a:rPr lang="en-US" b="1" dirty="0"/>
              <a:t>JRE (Java Runtime Environment)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238BC-D905-3F01-1D6D-E35105528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130"/>
            <a:ext cx="10515600" cy="49532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JRE (Java Runtime Environment) </a:t>
            </a:r>
            <a:r>
              <a:rPr lang="en-US" dirty="0"/>
              <a:t>is a combination of </a:t>
            </a:r>
            <a:r>
              <a:rPr lang="en-US" b="1" dirty="0"/>
              <a:t>JVM + Libraries.</a:t>
            </a:r>
            <a:r>
              <a:rPr lang="en-US" dirty="0"/>
              <a:t> It provides the environment needed to </a:t>
            </a:r>
            <a:r>
              <a:rPr lang="en-US" b="1" dirty="0"/>
              <a:t>run</a:t>
            </a:r>
            <a:r>
              <a:rPr lang="en-US" dirty="0"/>
              <a:t> Java applications.</a:t>
            </a:r>
          </a:p>
          <a:p>
            <a:pPr marL="0" indent="0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JRE = JVM + Libraries</a:t>
            </a:r>
          </a:p>
          <a:p>
            <a:pPr marL="0" indent="0" algn="just">
              <a:buNone/>
            </a:pPr>
            <a:r>
              <a:rPr lang="en-US" b="1" dirty="0"/>
              <a:t>What are Libraries ?</a:t>
            </a:r>
          </a:p>
          <a:p>
            <a:pPr algn="just"/>
            <a:r>
              <a:rPr lang="en-US" b="1" dirty="0"/>
              <a:t>Pre-written code</a:t>
            </a:r>
            <a:r>
              <a:rPr lang="en-US" dirty="0"/>
              <a:t> that Java provides out of the box.</a:t>
            </a:r>
          </a:p>
          <a:p>
            <a:pPr algn="just"/>
            <a:r>
              <a:rPr lang="en-US" dirty="0"/>
              <a:t>Used for common tasks like:</a:t>
            </a:r>
          </a:p>
          <a:p>
            <a:pPr lvl="1" algn="just"/>
            <a:r>
              <a:rPr lang="en-US" dirty="0"/>
              <a:t>Printing Output (</a:t>
            </a:r>
            <a:r>
              <a:rPr lang="en-US" b="1" i="1" dirty="0"/>
              <a:t>system.out.println)</a:t>
            </a:r>
          </a:p>
          <a:p>
            <a:pPr lvl="1" algn="just"/>
            <a:r>
              <a:rPr lang="en-US" dirty="0"/>
              <a:t>Taking input (</a:t>
            </a:r>
            <a:r>
              <a:rPr lang="en-US" b="1" i="1" dirty="0"/>
              <a:t>Scanner</a:t>
            </a:r>
            <a:r>
              <a:rPr lang="en-US" dirty="0"/>
              <a:t>).</a:t>
            </a:r>
          </a:p>
          <a:p>
            <a:pPr lvl="1" algn="just"/>
            <a:r>
              <a:rPr lang="en-US" dirty="0"/>
              <a:t>Math operations, String handling, etc.</a:t>
            </a:r>
          </a:p>
          <a:p>
            <a:pPr algn="just"/>
            <a:r>
              <a:rPr lang="en-US" dirty="0"/>
              <a:t>We don’t write this code ourself – it’s already written &amp; available.</a:t>
            </a:r>
          </a:p>
          <a:p>
            <a:pPr algn="just"/>
            <a:r>
              <a:rPr lang="en-US" dirty="0"/>
              <a:t>Example: </a:t>
            </a:r>
            <a:r>
              <a:rPr lang="en-US" b="1" i="1" dirty="0"/>
              <a:t>System.out.println()</a:t>
            </a:r>
            <a:r>
              <a:rPr lang="en-US" dirty="0"/>
              <a:t> – the logic for printing is inside a library.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3060C-648B-A7DA-888C-C7C70C8E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7480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6727F-7227-A3B9-EC77-75F81D1AD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D87CE-B9C2-CE4D-093E-BE80E28D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7647"/>
          </a:xfrm>
        </p:spPr>
        <p:txBody>
          <a:bodyPr/>
          <a:lstStyle/>
          <a:p>
            <a:r>
              <a:rPr lang="en-US" b="1" dirty="0"/>
              <a:t>JRE (Java Runtime Environment)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A77DA-36CB-D43B-EF67-67E348B1F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37</a:t>
            </a:fld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4EFCE1F-F559-F44B-4098-F75FAB31EF4D}"/>
              </a:ext>
            </a:extLst>
          </p:cNvPr>
          <p:cNvGrpSpPr/>
          <p:nvPr/>
        </p:nvGrpSpPr>
        <p:grpSpPr>
          <a:xfrm>
            <a:off x="2398986" y="1671145"/>
            <a:ext cx="7394027" cy="4685205"/>
            <a:chOff x="2398986" y="1671145"/>
            <a:chExt cx="7394027" cy="46852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D9FBF3E-6458-0604-DD0C-4E50058BE575}"/>
                </a:ext>
              </a:extLst>
            </p:cNvPr>
            <p:cNvSpPr/>
            <p:nvPr/>
          </p:nvSpPr>
          <p:spPr>
            <a:xfrm>
              <a:off x="2398986" y="1671145"/>
              <a:ext cx="7394027" cy="468520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3AF2D23-EB53-F201-FB79-B906C6FA0F11}"/>
                </a:ext>
              </a:extLst>
            </p:cNvPr>
            <p:cNvGrpSpPr/>
            <p:nvPr/>
          </p:nvGrpSpPr>
          <p:grpSpPr>
            <a:xfrm>
              <a:off x="2853559" y="4311868"/>
              <a:ext cx="2932386" cy="1749973"/>
              <a:chOff x="2853559" y="4311868"/>
              <a:chExt cx="2932386" cy="1749973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5B6375E-A1DF-5526-76A2-7A672458F1D2}"/>
                  </a:ext>
                </a:extLst>
              </p:cNvPr>
              <p:cNvSpPr/>
              <p:nvPr/>
            </p:nvSpPr>
            <p:spPr>
              <a:xfrm>
                <a:off x="2853559" y="4311868"/>
                <a:ext cx="2932386" cy="174997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223D0C-0828-A961-90F7-927D978D949C}"/>
                  </a:ext>
                </a:extLst>
              </p:cNvPr>
              <p:cNvSpPr txBox="1"/>
              <p:nvPr/>
            </p:nvSpPr>
            <p:spPr>
              <a:xfrm>
                <a:off x="2936328" y="4635062"/>
                <a:ext cx="2723494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0070C0"/>
                    </a:solidFill>
                  </a:rPr>
                  <a:t>JVM</a:t>
                </a:r>
              </a:p>
              <a:p>
                <a:pPr algn="ctr"/>
                <a:endParaRPr lang="en-US" sz="2000" b="1" dirty="0">
                  <a:solidFill>
                    <a:srgbClr val="0070C0"/>
                  </a:solidFill>
                </a:endParaRPr>
              </a:p>
              <a:p>
                <a:pPr algn="ctr"/>
                <a:r>
                  <a:rPr lang="en-US" sz="2000" b="1" dirty="0">
                    <a:solidFill>
                      <a:srgbClr val="0070C0"/>
                    </a:solidFill>
                  </a:rPr>
                  <a:t>(Java Virtual Machine)</a:t>
                </a:r>
                <a:endParaRPr lang="en-IN" sz="2000" b="1" dirty="0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8F730AD-9F6A-E5FB-3887-7C4E7B04C8EF}"/>
                </a:ext>
              </a:extLst>
            </p:cNvPr>
            <p:cNvGrpSpPr/>
            <p:nvPr/>
          </p:nvGrpSpPr>
          <p:grpSpPr>
            <a:xfrm>
              <a:off x="6323286" y="4311867"/>
              <a:ext cx="2932386" cy="1749973"/>
              <a:chOff x="2853559" y="4311868"/>
              <a:chExt cx="2932386" cy="1749973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86A6898-F5BE-88C5-20A1-ABF270A60B49}"/>
                  </a:ext>
                </a:extLst>
              </p:cNvPr>
              <p:cNvSpPr/>
              <p:nvPr/>
            </p:nvSpPr>
            <p:spPr>
              <a:xfrm>
                <a:off x="2853559" y="4311868"/>
                <a:ext cx="2932386" cy="174997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AC8CEF-6AAB-A0E5-684B-7DEAC011A460}"/>
                  </a:ext>
                </a:extLst>
              </p:cNvPr>
              <p:cNvSpPr txBox="1"/>
              <p:nvPr/>
            </p:nvSpPr>
            <p:spPr>
              <a:xfrm>
                <a:off x="2936330" y="4986798"/>
                <a:ext cx="2737944" cy="4001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0070C0"/>
                    </a:solidFill>
                  </a:rPr>
                  <a:t>Libraries</a:t>
                </a:r>
                <a:endParaRPr lang="en-IN" sz="2000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77D049-B84B-42B4-080A-84761FAFFF26}"/>
                </a:ext>
              </a:extLst>
            </p:cNvPr>
            <p:cNvSpPr txBox="1"/>
            <p:nvPr/>
          </p:nvSpPr>
          <p:spPr>
            <a:xfrm>
              <a:off x="3712121" y="2393400"/>
              <a:ext cx="476775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JRE</a:t>
              </a:r>
            </a:p>
            <a:p>
              <a:pPr algn="ctr"/>
              <a:r>
                <a:rPr lang="en-US" sz="2800" b="1" dirty="0"/>
                <a:t>(Java Runtime Environment)</a:t>
              </a:r>
              <a:endParaRPr lang="en-IN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719026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24669-F04A-188B-71E3-EC838929D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F8960-CEA7-BC5F-36EE-0DBFEC977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7647"/>
          </a:xfrm>
        </p:spPr>
        <p:txBody>
          <a:bodyPr/>
          <a:lstStyle/>
          <a:p>
            <a:r>
              <a:rPr lang="en-US" b="1" dirty="0"/>
              <a:t>JDK (Java Development Kit)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1F985-E28E-ACA4-713F-7884D971B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130"/>
            <a:ext cx="10515600" cy="4953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JDK (Java Development Kit) </a:t>
            </a:r>
            <a:r>
              <a:rPr lang="en-US" dirty="0"/>
              <a:t>is the complete package that allows us to both </a:t>
            </a:r>
            <a:r>
              <a:rPr lang="en-US" b="1" dirty="0"/>
              <a:t>develop</a:t>
            </a:r>
            <a:r>
              <a:rPr lang="en-US" dirty="0"/>
              <a:t> and </a:t>
            </a:r>
            <a:r>
              <a:rPr lang="en-US" b="1" dirty="0"/>
              <a:t>run</a:t>
            </a:r>
            <a:r>
              <a:rPr lang="en-US" dirty="0"/>
              <a:t> Java applications. It contains JRE + development tools.</a:t>
            </a:r>
          </a:p>
          <a:p>
            <a:pPr marL="0" indent="0" algn="ctr">
              <a:buNone/>
            </a:pPr>
            <a:r>
              <a:rPr lang="en-US" b="1" dirty="0"/>
              <a:t>JDK = JRE + Development Tools</a:t>
            </a:r>
          </a:p>
          <a:p>
            <a:pPr marL="0" indent="0" algn="ctr">
              <a:buNone/>
            </a:pPr>
            <a:r>
              <a:rPr lang="en-US" b="1" dirty="0"/>
              <a:t>JRE = JVM + Libraries + Compiler + Debugger + Other Utilities</a:t>
            </a:r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b="1" dirty="0"/>
              <a:t>What’s inside JDK: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19972-0DCD-BC4D-7BD3-FBF4343D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38</a:t>
            </a:fld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638F60-ED3B-634A-27DF-6EAFC9712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829043"/>
              </p:ext>
            </p:extLst>
          </p:nvPr>
        </p:nvGraphicFramePr>
        <p:xfrm>
          <a:off x="838200" y="4684712"/>
          <a:ext cx="9321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945">
                  <a:extLst>
                    <a:ext uri="{9D8B030D-6E8A-4147-A177-3AD203B41FA5}">
                      <a16:colId xmlns:a16="http://schemas.microsoft.com/office/drawing/2014/main" val="4006535923"/>
                    </a:ext>
                  </a:extLst>
                </a:gridCol>
                <a:gridCol w="6202855">
                  <a:extLst>
                    <a:ext uri="{9D8B030D-6E8A-4147-A177-3AD203B41FA5}">
                      <a16:colId xmlns:a16="http://schemas.microsoft.com/office/drawing/2014/main" val="20927441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Tool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Purpose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03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Compiler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Converts </a:t>
                      </a:r>
                      <a:r>
                        <a:rPr lang="en-US" b="1" i="1" dirty="0"/>
                        <a:t>.java</a:t>
                      </a:r>
                      <a:r>
                        <a:rPr lang="en-US" b="0" i="0" dirty="0"/>
                        <a:t> to </a:t>
                      </a:r>
                      <a:r>
                        <a:rPr lang="en-US" b="1" i="1" dirty="0"/>
                        <a:t>.class</a:t>
                      </a:r>
                      <a:r>
                        <a:rPr lang="en-US" b="0" i="0" dirty="0"/>
                        <a:t> (Byte Code)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443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Debugger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Helps find &amp; fix error in code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029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Contains JVM + Libraires to run program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730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Other Utilities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Additional development tools.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258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1185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16424-C5ED-E3F4-BAE3-C69489787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EB613-3A64-7087-4B12-BEEC3A83F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7647"/>
          </a:xfrm>
        </p:spPr>
        <p:txBody>
          <a:bodyPr/>
          <a:lstStyle/>
          <a:p>
            <a:r>
              <a:rPr lang="en-US" b="1" dirty="0"/>
              <a:t>JDK (Java Development Kit)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36311-6453-45FE-5C53-4EC1C9DC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39</a:t>
            </a:fld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0D1790-E98F-0817-CA7B-29146FCB69E9}"/>
              </a:ext>
            </a:extLst>
          </p:cNvPr>
          <p:cNvGrpSpPr/>
          <p:nvPr/>
        </p:nvGrpSpPr>
        <p:grpSpPr>
          <a:xfrm>
            <a:off x="1658006" y="1513490"/>
            <a:ext cx="8875987" cy="5207985"/>
            <a:chOff x="1686910" y="1513490"/>
            <a:chExt cx="8875987" cy="520798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88FA742-0405-2898-4037-3777402EA14C}"/>
                </a:ext>
              </a:extLst>
            </p:cNvPr>
            <p:cNvSpPr/>
            <p:nvPr/>
          </p:nvSpPr>
          <p:spPr>
            <a:xfrm>
              <a:off x="1686910" y="1513490"/>
              <a:ext cx="8875987" cy="520798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90B383A-DACA-3148-AFE4-DD6755244BE2}"/>
                </a:ext>
              </a:extLst>
            </p:cNvPr>
            <p:cNvGrpSpPr/>
            <p:nvPr/>
          </p:nvGrpSpPr>
          <p:grpSpPr>
            <a:xfrm>
              <a:off x="2049518" y="2727433"/>
              <a:ext cx="7993116" cy="3765441"/>
              <a:chOff x="2398986" y="1671145"/>
              <a:chExt cx="7394027" cy="4685205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C19E1C1-488F-2F08-C560-503920073878}"/>
                  </a:ext>
                </a:extLst>
              </p:cNvPr>
              <p:cNvSpPr/>
              <p:nvPr/>
            </p:nvSpPr>
            <p:spPr>
              <a:xfrm>
                <a:off x="2398986" y="1671145"/>
                <a:ext cx="7394027" cy="468520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A390F50-F4AD-366B-B5C7-A01417E5B86C}"/>
                  </a:ext>
                </a:extLst>
              </p:cNvPr>
              <p:cNvGrpSpPr/>
              <p:nvPr/>
            </p:nvGrpSpPr>
            <p:grpSpPr>
              <a:xfrm>
                <a:off x="2853559" y="4311868"/>
                <a:ext cx="2932386" cy="1749973"/>
                <a:chOff x="2853559" y="4311868"/>
                <a:chExt cx="2932386" cy="1749973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062A152F-A82B-AF41-2F19-F9455EE8042C}"/>
                    </a:ext>
                  </a:extLst>
                </p:cNvPr>
                <p:cNvSpPr/>
                <p:nvPr/>
              </p:nvSpPr>
              <p:spPr>
                <a:xfrm>
                  <a:off x="2853559" y="4311868"/>
                  <a:ext cx="2932386" cy="1749973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488A8B0-43FD-0751-70CC-FAE6407510E3}"/>
                    </a:ext>
                  </a:extLst>
                </p:cNvPr>
                <p:cNvSpPr txBox="1"/>
                <p:nvPr/>
              </p:nvSpPr>
              <p:spPr>
                <a:xfrm>
                  <a:off x="2936328" y="4635062"/>
                  <a:ext cx="2723494" cy="1015663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0070C0"/>
                      </a:solidFill>
                    </a:rPr>
                    <a:t>JVM</a:t>
                  </a:r>
                </a:p>
                <a:p>
                  <a:pPr algn="ctr"/>
                  <a:endParaRPr lang="en-US" sz="2000" b="1" dirty="0">
                    <a:solidFill>
                      <a:srgbClr val="0070C0"/>
                    </a:solidFill>
                  </a:endParaRPr>
                </a:p>
                <a:p>
                  <a:pPr algn="ctr"/>
                  <a:r>
                    <a:rPr lang="en-US" sz="2000" b="1" dirty="0">
                      <a:solidFill>
                        <a:srgbClr val="0070C0"/>
                      </a:solidFill>
                    </a:rPr>
                    <a:t>(Java Virtual Machine)</a:t>
                  </a:r>
                  <a:endParaRPr lang="en-IN" sz="2000" b="1" dirty="0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9164860-BFB0-DECB-8952-61854DFC351C}"/>
                  </a:ext>
                </a:extLst>
              </p:cNvPr>
              <p:cNvGrpSpPr/>
              <p:nvPr/>
            </p:nvGrpSpPr>
            <p:grpSpPr>
              <a:xfrm>
                <a:off x="6323286" y="4311867"/>
                <a:ext cx="2932386" cy="1749973"/>
                <a:chOff x="2853559" y="4311868"/>
                <a:chExt cx="2932386" cy="1749973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2FD661F-5A0F-F252-D896-B46575B8CE59}"/>
                    </a:ext>
                  </a:extLst>
                </p:cNvPr>
                <p:cNvSpPr/>
                <p:nvPr/>
              </p:nvSpPr>
              <p:spPr>
                <a:xfrm>
                  <a:off x="2853559" y="4311868"/>
                  <a:ext cx="2932386" cy="1749973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C728DF4-189B-8B1C-9D0E-F466AFAFC5EB}"/>
                    </a:ext>
                  </a:extLst>
                </p:cNvPr>
                <p:cNvSpPr txBox="1"/>
                <p:nvPr/>
              </p:nvSpPr>
              <p:spPr>
                <a:xfrm>
                  <a:off x="2936330" y="4986798"/>
                  <a:ext cx="2737944" cy="40011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0070C0"/>
                      </a:solidFill>
                    </a:rPr>
                    <a:t>Libraries</a:t>
                  </a:r>
                  <a:endParaRPr lang="en-IN" sz="2000" b="1" dirty="0">
                    <a:solidFill>
                      <a:srgbClr val="0070C0"/>
                    </a:solidFill>
                  </a:endParaRPr>
                </a:p>
              </p:txBody>
            </p: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012692-1F79-D3CE-95FF-9706C5A0FF44}"/>
                  </a:ext>
                </a:extLst>
              </p:cNvPr>
              <p:cNvSpPr txBox="1"/>
              <p:nvPr/>
            </p:nvSpPr>
            <p:spPr>
              <a:xfrm>
                <a:off x="3712121" y="2393400"/>
                <a:ext cx="476775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JRE</a:t>
                </a:r>
              </a:p>
              <a:p>
                <a:pPr algn="ctr"/>
                <a:r>
                  <a:rPr lang="en-US" sz="2800" b="1" dirty="0"/>
                  <a:t>(Java Runtime Environment)</a:t>
                </a:r>
                <a:endParaRPr lang="en-IN" sz="2800" b="1" dirty="0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1D7C01-1466-EE83-CD83-77A217244C06}"/>
                </a:ext>
              </a:extLst>
            </p:cNvPr>
            <p:cNvSpPr txBox="1"/>
            <p:nvPr/>
          </p:nvSpPr>
          <p:spPr>
            <a:xfrm>
              <a:off x="3208283" y="1610848"/>
              <a:ext cx="567558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JDK</a:t>
              </a:r>
            </a:p>
            <a:p>
              <a:pPr algn="ctr"/>
              <a:r>
                <a:rPr lang="en-US" sz="3200" b="1" dirty="0"/>
                <a:t>Java Development Kit)</a:t>
              </a:r>
              <a:endParaRPr lang="en-IN" sz="3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7959307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08605-9A23-9383-4F11-EDA16344F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ctr"/>
            <a:r>
              <a:rPr lang="en-US" b="1" dirty="0"/>
              <a:t>Lecture 2 -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55BDE-EC9D-E7A5-2968-A125560F4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47107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is JIT Compilation &amp; how does JVM use it for Optimization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C8269-6273-57D9-8F91-0C3BDCC3D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60980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E1A22-2521-6DE6-5499-C8C6FE6DB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7FDBA-0B15-0641-CB0C-1F3E25FCD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ctr"/>
            <a:r>
              <a:rPr lang="en-US" b="1" dirty="0"/>
              <a:t>Lecture 2 -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8CE73-81F9-CC6A-7E25-55E25E106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47107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is the difference between Compiler vs Interpreter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1AECE-B160-970A-F5D6-311443B5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32214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5BF79-0EAA-DDFC-06D5-D9B73D7D1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7CB05-8007-E605-59C0-3B7EF4A05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ctr"/>
            <a:r>
              <a:rPr lang="en-US" b="1" dirty="0"/>
              <a:t>Lecture 2 -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F8B39-93A4-5275-9135-05FA527D6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47107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Is Java Compiled, Interpreted, or both ?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8D802-1105-FC2B-5D07-C58A1E349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59620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21FF-83C0-ABE5-9A70-593454F89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C11C9-28AB-3ED4-DD3B-78FE695C0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i="1" dirty="0"/>
              <a:t>Lecture 3 – IDE Setup for Coding</a:t>
            </a:r>
            <a:endParaRPr lang="en-IN" b="1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F5B572-1A35-2087-D3CE-E9AFF7418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01989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6B50-11DC-08F8-D0C4-6E4EE6285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24BE8-B41C-78F1-049C-10A9ACE8B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Ways to write JavaScript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B53DC-B8D0-A43A-B224-EA573CA24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47107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b="1" dirty="0"/>
              <a:t>Online Compiler</a:t>
            </a:r>
            <a:r>
              <a:rPr lang="en-US" dirty="0"/>
              <a:t> (quick, no setup needed)</a:t>
            </a:r>
          </a:p>
          <a:p>
            <a:pPr marL="514350" indent="-514350">
              <a:buAutoNum type="arabicPeriod"/>
            </a:pPr>
            <a:r>
              <a:rPr lang="en-US" b="1" dirty="0"/>
              <a:t>IntelliJ IDEA </a:t>
            </a:r>
            <a:r>
              <a:rPr lang="en-US" dirty="0"/>
              <a:t>(professional IDE used in companies)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B332D-09B8-B813-2866-27ED3E6E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37888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D52B-C896-A0F4-2746-608A179BC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101FD-C007-DC07-1BAB-11522D44C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Option 1: Online Compiler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9D787-FF32-6D96-39B3-BE35E5BFC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2"/>
            <a:ext cx="10515600" cy="489015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What is it ?</a:t>
            </a:r>
          </a:p>
          <a:p>
            <a:r>
              <a:rPr lang="en-US" dirty="0"/>
              <a:t>A </a:t>
            </a:r>
            <a:r>
              <a:rPr lang="en-US" b="1" dirty="0"/>
              <a:t>browser-based compiler</a:t>
            </a:r>
            <a:r>
              <a:rPr lang="en-US" dirty="0"/>
              <a:t> – no installation needed.</a:t>
            </a:r>
          </a:p>
          <a:p>
            <a:r>
              <a:rPr lang="en-US" dirty="0"/>
              <a:t>Built by CodeHelp team themselves.</a:t>
            </a:r>
          </a:p>
          <a:p>
            <a:r>
              <a:rPr lang="en-US" dirty="0"/>
              <a:t>Write code </a:t>
            </a:r>
            <a:r>
              <a:rPr lang="en-US" dirty="0">
                <a:sym typeface="Wingdings" panose="05000000000000000000" pitchFamily="2" charset="2"/>
              </a:rPr>
              <a:t> See output, all in one place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>
                <a:sym typeface="Wingdings" panose="05000000000000000000" pitchFamily="2" charset="2"/>
              </a:rPr>
              <a:t>How to use:</a:t>
            </a:r>
          </a:p>
          <a:p>
            <a:r>
              <a:rPr lang="en-US" b="1" dirty="0">
                <a:sym typeface="Wingdings" panose="05000000000000000000" pitchFamily="2" charset="2"/>
              </a:rPr>
              <a:t>STEP 1: </a:t>
            </a:r>
            <a:r>
              <a:rPr lang="en-US" dirty="0">
                <a:sym typeface="Wingdings" panose="05000000000000000000" pitchFamily="2" charset="2"/>
              </a:rPr>
              <a:t>Go to CodeHelp website</a:t>
            </a:r>
          </a:p>
          <a:p>
            <a:r>
              <a:rPr lang="en-US" b="1" dirty="0">
                <a:sym typeface="Wingdings" panose="05000000000000000000" pitchFamily="2" charset="2"/>
              </a:rPr>
              <a:t>STEP 2: </a:t>
            </a:r>
            <a:r>
              <a:rPr lang="en-US" dirty="0">
                <a:sym typeface="Wingdings" panose="05000000000000000000" pitchFamily="2" charset="2"/>
              </a:rPr>
              <a:t>Navigate to  Explore  Quick Compiler</a:t>
            </a:r>
          </a:p>
          <a:p>
            <a:r>
              <a:rPr lang="en-US" b="1" dirty="0">
                <a:sym typeface="Wingdings" panose="05000000000000000000" pitchFamily="2" charset="2"/>
              </a:rPr>
              <a:t>STEP 3: </a:t>
            </a:r>
            <a:r>
              <a:rPr lang="en-US" dirty="0">
                <a:sym typeface="Wingdings" panose="05000000000000000000" pitchFamily="2" charset="2"/>
              </a:rPr>
              <a:t>Select language  Java</a:t>
            </a:r>
          </a:p>
          <a:p>
            <a:r>
              <a:rPr lang="en-US" b="1" dirty="0">
                <a:sym typeface="Wingdings" panose="05000000000000000000" pitchFamily="2" charset="2"/>
              </a:rPr>
              <a:t>STEP 4: </a:t>
            </a:r>
            <a:r>
              <a:rPr lang="en-US" dirty="0">
                <a:sym typeface="Wingdings" panose="05000000000000000000" pitchFamily="2" charset="2"/>
              </a:rPr>
              <a:t>Write your Java code in the code window.</a:t>
            </a:r>
          </a:p>
          <a:p>
            <a:r>
              <a:rPr lang="en-US" b="1" dirty="0">
                <a:sym typeface="Wingdings" panose="05000000000000000000" pitchFamily="2" charset="2"/>
              </a:rPr>
              <a:t>STEP 5: </a:t>
            </a:r>
            <a:r>
              <a:rPr lang="en-US" dirty="0">
                <a:sym typeface="Wingdings" panose="05000000000000000000" pitchFamily="2" charset="2"/>
              </a:rPr>
              <a:t>Provide input (if needed) in input window.</a:t>
            </a:r>
          </a:p>
          <a:p>
            <a:r>
              <a:rPr lang="en-US" b="1" dirty="0">
                <a:sym typeface="Wingdings" panose="05000000000000000000" pitchFamily="2" charset="2"/>
              </a:rPr>
              <a:t>STEP 6: </a:t>
            </a:r>
            <a:r>
              <a:rPr lang="en-US" dirty="0">
                <a:sym typeface="Wingdings" panose="05000000000000000000" pitchFamily="2" charset="2"/>
              </a:rPr>
              <a:t>Click Run  Output appears in output window.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A6EF2-FACD-239F-B32E-42F19F4C6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7554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D9000-85B6-9A8F-1F2B-66636A0CD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EF2DC-1185-C5E0-8DF1-188791DAC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Option 1: Online Compiler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7F518-DABE-4476-A053-EB79CC923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2"/>
            <a:ext cx="10515600" cy="48901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Structure of Online Compiler UI: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4DFFE-F840-2927-D6C6-6850AE1A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46</a:t>
            </a:fld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3083DD-A1B1-EB89-1505-855270527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928187"/>
              </p:ext>
            </p:extLst>
          </p:nvPr>
        </p:nvGraphicFramePr>
        <p:xfrm>
          <a:off x="838200" y="2166357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3248">
                  <a:extLst>
                    <a:ext uri="{9D8B030D-6E8A-4147-A177-3AD203B41FA5}">
                      <a16:colId xmlns:a16="http://schemas.microsoft.com/office/drawing/2014/main" val="1083239263"/>
                    </a:ext>
                  </a:extLst>
                </a:gridCol>
                <a:gridCol w="6072352">
                  <a:extLst>
                    <a:ext uri="{9D8B030D-6E8A-4147-A177-3AD203B41FA5}">
                      <a16:colId xmlns:a16="http://schemas.microsoft.com/office/drawing/2014/main" val="2968213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Purpose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25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Code Window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 your Java code here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543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Input Window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 input values for your program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818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Output Window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See the result / output of your code.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4593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59D3515-DD3B-A919-6988-8DADA4D7C7F0}"/>
              </a:ext>
            </a:extLst>
          </p:cNvPr>
          <p:cNvSpPr txBox="1"/>
          <p:nvPr/>
        </p:nvSpPr>
        <p:spPr>
          <a:xfrm>
            <a:off x="838200" y="3911270"/>
            <a:ext cx="1051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When to use Online Compiler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Quick testing of small program.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we don’t want to install anything.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Beginners just starting 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 file programs.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Cannot manage </a:t>
            </a:r>
            <a:r>
              <a:rPr lang="en-US" b="1" dirty="0"/>
              <a:t>multiple files </a:t>
            </a:r>
            <a:r>
              <a:rPr lang="en-US" dirty="0"/>
              <a:t>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suitable for </a:t>
            </a:r>
            <a:r>
              <a:rPr lang="en-US" b="1" dirty="0"/>
              <a:t>large projects.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Less features compared to a full IDE.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119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D2F7-A25F-7FAB-4EC9-5DB790A0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AA4C2-E342-B079-7079-22B11C755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Option 2: IntelliJ IDEA (Professional IDE)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AEB53-59CB-16BE-B443-B2330B6C1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IntelliJ IDEA (Professional IDE)</a:t>
            </a:r>
          </a:p>
          <a:p>
            <a:r>
              <a:rPr lang="en-US" b="1" dirty="0"/>
              <a:t>IntelliJ IDEA </a:t>
            </a:r>
            <a:r>
              <a:rPr lang="en-US" dirty="0"/>
              <a:t>is a professional </a:t>
            </a:r>
            <a:r>
              <a:rPr lang="en-US" b="1" dirty="0"/>
              <a:t>Integrated Development Environment (IDE)</a:t>
            </a:r>
            <a:r>
              <a:rPr lang="en-US" dirty="0"/>
              <a:t> used widely in companies for Java development.</a:t>
            </a:r>
          </a:p>
          <a:p>
            <a:r>
              <a:rPr lang="en-US" dirty="0"/>
              <a:t>It provides a complete environment to write, compile, debug, and run Java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7F79-0E43-83B4-C8F9-F85CE7482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79945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39585-755E-9ADB-E364-A3DC7779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8CD8A-8274-D9AC-A033-8615FD2F2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Option 2: IntelliJ IDEA (Professional IDE)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66574-7386-8991-001E-90F7E586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 IntelliJ IDEA ?</a:t>
            </a:r>
          </a:p>
          <a:p>
            <a:r>
              <a:rPr lang="en-US" dirty="0"/>
              <a:t>Used by </a:t>
            </a:r>
            <a:r>
              <a:rPr lang="en-US" b="1" dirty="0"/>
              <a:t>majority of companies</a:t>
            </a:r>
            <a:r>
              <a:rPr lang="en-US" dirty="0"/>
              <a:t> for Java development.</a:t>
            </a:r>
          </a:p>
          <a:p>
            <a:r>
              <a:rPr lang="en-US" dirty="0"/>
              <a:t>Support </a:t>
            </a:r>
            <a:r>
              <a:rPr lang="en-US" b="1" dirty="0"/>
              <a:t>multiple files</a:t>
            </a:r>
            <a:r>
              <a:rPr lang="en-US" dirty="0"/>
              <a:t> management.</a:t>
            </a:r>
          </a:p>
          <a:p>
            <a:r>
              <a:rPr lang="en-US" dirty="0"/>
              <a:t>Organized </a:t>
            </a:r>
            <a:r>
              <a:rPr lang="en-US" b="1" dirty="0"/>
              <a:t>project structure.</a:t>
            </a:r>
          </a:p>
          <a:p>
            <a:r>
              <a:rPr lang="en-US" dirty="0"/>
              <a:t>Built-in </a:t>
            </a:r>
            <a:r>
              <a:rPr lang="en-US" b="1" dirty="0"/>
              <a:t>compiler, debugger, and other tools.</a:t>
            </a:r>
          </a:p>
          <a:p>
            <a:r>
              <a:rPr lang="en-US" dirty="0"/>
              <a:t>Industry standard tool.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C7B4B-1662-22AA-D728-4DCB736F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53633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46D09-D7C8-7261-1870-0FB18701E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A488-5687-1C3B-C4DD-3FB0F4B88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Option 2: IntelliJ IDEA (Professional IDE)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E9482-FB2B-890A-8E4E-5D11F71E9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IntelliJ IDEA Setup Steps: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STEP 1: Download</a:t>
            </a:r>
          </a:p>
          <a:p>
            <a:r>
              <a:rPr lang="en-US" dirty="0"/>
              <a:t>Search “IntelliJ IDEA Community Edition”.</a:t>
            </a:r>
          </a:p>
          <a:p>
            <a:r>
              <a:rPr lang="en-US" dirty="0"/>
              <a:t>Go to first link (</a:t>
            </a:r>
            <a:r>
              <a:rPr lang="en-US" dirty="0">
                <a:hlinkClick r:id="rId2"/>
              </a:rPr>
              <a:t>JetBrains Official Website</a:t>
            </a:r>
            <a:r>
              <a:rPr lang="en-US" dirty="0"/>
              <a:t>).</a:t>
            </a:r>
          </a:p>
          <a:p>
            <a:r>
              <a:rPr lang="en-US" dirty="0"/>
              <a:t>Download the correct version for your OS:</a:t>
            </a:r>
          </a:p>
          <a:p>
            <a:pPr lvl="1"/>
            <a:r>
              <a:rPr lang="en-US" dirty="0"/>
              <a:t>Windows </a:t>
            </a:r>
            <a:r>
              <a:rPr lang="en-US" dirty="0">
                <a:sym typeface="Wingdings" panose="05000000000000000000" pitchFamily="2" charset="2"/>
              </a:rPr>
              <a:t> .exe file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Mac  .dmg file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Linux  .tar.gz file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DBE2F-F4F4-B871-8F18-241D5A643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49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642E25-91A7-5EA6-F58F-0FB3D33BF577}"/>
              </a:ext>
            </a:extLst>
          </p:cNvPr>
          <p:cNvSpPr txBox="1"/>
          <p:nvPr/>
        </p:nvSpPr>
        <p:spPr>
          <a:xfrm>
            <a:off x="709447" y="5864773"/>
            <a:ext cx="97115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NOTE: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Always download </a:t>
            </a:r>
            <a:r>
              <a:rPr lang="en-US" b="1" dirty="0"/>
              <a:t>Community Edition </a:t>
            </a:r>
            <a:r>
              <a:rPr lang="en-US" dirty="0"/>
              <a:t>– it’s FREE.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Ultimate Edition is PAID.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82324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3E9F5-400A-D449-0043-C20324B8B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C842-1365-D8A1-31DB-213A80503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Option 2: IntelliJ IDEA (Professional IDE)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4E23F-7D92-925F-A8A5-00B77D4A0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2: Install</a:t>
            </a:r>
          </a:p>
          <a:p>
            <a:r>
              <a:rPr lang="en-US" dirty="0"/>
              <a:t>Windows:</a:t>
            </a:r>
          </a:p>
          <a:p>
            <a:pPr lvl="1"/>
            <a:r>
              <a:rPr lang="en-US" dirty="0"/>
              <a:t>Double click .exe file</a:t>
            </a:r>
          </a:p>
          <a:p>
            <a:pPr lvl="1"/>
            <a:r>
              <a:rPr lang="en-US" dirty="0"/>
              <a:t>Next </a:t>
            </a:r>
            <a:r>
              <a:rPr lang="en-US" dirty="0">
                <a:sym typeface="Wingdings" panose="05000000000000000000" pitchFamily="2" charset="2"/>
              </a:rPr>
              <a:t> Next  Finish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Mac: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Double click .dmg file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Drag IntelliJ to Application folder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Open from Applications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65742-9096-83B0-8A3C-C8828874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133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B7220-A5C9-E936-63EA-E6BF8169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5EF2-8F6C-7AC3-4C2C-8832EACED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Option 2: IntelliJ IDEA (Professional IDE)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84B2A-3D44-76B9-4658-6B7C5563A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3: Create New Project</a:t>
            </a:r>
          </a:p>
          <a:p>
            <a:r>
              <a:rPr lang="en-US" dirty="0"/>
              <a:t>Open IntelliJ IDEA</a:t>
            </a:r>
          </a:p>
          <a:p>
            <a:r>
              <a:rPr lang="en-US" dirty="0"/>
              <a:t>Click “New Project”</a:t>
            </a:r>
          </a:p>
          <a:p>
            <a:r>
              <a:rPr lang="en-US" dirty="0"/>
              <a:t>Enter Project Name (e.g., JavaDSA)</a:t>
            </a:r>
          </a:p>
          <a:p>
            <a:r>
              <a:rPr lang="en-US" dirty="0"/>
              <a:t>Set Location </a:t>
            </a:r>
            <a:r>
              <a:rPr lang="en-US" dirty="0">
                <a:sym typeface="Wingdings" panose="05000000000000000000" pitchFamily="2" charset="2"/>
              </a:rPr>
              <a:t> Desktop (or preferred folder)</a:t>
            </a:r>
          </a:p>
          <a:p>
            <a:r>
              <a:rPr lang="en-US" dirty="0">
                <a:sym typeface="Wingdings" panose="05000000000000000000" pitchFamily="2" charset="2"/>
              </a:rPr>
              <a:t>Build System  IntelliJ</a:t>
            </a:r>
          </a:p>
          <a:p>
            <a:r>
              <a:rPr lang="en-US" dirty="0">
                <a:sym typeface="Wingdings" panose="05000000000000000000" pitchFamily="2" charset="2"/>
              </a:rPr>
              <a:t>JDK  Select / Download JDK (auto-downloads if not present)</a:t>
            </a:r>
          </a:p>
          <a:p>
            <a:r>
              <a:rPr lang="en-US" dirty="0">
                <a:sym typeface="Wingdings" panose="05000000000000000000" pitchFamily="2" charset="2"/>
              </a:rPr>
              <a:t>Click “Create”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9D134-21EC-0BB5-AF42-B0A798032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51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59E0E-3801-6E2B-61A8-1E3E5D18DEAC}"/>
              </a:ext>
            </a:extLst>
          </p:cNvPr>
          <p:cNvSpPr txBox="1"/>
          <p:nvPr/>
        </p:nvSpPr>
        <p:spPr>
          <a:xfrm>
            <a:off x="838199" y="5785945"/>
            <a:ext cx="10103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Important:</a:t>
            </a:r>
            <a:r>
              <a:rPr lang="en-US" dirty="0"/>
              <a:t> When we create a project, IntelliJ automatically </a:t>
            </a:r>
            <a:r>
              <a:rPr lang="en-US" b="1" dirty="0"/>
              <a:t>download &amp; installs JDK</a:t>
            </a:r>
            <a:r>
              <a:rPr lang="en-US" dirty="0"/>
              <a:t> if not already present on our system. This JDK given us the complete development environment (Compiler + JVM + Libraries).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5709983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B173-54E4-C0A5-9FC8-C46EE9CF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3371-B04C-77E2-CBDF-A3CE08692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Option 2: IntelliJ IDEA (Professional IDE)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FE435-30F2-3B96-A565-2DF8DAD39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52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E18FD4-39B1-3777-158F-66B2C0ADA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903" y="1324304"/>
            <a:ext cx="5818194" cy="530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098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14724-4CA1-22DE-671C-9775796DE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95B7F-445C-0562-3D03-18F074F92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Option 2: IntelliJ IDEA (Professional IDE)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BCCD7-73CF-D478-13ED-A797EFFB0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4: Project Structure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EDA14-0046-D24E-30EE-6526E5D26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53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010C23-B002-E086-1B8F-05855F5BD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697" y="2263039"/>
            <a:ext cx="4206605" cy="23319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1513E5-D2BA-386F-C0A6-FD157390B59D}"/>
              </a:ext>
            </a:extLst>
          </p:cNvPr>
          <p:cNvSpPr txBox="1"/>
          <p:nvPr/>
        </p:nvSpPr>
        <p:spPr>
          <a:xfrm>
            <a:off x="838200" y="4718958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JavaDSA/</a:t>
            </a:r>
            <a:r>
              <a:rPr lang="en-IN" dirty="0"/>
              <a:t> 		</a:t>
            </a:r>
            <a:r>
              <a:rPr lang="en-IN" dirty="0">
                <a:sym typeface="Wingdings" panose="05000000000000000000" pitchFamily="2" charset="2"/>
              </a:rPr>
              <a:t> Project Root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ym typeface="Wingdings" panose="05000000000000000000" pitchFamily="2" charset="2"/>
              </a:rPr>
              <a:t>src/			</a:t>
            </a:r>
            <a:r>
              <a:rPr lang="en-IN" dirty="0">
                <a:sym typeface="Wingdings" panose="05000000000000000000" pitchFamily="2" charset="2"/>
              </a:rPr>
              <a:t> Source Folder (Write code here)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ym typeface="Wingdings" panose="05000000000000000000" pitchFamily="2" charset="2"/>
              </a:rPr>
              <a:t>Main.java		</a:t>
            </a:r>
            <a:r>
              <a:rPr lang="en-IN" dirty="0">
                <a:sym typeface="Wingdings" panose="05000000000000000000" pitchFamily="2" charset="2"/>
              </a:rPr>
              <a:t> Default Java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ym typeface="Wingdings" panose="05000000000000000000" pitchFamily="2" charset="2"/>
              </a:rPr>
              <a:t>External Libraries/	</a:t>
            </a:r>
            <a:r>
              <a:rPr lang="en-IN" dirty="0">
                <a:sym typeface="Wingdings" panose="05000000000000000000" pitchFamily="2" charset="2"/>
              </a:rPr>
              <a:t> Pre-loaded Java Libraries (JRE)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776137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26F07-DF91-9531-C5B0-988A0989C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D5F0D-38EB-694B-596A-8581C35E7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Option 2: IntelliJ IDEA (Professional IDE)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FB815-6CE6-88B3-820A-1C6FA915C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5: Create our own Java File</a:t>
            </a:r>
          </a:p>
          <a:p>
            <a:r>
              <a:rPr lang="en-IN" dirty="0"/>
              <a:t>Right click on “src” folder.</a:t>
            </a:r>
          </a:p>
          <a:p>
            <a:r>
              <a:rPr lang="en-IN" dirty="0"/>
              <a:t>Click “New”.</a:t>
            </a:r>
          </a:p>
          <a:p>
            <a:r>
              <a:rPr lang="en-IN" dirty="0"/>
              <a:t>Click “Java Class”.</a:t>
            </a:r>
          </a:p>
          <a:p>
            <a:r>
              <a:rPr lang="en-IN" dirty="0"/>
              <a:t>Enter class name (e.g., maggi).</a:t>
            </a:r>
          </a:p>
          <a:p>
            <a:pPr lvl="1"/>
            <a:r>
              <a:rPr lang="en-IN" dirty="0"/>
              <a:t>File created: maggi.java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D039C-F1A4-19DF-EF27-30790CC04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54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06FF7-C827-E20E-F59B-E75694615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965" y="1996930"/>
            <a:ext cx="5712600" cy="18134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7648F4-01B9-E2D9-A772-F7E90116B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575909"/>
            <a:ext cx="4160881" cy="2194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A3BDC6-8563-7B04-0AC6-B64A2A2A1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576" y="4575909"/>
            <a:ext cx="4497486" cy="154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7827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3FF13-7E2D-2884-AF1D-5B6F1B9BB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B311F-C33C-C4F5-3AD9-2F3693562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Option 2: IntelliJ IDEA (Professional IDE)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D7455-83CB-EBEF-B889-095DE70E1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6: Run a Java File</a:t>
            </a:r>
          </a:p>
          <a:p>
            <a:r>
              <a:rPr lang="en-IN" dirty="0"/>
              <a:t>Open any </a:t>
            </a:r>
            <a:r>
              <a:rPr lang="en-IN" b="1" i="1" dirty="0"/>
              <a:t>.java</a:t>
            </a:r>
            <a:r>
              <a:rPr lang="en-IN" dirty="0"/>
              <a:t> file</a:t>
            </a:r>
          </a:p>
          <a:p>
            <a:r>
              <a:rPr lang="en-IN" dirty="0"/>
              <a:t>Click the </a:t>
            </a:r>
            <a:r>
              <a:rPr lang="en-IN" b="1" dirty="0"/>
              <a:t>GREEN ARROW </a:t>
            </a:r>
            <a:r>
              <a:rPr lang="en-IN" dirty="0"/>
              <a:t>button on the left of “</a:t>
            </a:r>
            <a:r>
              <a:rPr lang="en-IN" b="1" dirty="0"/>
              <a:t>main</a:t>
            </a:r>
            <a:r>
              <a:rPr lang="en-IN" dirty="0"/>
              <a:t>”.</a:t>
            </a:r>
          </a:p>
          <a:p>
            <a:r>
              <a:rPr lang="en-IN" dirty="0"/>
              <a:t>Select “</a:t>
            </a:r>
            <a:r>
              <a:rPr lang="en-IN" b="1" dirty="0"/>
              <a:t>Run</a:t>
            </a:r>
            <a:r>
              <a:rPr lang="en-IN" dirty="0"/>
              <a:t>”.</a:t>
            </a:r>
          </a:p>
          <a:p>
            <a:r>
              <a:rPr lang="en-IN" dirty="0"/>
              <a:t>Output appears in the bottom console window.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04B45-AB10-366F-E58F-00C178CDA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117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82BAC-ADAC-FE10-3EA4-FEAF3FE43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1015-0CE3-1377-C3D9-D20C3CF8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Online Compiler </a:t>
            </a:r>
            <a:r>
              <a:rPr lang="en-US" dirty="0"/>
              <a:t>vs </a:t>
            </a:r>
            <a:r>
              <a:rPr lang="en-US" b="1" dirty="0"/>
              <a:t>IntelliJ IDEA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6DFFD-5189-BD73-FF1A-900DA9D4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56</a:t>
            </a:fld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AE2EB9-A1F4-0001-01BB-5339764A9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207842"/>
              </p:ext>
            </p:extLst>
          </p:nvPr>
        </p:nvGraphicFramePr>
        <p:xfrm>
          <a:off x="838200" y="1945640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5863015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170499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33255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Online Compiler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IntelliJ IDEA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79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Setup needed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❌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(one-time) 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056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Internet required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✅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❌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271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Multiple files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❌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896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Project Structure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❌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525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Debugger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❌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60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Used in companies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Rarely ❌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(Industry standard) 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55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Best for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Quick testing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Full development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645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6107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D12F-9A94-785C-60A7-F9007FCD2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247E8-3328-80F5-E579-2DD10DD21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ctr"/>
            <a:r>
              <a:rPr lang="en-US" b="1" dirty="0"/>
              <a:t>Lecture 3 -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EDF31-24B8-DCAE-796A-3CA2A3D3A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47107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is an IDE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5F900-27B0-53AC-074A-40183DDBA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52781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007BC-DCF8-74A0-01FF-D095EB792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2278C-F0D5-55DE-1139-E04D46952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ctr"/>
            <a:r>
              <a:rPr lang="en-US" b="1" dirty="0"/>
              <a:t>Lecture 3 -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8F73C-3C73-577D-0BA5-3348106AF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47107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Why is IntelliJ IDEA preferred for Java development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00E59-5336-87F2-51B5-7B2E831BC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8773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9161D-8244-AE58-3002-2594F4144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2FC84-9F43-E094-9F70-FDD5D6721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ctr"/>
            <a:r>
              <a:rPr lang="en-US" b="1" dirty="0"/>
              <a:t>Lecture 3 -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2976B-4620-CA04-36C8-7F544857D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47107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happens when we click Run in IntelliJ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2A3CF-2C4D-7BC8-0C25-1882E4A6C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12010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AB087-1DAB-8044-601E-77C9B39BC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DE473-1056-11BA-1C90-373D6F34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ctr"/>
            <a:r>
              <a:rPr lang="en-US" b="1" dirty="0"/>
              <a:t>Lecture 3 -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20525-3275-53B9-D373-1CD609CF6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47107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is the difference between Online compiler &amp; IDE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00E80-6435-5211-5BDB-7BB8ED71B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5885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13B0-84F8-4826-64B3-9579C06A1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E3FBD-B65C-3CBD-7533-639E9C823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i="1" dirty="0"/>
              <a:t>Lecture 4 – Write your FIRST Java Program</a:t>
            </a:r>
            <a:endParaRPr lang="en-IN" b="1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C2B61E-8D9D-0E0A-E60E-6CA116FF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17866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4250-5821-3180-8B87-175B56A1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94EC0-995D-451C-2CC2-C18ABBC58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Function / Method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69C1D-CF7F-3D99-61CE-CCA8C9875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</a:p>
          <a:p>
            <a:r>
              <a:rPr lang="en-US" dirty="0"/>
              <a:t>A </a:t>
            </a:r>
            <a:r>
              <a:rPr lang="en-US" b="1" dirty="0"/>
              <a:t>Function</a:t>
            </a:r>
            <a:r>
              <a:rPr lang="en-US" dirty="0"/>
              <a:t> (C++) or </a:t>
            </a:r>
            <a:r>
              <a:rPr lang="en-US" b="1" dirty="0"/>
              <a:t>Method</a:t>
            </a:r>
            <a:r>
              <a:rPr lang="en-US" dirty="0"/>
              <a:t> (Java) is an entity created to perform a </a:t>
            </a:r>
            <a:r>
              <a:rPr lang="en-US" b="1" dirty="0"/>
              <a:t>single responsibility</a:t>
            </a:r>
            <a:r>
              <a:rPr lang="en-US" dirty="0"/>
              <a:t> / </a:t>
            </a:r>
            <a:r>
              <a:rPr lang="en-US" b="1" dirty="0"/>
              <a:t>single task</a:t>
            </a:r>
            <a:r>
              <a:rPr lang="en-US" dirty="0"/>
              <a:t>. It takes input &amp; return output.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Key points:</a:t>
            </a:r>
            <a:endParaRPr lang="en-US" dirty="0"/>
          </a:p>
          <a:p>
            <a:r>
              <a:rPr lang="en-US" dirty="0"/>
              <a:t>In </a:t>
            </a:r>
            <a:r>
              <a:rPr lang="en-US" b="1" dirty="0"/>
              <a:t>C++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called </a:t>
            </a:r>
            <a:r>
              <a:rPr lang="en-US" b="1" dirty="0">
                <a:sym typeface="Wingdings" panose="05000000000000000000" pitchFamily="2" charset="2"/>
              </a:rPr>
              <a:t>Function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r>
              <a:rPr lang="en-US" dirty="0">
                <a:sym typeface="Wingdings" panose="05000000000000000000" pitchFamily="2" charset="2"/>
              </a:rPr>
              <a:t>In </a:t>
            </a:r>
            <a:r>
              <a:rPr lang="en-US" b="1" dirty="0">
                <a:sym typeface="Wingdings" panose="05000000000000000000" pitchFamily="2" charset="2"/>
              </a:rPr>
              <a:t>Java</a:t>
            </a:r>
            <a:r>
              <a:rPr lang="en-US" dirty="0">
                <a:sym typeface="Wingdings" panose="05000000000000000000" pitchFamily="2" charset="2"/>
              </a:rPr>
              <a:t>  called </a:t>
            </a:r>
            <a:r>
              <a:rPr lang="en-US" b="1" dirty="0">
                <a:sym typeface="Wingdings" panose="05000000000000000000" pitchFamily="2" charset="2"/>
              </a:rPr>
              <a:t>Method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r>
              <a:rPr lang="en-US" dirty="0">
                <a:sym typeface="Wingdings" panose="05000000000000000000" pitchFamily="2" charset="2"/>
              </a:rPr>
              <a:t>Both terms mean the </a:t>
            </a:r>
            <a:r>
              <a:rPr lang="en-US" b="1" dirty="0">
                <a:sym typeface="Wingdings" panose="05000000000000000000" pitchFamily="2" charset="2"/>
              </a:rPr>
              <a:t>same thing</a:t>
            </a:r>
            <a:r>
              <a:rPr lang="en-US" dirty="0">
                <a:sym typeface="Wingdings" panose="05000000000000000000" pitchFamily="2" charset="2"/>
              </a:rPr>
              <a:t> – used interchangeably.</a:t>
            </a:r>
          </a:p>
          <a:p>
            <a:r>
              <a:rPr lang="en-US" dirty="0">
                <a:sym typeface="Wingdings" panose="05000000000000000000" pitchFamily="2" charset="2"/>
              </a:rPr>
              <a:t>Named such that its </a:t>
            </a:r>
            <a:r>
              <a:rPr lang="en-US" b="1" dirty="0">
                <a:sym typeface="Wingdings" panose="05000000000000000000" pitchFamily="2" charset="2"/>
              </a:rPr>
              <a:t>name reflects its task</a:t>
            </a:r>
            <a:r>
              <a:rPr lang="en-US" dirty="0">
                <a:sym typeface="Wingdings" panose="05000000000000000000" pitchFamily="2" charset="2"/>
              </a:rPr>
              <a:t>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6A317-E2CF-1DDA-85B4-53F1D4FE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7401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5A952-48F8-2C80-EC20-2FF960C90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941F-BF69-C594-BDE2-4EDF8B9CC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Function / Method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9CA7E-DA9F-9F2D-3DB1-A05D249B7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63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8675AA-5A20-A450-AA77-5DA815587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311" y="1260296"/>
            <a:ext cx="4905375" cy="2924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B4A73B-FBC2-1161-0FCB-81C42D52D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437" y="3824426"/>
            <a:ext cx="823912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2308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F6F57-90C8-8154-7D1D-2AB6D95FD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5861C-C32A-226E-A780-91F0523E4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Return Types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17425-F832-0B89-5453-174C593AB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</a:p>
          <a:p>
            <a:r>
              <a:rPr lang="en-US" b="1" dirty="0"/>
              <a:t>Return Type</a:t>
            </a:r>
            <a:r>
              <a:rPr lang="en-US" dirty="0"/>
              <a:t> tells us what type of value a function / method will return after execution.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Key Rule:</a:t>
            </a:r>
          </a:p>
          <a:p>
            <a:r>
              <a:rPr lang="en-IN" dirty="0"/>
              <a:t>If a function </a:t>
            </a:r>
            <a:r>
              <a:rPr lang="en-IN" b="1" dirty="0"/>
              <a:t>does NOT return any value</a:t>
            </a:r>
            <a:r>
              <a:rPr lang="en-IN" dirty="0"/>
              <a:t>, its return type is </a:t>
            </a:r>
            <a:r>
              <a:rPr lang="en-IN" b="1" i="1" dirty="0"/>
              <a:t>void</a:t>
            </a:r>
            <a:r>
              <a:rPr lang="en-IN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A8FBC-008D-DECC-F4EE-DE510604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64</a:t>
            </a:fld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CA7A60-1D0F-AC66-6AD9-C904A1C51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81540"/>
              </p:ext>
            </p:extLst>
          </p:nvPr>
        </p:nvGraphicFramePr>
        <p:xfrm>
          <a:off x="838200" y="2643789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0338955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945020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94907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Return 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859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int</a:t>
                      </a:r>
                      <a:endParaRPr lang="en-IN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an integer number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add()</a:t>
                      </a:r>
                      <a:r>
                        <a:rPr lang="en-US" b="0" i="1" dirty="0"/>
                        <a:t> </a:t>
                      </a:r>
                      <a:r>
                        <a:rPr lang="en-US" b="0" i="0" dirty="0"/>
                        <a:t>returns 5</a:t>
                      </a:r>
                      <a:endParaRPr lang="en-IN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29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char</a:t>
                      </a:r>
                      <a:endParaRPr lang="en-IN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single character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‘A’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442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String</a:t>
                      </a:r>
                      <a:endParaRPr lang="en-IN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sequence of characters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“Lav”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29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void</a:t>
                      </a:r>
                      <a:endParaRPr lang="en-IN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</a:t>
                      </a:r>
                      <a:r>
                        <a:rPr lang="en-US" b="1" dirty="0"/>
                        <a:t>nothing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 err="1"/>
                        <a:t>printName</a:t>
                      </a:r>
                      <a:r>
                        <a:rPr lang="en-US" b="1" i="1" dirty="0"/>
                        <a:t>()</a:t>
                      </a:r>
                      <a:endParaRPr lang="en-IN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464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4581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BAB0B-66EF-669F-7C5C-615256A66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0AC2-E2C8-8A4D-93CB-B3224476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Block of Code (Curly Brackets </a:t>
            </a:r>
            <a:r>
              <a:rPr lang="en-US" b="1" i="1" dirty="0"/>
              <a:t>{}</a:t>
            </a:r>
            <a:r>
              <a:rPr lang="en-US" b="1" dirty="0"/>
              <a:t>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CAE6D-7483-B532-9EFB-67596DE28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</a:p>
          <a:p>
            <a:r>
              <a:rPr lang="en-US" b="1" dirty="0"/>
              <a:t>Curly brackets </a:t>
            </a:r>
            <a:r>
              <a:rPr lang="en-US" b="1" i="1" dirty="0"/>
              <a:t>{}</a:t>
            </a:r>
            <a:r>
              <a:rPr lang="en-US" dirty="0"/>
              <a:t> defines a </a:t>
            </a:r>
            <a:r>
              <a:rPr lang="en-US" b="1" dirty="0"/>
              <a:t>Block of code</a:t>
            </a:r>
            <a:r>
              <a:rPr lang="en-US" dirty="0"/>
              <a:t> – all code written inside these brackets </a:t>
            </a:r>
            <a:r>
              <a:rPr lang="en-US" b="1" dirty="0"/>
              <a:t>belongs to that function</a:t>
            </a:r>
            <a:r>
              <a:rPr lang="en-US" dirty="0"/>
              <a:t> / </a:t>
            </a:r>
            <a:r>
              <a:rPr lang="en-US" b="1" dirty="0"/>
              <a:t>method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Analogy:</a:t>
            </a:r>
          </a:p>
          <a:p>
            <a:r>
              <a:rPr lang="en-US" dirty="0"/>
              <a:t>Just like money inside a wallet belongs to the wallet’s oner – code inside </a:t>
            </a:r>
            <a:r>
              <a:rPr lang="en-US" b="1" i="1" dirty="0"/>
              <a:t>{}</a:t>
            </a:r>
            <a:r>
              <a:rPr lang="en-US" dirty="0"/>
              <a:t> belongs to that function.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96C7E-4F9F-E33B-D572-DA240799F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92993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E0368-4AC2-7774-8473-2E7929015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D3D17-99B5-8471-1901-2881DC66C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Block of Code (Curly Brackets </a:t>
            </a:r>
            <a:r>
              <a:rPr lang="en-US" b="1" i="1" dirty="0"/>
              <a:t>{}</a:t>
            </a:r>
            <a:r>
              <a:rPr lang="en-US" b="1" dirty="0"/>
              <a:t>)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A4926-21D2-1B8B-0F85-256612425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66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B3E7D5-3447-D287-45D9-BAEB77E52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331" y="1597856"/>
            <a:ext cx="7363338" cy="448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5795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AB236-143E-116A-FE49-BDA08BCE7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0DAD7-5480-019F-D0A1-7CF634A88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Main Function – Entry Point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88C86-0073-66E1-87B5-43F7387E6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</a:p>
          <a:p>
            <a:r>
              <a:rPr lang="en-US" b="1" i="1" dirty="0"/>
              <a:t>main </a:t>
            </a:r>
            <a:r>
              <a:rPr lang="en-US" dirty="0"/>
              <a:t>is a special function that acts as the </a:t>
            </a:r>
            <a:r>
              <a:rPr lang="en-US" b="1" dirty="0"/>
              <a:t>Entry Point </a:t>
            </a:r>
            <a:r>
              <a:rPr lang="en-US" dirty="0"/>
              <a:t>of a Java program – execution always starts from here.</a:t>
            </a:r>
            <a:endParaRPr lang="en-US" i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Why </a:t>
            </a:r>
            <a:r>
              <a:rPr lang="en-US" b="1" i="1" dirty="0"/>
              <a:t>main</a:t>
            </a:r>
            <a:r>
              <a:rPr lang="en-US" b="1" dirty="0"/>
              <a:t> ?</a:t>
            </a:r>
          </a:p>
          <a:p>
            <a:r>
              <a:rPr lang="en-US" dirty="0"/>
              <a:t>A code file can have </a:t>
            </a:r>
            <a:r>
              <a:rPr lang="en-US" b="1" dirty="0"/>
              <a:t>thousands of lines</a:t>
            </a:r>
            <a:r>
              <a:rPr lang="en-US" dirty="0"/>
              <a:t>.</a:t>
            </a:r>
          </a:p>
          <a:p>
            <a:r>
              <a:rPr lang="en-US" dirty="0"/>
              <a:t>The compiler needs to know </a:t>
            </a:r>
            <a:r>
              <a:rPr lang="en-US" b="1" dirty="0"/>
              <a:t>where to start execution</a:t>
            </a:r>
            <a:r>
              <a:rPr lang="en-US" dirty="0"/>
              <a:t>.</a:t>
            </a:r>
          </a:p>
          <a:p>
            <a:r>
              <a:rPr lang="en-US" b="1" i="1" dirty="0"/>
              <a:t>main </a:t>
            </a:r>
            <a:r>
              <a:rPr lang="en-US" dirty="0"/>
              <a:t>function = Starting point = entry point.</a:t>
            </a:r>
          </a:p>
          <a:p>
            <a:r>
              <a:rPr lang="en-US" dirty="0"/>
              <a:t>Without </a:t>
            </a:r>
            <a:r>
              <a:rPr lang="en-US" b="1" i="1" dirty="0"/>
              <a:t>main</a:t>
            </a:r>
            <a:r>
              <a:rPr lang="en-US" dirty="0"/>
              <a:t>, program doesn’t know where to begin.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F662F-CA58-8EE4-BB28-3BBF8C1B2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54274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5F2EF-A45F-0447-D731-07C515B9C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1D732-BFC3-8955-9185-DED254158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Main Function – Entry Point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3955D-3253-5D0E-15D7-BED6B7F83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Two ways to write Main in Java: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Way 1: Modern / Latest Java (Simpler)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D434A-2D4A-293D-51D6-FC8A79C9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68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B88289-5D4A-B708-1908-9B9FCEB3C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676" y="3002026"/>
            <a:ext cx="6708648" cy="335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721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E0314-01D8-459E-D8B3-830A52A51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CD266-0A5E-F054-F4C3-E6396673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Main Function – Entry Point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9B91F-E8EC-B226-EA84-3357BC389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Way 2: Classical Java (Industry Standard)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24D5F-A373-DEDD-1A22-F16E2CEB4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69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D12C14-1656-A3FE-94AE-D9EE4F2FD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255" y="2254186"/>
            <a:ext cx="7197489" cy="401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8767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60F71-2338-E9A9-D2AE-49A7029B4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66441-A52A-F595-4D0D-08DC2CE53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Main Function – Entry Point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CF89C-0F7F-C948-28CA-44A39ED67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Breaking down Classical Main: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22316-D250-29DD-F5BC-97FD1881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70</a:t>
            </a:fld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D76860-49EB-0E0E-126C-3578E38D3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039565"/>
              </p:ext>
            </p:extLst>
          </p:nvPr>
        </p:nvGraphicFramePr>
        <p:xfrm>
          <a:off x="838200" y="2289787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117">
                  <a:extLst>
                    <a:ext uri="{9D8B030D-6E8A-4147-A177-3AD203B41FA5}">
                      <a16:colId xmlns:a16="http://schemas.microsoft.com/office/drawing/2014/main" val="1614516234"/>
                    </a:ext>
                  </a:extLst>
                </a:gridCol>
                <a:gridCol w="3547242">
                  <a:extLst>
                    <a:ext uri="{9D8B030D-6E8A-4147-A177-3AD203B41FA5}">
                      <a16:colId xmlns:a16="http://schemas.microsoft.com/office/drawing/2014/main" val="4094395316"/>
                    </a:ext>
                  </a:extLst>
                </a:gridCol>
                <a:gridCol w="3928241">
                  <a:extLst>
                    <a:ext uri="{9D8B030D-6E8A-4147-A177-3AD203B41FA5}">
                      <a16:colId xmlns:a16="http://schemas.microsoft.com/office/drawing/2014/main" val="1592472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Known Now ?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863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b="1" i="1" dirty="0"/>
                        <a:t>public</a:t>
                      </a:r>
                      <a:endParaRPr lang="en-IN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Access Modifier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Later (OOPs)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976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b="1" i="1" dirty="0"/>
                        <a:t>class Main</a:t>
                      </a:r>
                      <a:endParaRPr lang="en-IN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Container / box for all code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Basic understanding now, detail later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799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b="1" i="1" dirty="0"/>
                        <a:t>static</a:t>
                      </a:r>
                      <a:endParaRPr lang="en-IN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Keyword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Later (OOPs)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628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b="1" i="1" dirty="0"/>
                        <a:t>void</a:t>
                      </a:r>
                      <a:endParaRPr lang="en-IN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Return type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returns nothing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Yes 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85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b="1" i="1" dirty="0"/>
                        <a:t>main</a:t>
                      </a:r>
                      <a:endParaRPr lang="en-IN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Function name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entry point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Yes 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39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b="1" i="1" dirty="0"/>
                        <a:t>String[] args</a:t>
                      </a:r>
                      <a:endParaRPr lang="en-IN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Command line arguments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Later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556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b="1" i="1" dirty="0"/>
                        <a:t>{}</a:t>
                      </a:r>
                      <a:endParaRPr lang="en-IN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Block of code belonging to main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Yes 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965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b="1" i="1" dirty="0"/>
                        <a:t>;</a:t>
                      </a:r>
                      <a:endParaRPr lang="en-IN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Line terminator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Yes 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379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27C70A-1D2B-441A-FAFF-DACCD38B2015}"/>
              </a:ext>
            </a:extLst>
          </p:cNvPr>
          <p:cNvSpPr txBox="1"/>
          <p:nvPr/>
        </p:nvSpPr>
        <p:spPr>
          <a:xfrm>
            <a:off x="838200" y="5864772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Shortcut in IntelliJ:</a:t>
            </a:r>
          </a:p>
          <a:p>
            <a:r>
              <a:rPr lang="en-US" b="1" i="1" dirty="0" err="1"/>
              <a:t>psvm</a:t>
            </a:r>
            <a:r>
              <a:rPr lang="en-US" dirty="0"/>
              <a:t> + Tab </a:t>
            </a:r>
            <a:r>
              <a:rPr lang="en-US" dirty="0">
                <a:sym typeface="Wingdings" panose="05000000000000000000" pitchFamily="2" charset="2"/>
              </a:rPr>
              <a:t> auto-generates </a:t>
            </a:r>
            <a:r>
              <a:rPr lang="en-US" b="1" i="1" dirty="0">
                <a:sym typeface="Wingdings" panose="05000000000000000000" pitchFamily="2" charset="2"/>
              </a:rPr>
              <a:t>public static void main(String[] args)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4723606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E77EC-32D5-CA38-D8F2-1374C096F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778E-FC08-7EBC-09BF-34864BCC4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Class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098F9-AB6E-24B8-9706-3E97462C7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Definition (Basic for now):</a:t>
            </a:r>
          </a:p>
          <a:p>
            <a:r>
              <a:rPr lang="en-US" dirty="0"/>
              <a:t>A </a:t>
            </a:r>
            <a:r>
              <a:rPr lang="en-US" b="1" dirty="0"/>
              <a:t>Class</a:t>
            </a:r>
            <a:r>
              <a:rPr lang="en-US" dirty="0"/>
              <a:t> is a </a:t>
            </a:r>
            <a:r>
              <a:rPr lang="en-US" b="1" dirty="0"/>
              <a:t>container / box</a:t>
            </a:r>
            <a:r>
              <a:rPr lang="en-US" dirty="0"/>
              <a:t> that holds all our code.</a:t>
            </a:r>
          </a:p>
          <a:p>
            <a:r>
              <a:rPr lang="en-US" dirty="0"/>
              <a:t>Every Java program must have at least one class.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Deep dive into Class </a:t>
            </a:r>
            <a:r>
              <a:rPr lang="en-US" dirty="0">
                <a:sym typeface="Wingdings" panose="05000000000000000000" pitchFamily="2" charset="2"/>
              </a:rPr>
              <a:t> covered in </a:t>
            </a:r>
            <a:r>
              <a:rPr lang="en-US" b="1" dirty="0">
                <a:sym typeface="Wingdings" panose="05000000000000000000" pitchFamily="2" charset="2"/>
              </a:rPr>
              <a:t>OOPs lectures </a:t>
            </a:r>
            <a:r>
              <a:rPr lang="en-US" dirty="0">
                <a:sym typeface="Wingdings" panose="05000000000000000000" pitchFamily="2" charset="2"/>
              </a:rPr>
              <a:t>later in the series.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13156-1205-3FE1-AD87-C075650D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71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9575ED-C1A6-2D20-CE7E-0BF898537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394" y="2649473"/>
            <a:ext cx="5125212" cy="293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42940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865A0-FB4E-0A1A-6144-8A3C2E9C0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69761-0302-FB65-A15D-98D9D3F50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 err="1"/>
              <a:t>System.out.println</a:t>
            </a:r>
            <a:r>
              <a:rPr lang="en-US" dirty="0"/>
              <a:t> vs </a:t>
            </a:r>
            <a:r>
              <a:rPr lang="en-US" b="1" dirty="0" err="1"/>
              <a:t>System.out.print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9D04D-041C-CFEB-CD25-465CFC445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 err="1"/>
              <a:t>System.out.println</a:t>
            </a:r>
            <a:r>
              <a:rPr lang="en-US" dirty="0"/>
              <a:t> (Print + new line)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1AA7F-7E16-18DC-5C9A-154F5050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72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F415B2-EFBB-D9C5-D0BD-8AD6EE871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443" y="2073276"/>
            <a:ext cx="7361114" cy="478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557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CF805-DCB3-FD1E-A222-AA9A13E5F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E188C-EDBF-4367-1B8D-97C767661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 err="1"/>
              <a:t>System.out.println</a:t>
            </a:r>
            <a:r>
              <a:rPr lang="en-US" dirty="0"/>
              <a:t> vs </a:t>
            </a:r>
            <a:r>
              <a:rPr lang="en-US" b="1" dirty="0" err="1"/>
              <a:t>System.out.print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E60BA-0DB8-4BD8-46A1-FBA0FA262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 err="1"/>
              <a:t>System.out.print</a:t>
            </a:r>
            <a:r>
              <a:rPr lang="en-US" dirty="0"/>
              <a:t> (Print only, no new line)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CD34D-7DB3-C11C-1A5C-051D310B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73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697BE0-89F8-A993-58C9-49D8979F6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028" y="2102612"/>
            <a:ext cx="7105943" cy="461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605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D1708-8070-8607-9A49-B776E4D5A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B71C-CA5D-0F17-D7BD-4F4F137D2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String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C6E40-33FB-F974-FC58-8ABEE52AE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</a:p>
          <a:p>
            <a:r>
              <a:rPr lang="en-US" dirty="0"/>
              <a:t>A </a:t>
            </a:r>
            <a:r>
              <a:rPr lang="en-US" b="1" dirty="0"/>
              <a:t>String</a:t>
            </a:r>
            <a:r>
              <a:rPr lang="en-US" dirty="0"/>
              <a:t> is a sequence of characters written inside </a:t>
            </a:r>
            <a:r>
              <a:rPr lang="en-US" b="1" dirty="0"/>
              <a:t>double inverted commas </a:t>
            </a:r>
            <a:r>
              <a:rPr lang="en-US" b="1" i="1" dirty="0"/>
              <a:t>“ ”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33B57-DA28-A21D-115C-927DD7837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74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7FBCF7-647D-B60C-F855-2913731F5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669" y="2865636"/>
            <a:ext cx="8854662" cy="372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559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2919B-6CD8-B45A-D39B-29589B729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A1D0D-7A86-4EA5-F449-57489036F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String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B7AD4-71B9-E33C-B3F1-EA92E817E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Rule:</a:t>
            </a:r>
          </a:p>
          <a:p>
            <a:r>
              <a:rPr lang="en-US" dirty="0"/>
              <a:t>Anything inside </a:t>
            </a:r>
            <a:r>
              <a:rPr lang="en-US" b="1" i="1" dirty="0"/>
              <a:t>“” </a:t>
            </a:r>
            <a:r>
              <a:rPr lang="en-US" dirty="0"/>
              <a:t>is treated as a </a:t>
            </a:r>
            <a:r>
              <a:rPr lang="en-US" b="1" dirty="0"/>
              <a:t>String</a:t>
            </a:r>
            <a:r>
              <a:rPr lang="en-US" dirty="0"/>
              <a:t> – </a:t>
            </a:r>
            <a:r>
              <a:rPr lang="en-US" b="1" dirty="0"/>
              <a:t>NOT </a:t>
            </a:r>
            <a:r>
              <a:rPr lang="en-US" dirty="0"/>
              <a:t>evaluated mathematically.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0E300-BA4F-89D5-A3D6-771E2B6AE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75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36A44F-01BE-5AEE-3F0D-B79FCD02B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816" y="2936748"/>
            <a:ext cx="8690367" cy="320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2198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9316A-D8F9-AD46-9735-1678326A0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1358-FA83-44B0-0741-B637121FE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String Concatenation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4B66D-8AAF-5A30-380E-BF58C23BF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</a:p>
          <a:p>
            <a:r>
              <a:rPr lang="en-US" b="1" dirty="0"/>
              <a:t>Concatenation </a:t>
            </a:r>
            <a:r>
              <a:rPr lang="en-US" dirty="0"/>
              <a:t>= Joining 2 or more Strings using </a:t>
            </a:r>
            <a:r>
              <a:rPr lang="en-US" b="1" i="1" dirty="0"/>
              <a:t>+</a:t>
            </a:r>
            <a:r>
              <a:rPr lang="en-US" dirty="0"/>
              <a:t> operator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69EBE-3F0F-46AC-FCDE-3E1FD65D5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76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F3E77E-8D80-A208-0FEB-178D5416C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21" y="2619946"/>
            <a:ext cx="9872957" cy="363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59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24201-960C-7F6E-5F2B-3894AE3FA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AA02-81F0-67DA-CC6F-4F0CB7B69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String Concatenation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7BF34-E44A-76F8-1107-195422837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Important Rule: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EFA2D-39C5-06EF-4C28-03B4BE98F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77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C3DB6F-1A7F-8C19-BB85-0E6B03FDE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188" y="2199322"/>
            <a:ext cx="8421624" cy="352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74671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DF4BE-F3EA-CC32-4A76-3A22B299D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971B3-67EA-DFC0-0F04-D333B4816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Semicolon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7EB70-5C69-A9B6-0921-616641876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</a:p>
          <a:p>
            <a:r>
              <a:rPr lang="en-US" b="1" dirty="0"/>
              <a:t>Semicolon </a:t>
            </a:r>
            <a:r>
              <a:rPr lang="en-US" b="1" i="1" dirty="0"/>
              <a:t>; </a:t>
            </a:r>
            <a:r>
              <a:rPr lang="en-US" dirty="0"/>
              <a:t>marks the end / termination of a statement in Java.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46921-4EF1-1E6F-296F-6372126A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78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D53AE4-3D8B-B5DE-59CB-A69A2C0A2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279" y="2662426"/>
            <a:ext cx="9703442" cy="369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181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CC55-C1D8-BD21-F2FF-33D49290E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FD7B5-D928-B1C5-1B7B-9C3811C50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Comments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21B2-E124-D05A-AD3F-56CDC874B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</a:p>
          <a:p>
            <a:r>
              <a:rPr lang="en-US" b="1" dirty="0"/>
              <a:t>Comments</a:t>
            </a:r>
            <a:r>
              <a:rPr lang="en-US" dirty="0"/>
              <a:t> are lines in code that are </a:t>
            </a:r>
            <a:r>
              <a:rPr lang="en-US" b="1" dirty="0"/>
              <a:t>ignored by the compiler – </a:t>
            </a:r>
            <a:r>
              <a:rPr lang="en-US" dirty="0"/>
              <a:t>they do NOT execute.</a:t>
            </a:r>
          </a:p>
          <a:p>
            <a:r>
              <a:rPr lang="en-US" dirty="0"/>
              <a:t>Used for documentation &amp; explanation.</a:t>
            </a:r>
          </a:p>
          <a:p>
            <a:endParaRPr lang="en-US" dirty="0"/>
          </a:p>
          <a:p>
            <a:r>
              <a:rPr lang="en-US" dirty="0"/>
              <a:t>There are 2 types of comments:</a:t>
            </a:r>
          </a:p>
          <a:p>
            <a:pPr lvl="1"/>
            <a:r>
              <a:rPr lang="en-US" b="1" dirty="0"/>
              <a:t>Single-line</a:t>
            </a:r>
            <a:r>
              <a:rPr lang="en-US" dirty="0"/>
              <a:t> comments (//)</a:t>
            </a:r>
          </a:p>
          <a:p>
            <a:pPr lvl="1"/>
            <a:r>
              <a:rPr lang="en-US" b="1" dirty="0"/>
              <a:t>Multi-line</a:t>
            </a:r>
            <a:r>
              <a:rPr lang="en-US" dirty="0"/>
              <a:t> Comments (/* */)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A26E6-1EC4-639A-2C8A-A6D137E08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0943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DDD32-5F72-411C-18F1-85D0F4506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23DE1-1C71-5904-03A3-9B9E8583E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Comments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E5779-A442-6B5B-9D3D-D697FC82D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Type 1: </a:t>
            </a:r>
            <a:r>
              <a:rPr lang="en-US" dirty="0"/>
              <a:t>Single-line Comments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B2143-3BA8-6A6C-154C-4F3B3877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80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F93EDD-2217-8492-C466-CA1E206E0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038" y="2168724"/>
            <a:ext cx="9723923" cy="357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6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DC611-A365-D0F1-924F-C5F7F6775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0D240-B213-C217-9851-539B09834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Comments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D0A90-872F-61F9-3DA4-E27E872D6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Type 2: </a:t>
            </a:r>
            <a:r>
              <a:rPr lang="en-US" dirty="0"/>
              <a:t>Multi-line Comments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1DD4E-68FC-FC9A-D410-F3A69E9B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81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6C4137-5CBE-4CB1-F8B7-F829DD71C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18" y="1947226"/>
            <a:ext cx="9555563" cy="442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6834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E5372-68E0-7A85-C155-1F1F3E5E1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09071-2CC7-8249-0CCF-8DBEB9670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Comments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8022D-A1A8-F611-511D-9062B5837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When to use comments ?</a:t>
            </a:r>
          </a:p>
          <a:p>
            <a:r>
              <a:rPr lang="en-US" dirty="0"/>
              <a:t>Explain complex logic</a:t>
            </a:r>
          </a:p>
          <a:p>
            <a:r>
              <a:rPr lang="en-US" dirty="0"/>
              <a:t>Temporarily disable code without deleting it.</a:t>
            </a:r>
          </a:p>
          <a:p>
            <a:r>
              <a:rPr lang="en-US" dirty="0"/>
              <a:t>Add documentation to our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9C380-DB81-F8D2-0D1E-BFB117CB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613246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65C2-1517-55B6-B809-94AD7B9E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5221-C600-204E-7010-8F3A1FF7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Complete First Java Program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689F3-0726-BD2A-6E78-4EFF7AF26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Version 1: Modern (Latest)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A3746-72B7-80C0-F6D4-648B9F9D4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83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9FE329-3DFB-2D50-F69F-2246A6C51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770" y="2239971"/>
            <a:ext cx="10076459" cy="343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84607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60486-0172-3A93-D2D6-D6C659597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8DF86-8286-0404-7787-9960FB54C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just"/>
            <a:r>
              <a:rPr lang="en-US" b="1" dirty="0"/>
              <a:t>Complete First Java Program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6481E-B07A-CF96-E4D8-BA0BD03BB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786"/>
            <a:ext cx="10515600" cy="47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Version 2: Classic (Industry Standard)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16E85-E1BF-E364-5DE0-4868B7229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84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FF53BE-3228-CA3D-375E-9BA18BCC5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02" y="2054774"/>
            <a:ext cx="10342995" cy="380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5850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CD9D9-C14A-450B-2814-6F69771B5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7D74E-27BE-D77B-ED53-3BC8A4641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ctr"/>
            <a:r>
              <a:rPr lang="en-US" b="1" dirty="0"/>
              <a:t>Lecture 4 -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F3932-3E69-FBDC-77D9-7E7F20FE6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47107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is the entry point of a Java program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DEFAE-7E4E-5467-2D8B-085D879A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700761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B4F4B-84C2-B22E-8A96-2D55FDEFC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00131-17CD-1ADB-5B61-179E94117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ctr"/>
            <a:r>
              <a:rPr lang="en-US" b="1" dirty="0"/>
              <a:t>Lecture 4 -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50A6B-949C-5E90-B65D-BC38A198E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47107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is the difference between </a:t>
            </a:r>
            <a:r>
              <a:rPr lang="en-US" b="1" i="1" dirty="0" err="1"/>
              <a:t>System.out.println</a:t>
            </a:r>
            <a:r>
              <a:rPr lang="en-US" dirty="0"/>
              <a:t> &amp; </a:t>
            </a:r>
            <a:r>
              <a:rPr lang="en-US" b="1" i="1" dirty="0" err="1"/>
              <a:t>System.out.print</a:t>
            </a:r>
            <a:r>
              <a:rPr lang="en-US" dirty="0"/>
              <a:t>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3D5CD-CA63-3FB3-40F9-D498A7FBB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423997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25A5E-A791-01B4-C209-2A26E15E5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47109-F3D5-907A-B81F-C5A07CADD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ctr"/>
            <a:r>
              <a:rPr lang="en-US" b="1" dirty="0"/>
              <a:t>Lecture 4 -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13C24-E409-4BEE-3239-390E058A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47107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is the return type of the main method &amp; why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4FF79-FB3A-864E-6BF8-E7A9454E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800330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BADD-BA4F-D499-4496-E8E577E9F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FA52-4849-B29E-0914-13CF1AA51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ctr"/>
            <a:r>
              <a:rPr lang="en-US" b="1" dirty="0"/>
              <a:t>Lecture 4 -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1B1FB-A5D4-7E52-9202-C0EE61E3F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47107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is a String in Java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A508-8CC3-BB11-EA35-46C3C6BE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752380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A874C-259A-5091-21CC-69AE766C0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CC0E-32F9-DF4D-409C-40E8FFA9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ctr"/>
            <a:r>
              <a:rPr lang="en-US" b="1" dirty="0"/>
              <a:t>Lecture 4 -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D80FB-4FE0-B170-99E9-BB44C08ED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47107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is the difference between </a:t>
            </a:r>
            <a:r>
              <a:rPr lang="en-US" b="1" i="1" dirty="0"/>
              <a:t>“4 + 3</a:t>
            </a:r>
            <a:r>
              <a:rPr lang="en-US" dirty="0"/>
              <a:t>” &amp; </a:t>
            </a:r>
            <a:r>
              <a:rPr lang="en-US" b="1" i="1" dirty="0"/>
              <a:t>4 + 3 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3CBAC-DED1-8D65-3D98-7685E2ADB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129219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345B4-2A6D-252E-4639-69F1E53F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2B700-70EC-02BA-FC18-330C7D337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/>
          <a:lstStyle/>
          <a:p>
            <a:pPr algn="ctr"/>
            <a:r>
              <a:rPr lang="en-US" b="1" dirty="0"/>
              <a:t>Lecture 4 -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A3111-1D19-FB07-AF1C-6985049BB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47107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are comments in Java &amp; what are the types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18CA9-0E04-EADB-B061-BD5D062E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94BE6-1148-421C-BF83-AA53B1C2BA1B}" type="slidenum">
              <a:rPr lang="en-IN" smtClean="0"/>
              <a:t>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2480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4725</Words>
  <Application>Microsoft Office PowerPoint</Application>
  <PresentationFormat>Widescreen</PresentationFormat>
  <Paragraphs>875</Paragraphs>
  <Slides>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6" baseType="lpstr">
      <vt:lpstr>Aptos</vt:lpstr>
      <vt:lpstr>Aptos Display</vt:lpstr>
      <vt:lpstr>Arial</vt:lpstr>
      <vt:lpstr>JetBrains Mono ExtraBold</vt:lpstr>
      <vt:lpstr>Wingdings</vt:lpstr>
      <vt:lpstr>Office Theme</vt:lpstr>
      <vt:lpstr>Java with DSA</vt:lpstr>
      <vt:lpstr>Lecture 1 - Flowchart &amp; Pseudocode + Basics</vt:lpstr>
      <vt:lpstr>What is Programming?</vt:lpstr>
      <vt:lpstr>What is an Algorithm?</vt:lpstr>
      <vt:lpstr>How to Approach a Problem</vt:lpstr>
      <vt:lpstr>PowerPoint Presentation</vt:lpstr>
      <vt:lpstr>Flowchart &amp; its Components</vt:lpstr>
      <vt:lpstr>PowerPoint Presentation</vt:lpstr>
      <vt:lpstr>PowerPoint Presentation</vt:lpstr>
      <vt:lpstr>Pseudocode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Lecture 2 – How a Java Program Runs</vt:lpstr>
      <vt:lpstr>Program Execution</vt:lpstr>
      <vt:lpstr>User code (.java file)</vt:lpstr>
      <vt:lpstr>Compiler</vt:lpstr>
      <vt:lpstr>Byte Code (.class file)</vt:lpstr>
      <vt:lpstr>Byte Code (.class file)</vt:lpstr>
      <vt:lpstr>JVM (Java Virtual Machine)</vt:lpstr>
      <vt:lpstr>JVM (Java Virtual Machine)</vt:lpstr>
      <vt:lpstr>JRE (Java Runtime Environment)</vt:lpstr>
      <vt:lpstr>JRE (Java Runtime Environment)</vt:lpstr>
      <vt:lpstr>JDK (Java Development Kit)</vt:lpstr>
      <vt:lpstr>JDK (Java Development Kit)</vt:lpstr>
      <vt:lpstr>Lecture 2 - Questions</vt:lpstr>
      <vt:lpstr>Lecture 2 - Questions</vt:lpstr>
      <vt:lpstr>Lecture 2 - Questions</vt:lpstr>
      <vt:lpstr>Lecture 3 – IDE Setup for Coding</vt:lpstr>
      <vt:lpstr>Ways to write JavaScript</vt:lpstr>
      <vt:lpstr>Option 1: Online Compiler</vt:lpstr>
      <vt:lpstr>Option 1: Online Compiler</vt:lpstr>
      <vt:lpstr>Option 2: IntelliJ IDEA (Professional IDE)</vt:lpstr>
      <vt:lpstr>Option 2: IntelliJ IDEA (Professional IDE)</vt:lpstr>
      <vt:lpstr>Option 2: IntelliJ IDEA (Professional IDE)</vt:lpstr>
      <vt:lpstr>Option 2: IntelliJ IDEA (Professional IDE)</vt:lpstr>
      <vt:lpstr>Option 2: IntelliJ IDEA (Professional IDE)</vt:lpstr>
      <vt:lpstr>Option 2: IntelliJ IDEA (Professional IDE)</vt:lpstr>
      <vt:lpstr>Option 2: IntelliJ IDEA (Professional IDE)</vt:lpstr>
      <vt:lpstr>Option 2: IntelliJ IDEA (Professional IDE)</vt:lpstr>
      <vt:lpstr>Option 2: IntelliJ IDEA (Professional IDE)</vt:lpstr>
      <vt:lpstr>Online Compiler vs IntelliJ IDEA</vt:lpstr>
      <vt:lpstr>Lecture 3 - Questions</vt:lpstr>
      <vt:lpstr>Lecture 3 - Questions</vt:lpstr>
      <vt:lpstr>Lecture 3 - Questions</vt:lpstr>
      <vt:lpstr>Lecture 3 - Questions</vt:lpstr>
      <vt:lpstr>Lecture 4 – Write your FIRST Java Program</vt:lpstr>
      <vt:lpstr>Function / Method</vt:lpstr>
      <vt:lpstr>Function / Method</vt:lpstr>
      <vt:lpstr>Return Types</vt:lpstr>
      <vt:lpstr>Block of Code (Curly Brackets {})</vt:lpstr>
      <vt:lpstr>Block of Code (Curly Brackets {})</vt:lpstr>
      <vt:lpstr>Main Function – Entry Point</vt:lpstr>
      <vt:lpstr>Main Function – Entry Point</vt:lpstr>
      <vt:lpstr>Main Function – Entry Point</vt:lpstr>
      <vt:lpstr>Main Function – Entry Point</vt:lpstr>
      <vt:lpstr>Class</vt:lpstr>
      <vt:lpstr>System.out.println vs System.out.print</vt:lpstr>
      <vt:lpstr>System.out.println vs System.out.print</vt:lpstr>
      <vt:lpstr>String</vt:lpstr>
      <vt:lpstr>String</vt:lpstr>
      <vt:lpstr>String Concatenation</vt:lpstr>
      <vt:lpstr>String Concatenation</vt:lpstr>
      <vt:lpstr>Semicolon</vt:lpstr>
      <vt:lpstr>Comments</vt:lpstr>
      <vt:lpstr>Comments</vt:lpstr>
      <vt:lpstr>Comments</vt:lpstr>
      <vt:lpstr>Comments</vt:lpstr>
      <vt:lpstr>Complete First Java Program</vt:lpstr>
      <vt:lpstr>Complete First Java Program</vt:lpstr>
      <vt:lpstr>Lecture 4 - Questions</vt:lpstr>
      <vt:lpstr>Lecture 4 - Questions</vt:lpstr>
      <vt:lpstr>Lecture 4 - Questions</vt:lpstr>
      <vt:lpstr>Lecture 4 - Questions</vt:lpstr>
      <vt:lpstr>Lecture 4 - Questions</vt:lpstr>
      <vt:lpstr>Lecture 4 -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SINGH</dc:creator>
  <cp:lastModifiedBy>SHUBHAM SINGH</cp:lastModifiedBy>
  <cp:revision>290</cp:revision>
  <dcterms:created xsi:type="dcterms:W3CDTF">2026-06-05T15:16:37Z</dcterms:created>
  <dcterms:modified xsi:type="dcterms:W3CDTF">2026-06-25T17:07:25Z</dcterms:modified>
</cp:coreProperties>
</file>